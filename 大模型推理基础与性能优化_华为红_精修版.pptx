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大家好，今天这次分享我们不从模型训练开始讲，而是聚焦一个更贴近业务上线的问题：大模型推理。
简单说，推理就是模型已经训练好以后，用户给一个输入，模型不断生成输出的过程。今天我会用一个贯穿案例来讲：假设用户输入大约 2000 个 token，模型输出 300 个 token。我们会沿着这个请求，看它经过 Prompt、Tokenize、Prefill、Decode 和 KV Cache，最后再看为什么会慢、为什么会贵，以及常见优化手段分别解决什么问题。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为什么部门里需要理解推理？因为大模型应用上线以后，很多问题表面上是“模型效果”或者“接口慢”，但真正落点往往在推理系统。
第一是体验。用户最敏感的是多久看到第一个字，也就是首 token 时间；同时也会感知输出是否顺滑，也就是每个 token 的生成速度。第二是成本。大模型服务的成本很多时候不是按请求算，而是按 token、按 GPU 时间算。第三是容量，并发上来以后，GPU 是否空转、显存是否够、队列是否堆积，都会影响服务能力。第四是稳定性，长 prompt、长输出和突发流量都可能导致 OOM 或慢请求。
所以这次分享的目标不是把所有底层细节讲完，而是让大家建立判断推理问题的框架。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先把训练和推理区分清楚。训练的目标是让模型学会能力，本质上是通过大量数据做前向、反向和参数更新。训练通常更关注收敛、精度、训练效率，以及训练过程是不是稳定。
推理不一样。推理时模型参数已经固定，我们要做的是把用户输入送进模型，然后生成结果。它更像一个线上系统问题：用户等不等得起，GPU 成本高不高，并发上来后服务能不能稳住。
所以训练里常说的是 loss、epoch、收敛；推理里更常说的是 TTFT、TPOT、吞吐、显存和成本。后面所有概念基本都围绕这几个指标展开。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接下来讲大模型如何生成答案。很多人直觉上会以为模型像搜索引擎一样，一次计算就返回完整答案。但大模型通常是自回归生成，也就是每一步只预测下一个 token。
比如用户输入“请解释大模型推理为什么慢”，模型先根据这段上下文预测第一个输出 token。得到第一个 token 后，它会把这个 token 加入上下文，再预测第二个。这个过程会一直循环，直到达到结束条件或者 max tokens。
这就带来一个非常重要的直觉：输出越长，循环越多，请求耗时就越长。输入越长，模型在生成第一个 token 之前要处理的上下文越多，首 token 时间就越长。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现在把一次请求拆开看。用户请求进来以后，系统通常先做 Prompt 构造。这里可能包含系统提示词、用户问题，也可能包含 RAG 检索出来的知识片段。
接着是 Tokenize，把文本切成模型认识的 token。然后进入模型计算，先是 Prefill，一次性处理输入上下文；再是 Decode，逐 token 生成输出。生成出来的 token 要经过 Detokenize 转回文本，再通过流式方式返回给前端。
除了这条主链路，线上系统还会有鉴权、限流、排队、监控、日志、计费、模型路由等外围能力。很多慢请求并不一定慢在模型本身，也可能慢在排队、检索、tokenizer 或网关侧。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推理链路里最核心的是 Prefill 和 Decode。
Prefill 是模型看到输入 prompt 后，先把整个输入上下文处理一遍。它一次性处理很多 token，并行度比较高，所以更偏计算密集。对于用户来说，Prefill 主要影响首 token 时间，也就是用户多久能看到第一个输出。
Decode 是生成阶段。每一步只生成一个 token，然后把新 token 加回上下文，再生成下一个 token。输出 300 个 token，就意味着 Decode 至少循环 300 次。这个阶段更容易受内存带宽、KV Cache 读取和调度影响。
所以一个判断规则是：输入长，先看 Prefill；输出长，重点看 Decode。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推理性能不要只看一个总耗时。这里有四类指标最重要。
TTFT 是 Time To First Token，也就是首 token 时间。它决定用户是否觉得系统“有响应”。TPOT 是 Time Per Output Token，也就是每个输出 token 的平均耗时。它决定流式输出是否顺滑。Throughput 是吞吐，可以按 tokens per second，也可以按 requests per second 看，它决定一组 GPU 能扛多少量。
还有显存和成本。显存不仅要放模型权重，还要放 KV Cache。并发越高、上下文越长，显存压力越大。业务上真正要平衡的是：用户体验、系统吞吐和单 token 成本。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推理慢和贵通常不是单点原因，而是多个资源瓶颈叠加。
计算瓶颈主要出现在 Prefill，尤其是长上下文、大模型时，矩阵乘法和 attention 计算都很重。显存瓶颈来自模型权重、KV Cache 和并发请求。带宽瓶颈常见于 Decode，因为每生成一个 token 都要反复读权重和 KV Cache。调度瓶颈来自请求长短不一，batch 组不满，或者队列等待。多卡多机以后，还会有网络瓶颈，比如跨节点通信和 KV 传输。
排查时不要只说接口慢，而要拆成排队、Prefill、Decode、网络和后处理几个阶段。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KV Cache 是理解大模型推理非常关键的概念。
在 Transformer 里，每个 token 会产生 Key 和 Value。生成下一个 token 时，模型需要关注历史上下文。如果没有 KV Cache，每生成一个新 token，都要对历史 token 做重复计算，成本很高。
有了 KV Cache 之后，历史 token 的 Key 和 Value 会被缓存下来。Decode 时只需要读取这些缓存，再为新 token 追加新的 K/V。这样 Decode 会快很多。
但代价也很明显：KV Cache 占显存。上下文越长、batch 越大、并发越高，KV Cache 越大。所以长上下文和高并发场景，很多时候瓶颈不是模型权重，而是 KV Cache。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接下来讲几个常见优化方向。第一个是 batching。
GPU 最怕的是空转。如果一个请求一个请求地跑，很多时候 GPU 利用率并不高。Batching 的思路是把多个请求合并，让 GPU 一次处理更多 token，从而提高吞吐。
但大模型推理的 batch 不像普通离线任务那么简单。不同请求输入长度不同、输出长度不同，有的请求已经结束，有的还在继续生成。如果静态 batch 处理，短请求会被 padding 到长请求，产生空算。Continuous batching 的思路是请求完成就移出，新请求及时补进来，让 batch 更连续。
代价是调度复杂，而且如果一味追求吞吐，低延迟请求可能需要等队列。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第二个优化方向是量化。模型默认可能用 FP16 或 BF16 表示权重和计算。如果改成 INT8、INT4 这样的低位宽，就能降低显存占用，也可能提高吞吐。
量化可以作用在模型权重上，也可以作用在 KV Cache 上。权重量化能让模型更小，KV Cache 量化能缓解长上下文和高并发时的显存压力。
但量化不是免费加速。位宽越低，精度风险越高；并且是否真的变快，还取决于硬件和 kernel 是否支持。实际落地时，不能只看 benchmark，要用业务测试集验证回答质量是否可接受。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第三个方向是推理框架。像 vLLM、TensorRT-LLM、SGLang、TGI 这类框架，本质价值不只是帮我们把模型跑起来，而是把很多优化工程化。
比如调度层面，它们支持动态 batch、队列、优先级。KV 管理层面，有 PagedAttention、prefix cache、KV offload 等能力。算子层面，有 FlashAttention、fused kernel、量化 kernel。分布式层面，会支持张量并行、流水线并行、数据并行和服务路由。
选型时不要只看单个 benchmark，还要看模型是否支持、硬件栈是否匹配、运维复杂度，以及和现有网关、监控、日志系统怎么集成。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第四个方向是多卡和多机部署。单卡有两个限制：一是模型可能放不下，二是吞吐不够。
常见并行方式有三类。Tensor Parallel 是把同一层里的矩阵计算拆到多张卡上，适合单层很大或者模型放不下。Pipeline Parallel 是把不同层放到不同卡上，适合超大模型，但会有流水线气泡。Data Parallel 是复制多份模型，不同副本服务不同请求，主要用于提升总体吞吐。
多机以后，新的问题是通信。NCCL、RDMA、InfiniBand、网络拓扑和故障恢复都会影响性能和稳定性。所以多卡不是简单堆 GPU，而是在容量和通信成本之间做取舍。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最后讲 PD 分离，也就是 Prefill 和 Decode 分离。
前面说过，Prefill 和 Decode 的资源特征不同。Prefill 更像一次性处理长输入，计算密集，主要影响 TTFT。Decode 是持续生成输出，循环次数多，更受带宽、KV Cache 和调度影响。
PD 分离的思路是把 Prefill 节点和 Decode 节点拆开。Prefill 池专门处理长 prompt，生成 KV Cache；然后把 KV Cache 交给 Decode 池继续生成。这样两个阶段可以分别扩容，也更容易匹配资源。
它的挑战也很明显：KV Cache 要传输，网络压力会上来，调度和请求生命周期也更复杂。所以不是所有场景都要 PD 分离，通常是长上下文、高并发、首 token 时间敏感时更有价值。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407408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07408" y="0"/>
            <a:ext cx="164592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0" y="0"/>
            <a:ext cx="73152" cy="6858000"/>
          </a:xfrm>
          <a:prstGeom prst="rect">
            <a:avLst/>
          </a:prstGeom>
          <a:solidFill>
            <a:srgbClr val="FFE3E6"/>
          </a:solidFill>
          <a:ln w="12700">
            <a:solidFill>
              <a:srgbClr val="FFE3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440000">
            <a:off x="-1097280" y="-822960"/>
            <a:ext cx="4480560" cy="4480560"/>
          </a:xfrm>
          <a:prstGeom prst="arc">
            <a:avLst/>
          </a:prstGeom>
          <a:noFill/>
          <a:ln w="15240">
            <a:solidFill>
              <a:srgbClr val="F15D6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2600000">
            <a:off x="2194560" y="4480560"/>
            <a:ext cx="2377440" cy="2377440"/>
          </a:xfrm>
          <a:prstGeom prst="arc">
            <a:avLst/>
          </a:prstGeom>
          <a:noFill/>
          <a:ln w="12700">
            <a:solidFill>
              <a:srgbClr val="F15D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大模型推理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1755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C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基础与性能优化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49808" y="2779776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dirty="0">
                <a:solidFill>
                  <a:srgbClr val="FFEC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分钟部门知识分享</a:t>
            </a:r>
            <a:endParaRPr lang="en-US" sz="1140" dirty="0"/>
          </a:p>
          <a:p>
            <a:pPr indent="0" marL="0">
              <a:buNone/>
            </a:pPr>
            <a:r>
              <a:rPr lang="en-US" sz="1140" dirty="0">
                <a:solidFill>
                  <a:srgbClr val="FFEC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从一次请求出发，理解推理链路、瓶颈和常见优化方向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777240" y="480060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D0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贯穿案例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77240" y="51023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 token 输入 + 300 token 输出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50992" y="1115568"/>
            <a:ext cx="1481328" cy="530352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4605">
            <a:solidFill>
              <a:srgbClr val="385A7C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724144" y="1298448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90688" y="1115568"/>
            <a:ext cx="1481328" cy="530352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4605">
            <a:solidFill>
              <a:srgbClr val="385A7C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863840" y="1298448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Tokenize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510528" y="2670048"/>
            <a:ext cx="1481328" cy="530352"/>
          </a:xfrm>
          <a:prstGeom prst="roundRect">
            <a:avLst>
              <a:gd name="adj" fmla="val 7759"/>
            </a:avLst>
          </a:prstGeom>
          <a:solidFill>
            <a:srgbClr val="E8F6F6"/>
          </a:solidFill>
          <a:ln w="14605">
            <a:solidFill>
              <a:srgbClr val="0F8B8D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83680" y="2852928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8B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7991856" y="4251960"/>
            <a:ext cx="1481328" cy="530352"/>
          </a:xfrm>
          <a:prstGeom prst="roundRect">
            <a:avLst>
              <a:gd name="adj" fmla="val 7759"/>
            </a:avLst>
          </a:prstGeom>
          <a:solidFill>
            <a:srgbClr val="FFF1F2"/>
          </a:solidFill>
          <a:ln w="14605">
            <a:solidFill>
              <a:srgbClr val="C7000B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65008" y="4434840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Cache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9491472" y="2670048"/>
            <a:ext cx="1481328" cy="530352"/>
          </a:xfrm>
          <a:prstGeom prst="roundRect">
            <a:avLst>
              <a:gd name="adj" fmla="val 7759"/>
            </a:avLst>
          </a:prstGeom>
          <a:solidFill>
            <a:srgbClr val="FFF1F2"/>
          </a:solidFill>
          <a:ln w="14605">
            <a:solidFill>
              <a:srgbClr val="C7000B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564624" y="2852928"/>
            <a:ext cx="13350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7150608" y="1380744"/>
            <a:ext cx="576072" cy="0"/>
          </a:xfrm>
          <a:prstGeom prst="line">
            <a:avLst/>
          </a:prstGeom>
          <a:noFill/>
          <a:ln w="1270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88352" y="1755648"/>
            <a:ext cx="-237744" cy="896112"/>
          </a:xfrm>
          <a:prstGeom prst="line">
            <a:avLst/>
          </a:prstGeom>
          <a:noFill/>
          <a:ln w="1270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28432" y="2935224"/>
            <a:ext cx="1353312" cy="0"/>
          </a:xfrm>
          <a:prstGeom prst="line">
            <a:avLst/>
          </a:prstGeom>
          <a:noFill/>
          <a:ln w="1270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41664" y="4279392"/>
            <a:ext cx="932688" cy="-1060704"/>
          </a:xfrm>
          <a:prstGeom prst="line">
            <a:avLst/>
          </a:prstGeom>
          <a:noFill/>
          <a:ln w="19050">
            <a:solidFill>
              <a:srgbClr val="E6001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 rot="1440000">
            <a:off x="5897880" y="411480"/>
            <a:ext cx="4160520" cy="4160520"/>
          </a:xfrm>
          <a:prstGeom prst="arc">
            <a:avLst/>
          </a:prstGeom>
          <a:noFill/>
          <a:ln w="15240">
            <a:solidFill>
              <a:srgbClr val="F1B8B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2600000">
            <a:off x="8412480" y="3913632"/>
            <a:ext cx="2331720" cy="2331720"/>
          </a:xfrm>
          <a:prstGeom prst="arc">
            <a:avLst/>
          </a:prstGeom>
          <a:noFill/>
          <a:ln w="12700">
            <a:solidFill>
              <a:srgbClr val="F1B8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29800" y="6327648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Huawei red tone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WHY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为什么需要理解推理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大模型应用体验，最后会落到推理系统的速度、吞吐、成本和稳定性上。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49808" y="1874520"/>
            <a:ext cx="4709160" cy="1033272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3335">
            <a:solidFill>
              <a:srgbClr val="C7000B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49808" y="1874520"/>
            <a:ext cx="109728" cy="1033272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057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801368" y="205740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 token 慢，用户会觉得系统没有响应；输出 token 慢，流式体验会卡顿。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099048" y="1874520"/>
            <a:ext cx="4709160" cy="1033272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3335">
            <a:solidFill>
              <a:srgbClr val="B99020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99048" y="1874520"/>
            <a:ext cx="109728" cy="1033272"/>
          </a:xfrm>
          <a:prstGeom prst="rect">
            <a:avLst/>
          </a:prstGeom>
          <a:solidFill>
            <a:srgbClr val="B99020"/>
          </a:solidFill>
          <a:ln w="12700">
            <a:solidFill>
              <a:srgbClr val="B99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9944" y="2057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90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50608" y="205740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同样的模型，调度、batch、KV Cache 使用不同，单 token 成本会差很多。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749808" y="3227832"/>
            <a:ext cx="4709160" cy="1033272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3335">
            <a:solidFill>
              <a:srgbClr val="0F8B8D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227832"/>
            <a:ext cx="109728" cy="103327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0704" y="341071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8B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801368" y="3410712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并发上来后，GPU 利用率、显存、队列等待会共同决定能服务多少请求。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6099048" y="3227832"/>
            <a:ext cx="4709160" cy="1033272"/>
          </a:xfrm>
          <a:prstGeom prst="roundRect">
            <a:avLst>
              <a:gd name="adj" fmla="val 3982"/>
            </a:avLst>
          </a:prstGeom>
          <a:solidFill>
            <a:srgbClr val="FFFFFF"/>
          </a:solidFill>
          <a:ln w="13335">
            <a:solidFill>
              <a:srgbClr val="385A7C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99048" y="3227832"/>
            <a:ext cx="109728" cy="1033272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341071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150608" y="3410712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 prompt、长输出、突发流量和 OOM 是线上推理最常见的风险。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1417320" y="4690872"/>
            <a:ext cx="9098280" cy="658368"/>
          </a:xfrm>
          <a:prstGeom prst="roundRect">
            <a:avLst>
              <a:gd name="adj" fmla="val 625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64208" y="4928616"/>
            <a:ext cx="8595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推理系统 = 用户体验 SLA + GPU 成本 + 线上容量的交汇点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04672" y="5522976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5522976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5687568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理解推理，不是为了记术语，而是为了判断慢在哪里、贵在哪里、该优化哪里。</a:t>
            </a:r>
            <a:endParaRPr lang="en-US" sz="10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CONCEPT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 vs 训练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训练关注把参数学出来；推理关注用已有参数持续、低成本地服务请求。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77240" y="1847088"/>
            <a:ext cx="4892040" cy="3246120"/>
          </a:xfrm>
          <a:prstGeom prst="roundRect">
            <a:avLst>
              <a:gd name="adj" fmla="val 1268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1847088"/>
            <a:ext cx="4892040" cy="3246120"/>
          </a:xfrm>
          <a:prstGeom prst="roundRect">
            <a:avLst>
              <a:gd name="adj" fmla="val 1268"/>
            </a:avLst>
          </a:prstGeom>
          <a:solidFill>
            <a:srgbClr val="FFF1F2"/>
          </a:solidFill>
          <a:ln w="14605">
            <a:solidFill>
              <a:srgbClr val="C7000B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213969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 Training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66560" y="21396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 Inference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743200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1810512" y="272491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学习模型参数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1097280" y="321868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1810512" y="32004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前向 + 反向 + 更新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1097280" y="3694176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1810512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收敛、精度、训练效率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766560" y="2743200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7479792" y="272491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生成结果并服务用户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6766560" y="321868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7479792" y="320040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+ Decode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6766560" y="3694176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7479792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TTFT、TPOT、吞吐、成本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5779008" y="3401568"/>
            <a:ext cx="457200" cy="0"/>
          </a:xfrm>
          <a:prstGeom prst="line">
            <a:avLst/>
          </a:prstGeom>
          <a:noFill/>
          <a:ln w="2032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487168" y="4617720"/>
            <a:ext cx="123444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1430">
            <a:solidFill>
              <a:srgbClr val="6666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700016"/>
            <a:ext cx="108813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训练偏离线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8183880" y="4617720"/>
            <a:ext cx="1234440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1430">
            <a:solidFill>
              <a:srgbClr val="C700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57032" y="4700016"/>
            <a:ext cx="108813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推理偏线上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804672" y="5522976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5522976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78992" y="5687568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推理更像线上系统工程：既要算得准，也要算得快、扛得住、成本可控。</a:t>
            </a:r>
            <a:endParaRPr lang="en-US" sz="107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GENERATION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大模型不是一次生成完整答案，而是逐 token 生成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自回归生成的核心：每一步都基于已有上下文预测下一个 token。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822960" y="2057400"/>
            <a:ext cx="603504" cy="38404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185416"/>
            <a:ext cx="60350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1609344" y="2057400"/>
            <a:ext cx="603504" cy="38404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9344" y="2185416"/>
            <a:ext cx="60350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2395728" y="2057400"/>
            <a:ext cx="603504" cy="38404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95728" y="2185416"/>
            <a:ext cx="60350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3182112" y="2057400"/>
            <a:ext cx="603504" cy="38404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82112" y="2185416"/>
            <a:ext cx="60350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3968496" y="2057400"/>
            <a:ext cx="603504" cy="38404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68496" y="2185416"/>
            <a:ext cx="60350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4754880" y="2057400"/>
            <a:ext cx="603504" cy="38404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185416"/>
            <a:ext cx="603504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5532120" y="2249424"/>
            <a:ext cx="868680" cy="0"/>
          </a:xfrm>
          <a:prstGeom prst="line">
            <a:avLst/>
          </a:prstGeom>
          <a:noFill/>
          <a:ln w="2032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537960" y="1810512"/>
            <a:ext cx="4069080" cy="868680"/>
          </a:xfrm>
          <a:prstGeom prst="roundRect">
            <a:avLst>
              <a:gd name="adj" fmla="val 4737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20574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根据已有上下文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预测下一个 token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2148840" y="3822192"/>
            <a:ext cx="74980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385A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48840" y="3968496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2898648" y="4050792"/>
            <a:ext cx="146304" cy="0"/>
          </a:xfrm>
          <a:prstGeom prst="line">
            <a:avLst/>
          </a:prstGeom>
          <a:noFill/>
          <a:ln w="11430">
            <a:solidFill>
              <a:srgbClr val="9C9C9C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081528" y="3822192"/>
            <a:ext cx="74980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385A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81528" y="3968496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3831336" y="4050792"/>
            <a:ext cx="146304" cy="0"/>
          </a:xfrm>
          <a:prstGeom prst="line">
            <a:avLst/>
          </a:prstGeom>
          <a:noFill/>
          <a:ln w="11430">
            <a:solidFill>
              <a:srgbClr val="9C9C9C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014216" y="3822192"/>
            <a:ext cx="74980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385A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14216" y="3968496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分为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4764024" y="4050792"/>
            <a:ext cx="146304" cy="0"/>
          </a:xfrm>
          <a:prstGeom prst="line">
            <a:avLst/>
          </a:prstGeom>
          <a:noFill/>
          <a:ln w="11430">
            <a:solidFill>
              <a:srgbClr val="9C9C9C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946904" y="3822192"/>
            <a:ext cx="749808" cy="457200"/>
          </a:xfrm>
          <a:prstGeom prst="roundRect">
            <a:avLst>
              <a:gd name="adj" fmla="val 9000"/>
            </a:avLst>
          </a:prstGeom>
          <a:solidFill>
            <a:srgbClr val="FFF1F2"/>
          </a:solidFill>
          <a:ln w="9525">
            <a:solidFill>
              <a:srgbClr val="0F8B8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46904" y="3968496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8B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5696712" y="4050792"/>
            <a:ext cx="146304" cy="0"/>
          </a:xfrm>
          <a:prstGeom prst="line">
            <a:avLst/>
          </a:prstGeom>
          <a:noFill/>
          <a:ln w="11430">
            <a:solidFill>
              <a:srgbClr val="9C9C9C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9592" y="3822192"/>
            <a:ext cx="749808" cy="457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385A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79592" y="3968496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6629400" y="4050792"/>
            <a:ext cx="146304" cy="0"/>
          </a:xfrm>
          <a:prstGeom prst="line">
            <a:avLst/>
          </a:prstGeom>
          <a:noFill/>
          <a:ln w="11430">
            <a:solidFill>
              <a:srgbClr val="9C9C9C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812280" y="3822192"/>
            <a:ext cx="749808" cy="457200"/>
          </a:xfrm>
          <a:prstGeom prst="roundRect">
            <a:avLst>
              <a:gd name="adj" fmla="val 9000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12280" y="3968496"/>
            <a:ext cx="7498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 rot="2160000">
            <a:off x="8001000" y="2944368"/>
            <a:ext cx="1554480" cy="1554480"/>
          </a:xfrm>
          <a:prstGeom prst="arc">
            <a:avLst/>
          </a:prstGeom>
          <a:noFill/>
          <a:ln w="15875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235440" y="3657600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 300 次</a:t>
            </a:r>
            <a:endParaRPr lang="en-US" sz="860" dirty="0"/>
          </a:p>
        </p:txBody>
      </p:sp>
      <p:sp>
        <p:nvSpPr>
          <p:cNvPr id="45" name="Shape 43"/>
          <p:cNvSpPr/>
          <p:nvPr/>
        </p:nvSpPr>
        <p:spPr>
          <a:xfrm>
            <a:off x="804672" y="5522976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5522976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78992" y="5687568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token 越多，前面处理越重；输出 token 越多，后面循环越久。</a:t>
            </a:r>
            <a:endParaRPr lang="en-US" sz="10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REQUEST PATH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一次推理请求的完整链路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从业务请求到流式返回，中间会经过前处理、模型计算、缓存和后处理。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1408176" cy="115214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335">
            <a:solidFill>
              <a:srgbClr val="385A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121408"/>
            <a:ext cx="73152" cy="1152144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224942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构造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859536" y="250545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系统提示词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用户问题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片段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2139696" y="2697480"/>
            <a:ext cx="256032" cy="0"/>
          </a:xfrm>
          <a:prstGeom prst="line">
            <a:avLst/>
          </a:prstGeom>
          <a:noFill/>
          <a:ln w="13335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05456" y="2121408"/>
            <a:ext cx="1408176" cy="115214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335">
            <a:solidFill>
              <a:srgbClr val="385A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05456" y="2121408"/>
            <a:ext cx="73152" cy="1152144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06624" y="224942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Tokenize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2706624" y="250545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文本切成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 token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3986784" y="2697480"/>
            <a:ext cx="256032" cy="0"/>
          </a:xfrm>
          <a:prstGeom prst="line">
            <a:avLst/>
          </a:prstGeom>
          <a:noFill/>
          <a:ln w="13335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352544" y="2121408"/>
            <a:ext cx="1408176" cy="1152144"/>
          </a:xfrm>
          <a:prstGeom prst="roundRect">
            <a:avLst>
              <a:gd name="adj" fmla="val 3571"/>
            </a:avLst>
          </a:prstGeom>
          <a:solidFill>
            <a:srgbClr val="FFF1F2"/>
          </a:solidFill>
          <a:ln w="13335">
            <a:solidFill>
              <a:srgbClr val="0F8B8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2121408"/>
            <a:ext cx="73152" cy="1152144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24942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53712" y="250545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并行处理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输入上下文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5833872" y="2697480"/>
            <a:ext cx="256032" cy="0"/>
          </a:xfrm>
          <a:prstGeom prst="line">
            <a:avLst/>
          </a:prstGeom>
          <a:noFill/>
          <a:ln w="13335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99632" y="2121408"/>
            <a:ext cx="1408176" cy="1152144"/>
          </a:xfrm>
          <a:prstGeom prst="roundRect">
            <a:avLst>
              <a:gd name="adj" fmla="val 3571"/>
            </a:avLst>
          </a:prstGeom>
          <a:solidFill>
            <a:srgbClr val="FFF1F2"/>
          </a:solidFill>
          <a:ln w="13335">
            <a:solidFill>
              <a:srgbClr val="C700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9632" y="2121408"/>
            <a:ext cx="73152" cy="1152144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24942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6400800" y="250545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 token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循环生成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7680960" y="2697480"/>
            <a:ext cx="256032" cy="0"/>
          </a:xfrm>
          <a:prstGeom prst="line">
            <a:avLst/>
          </a:prstGeom>
          <a:noFill/>
          <a:ln w="13335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046720" y="2121408"/>
            <a:ext cx="1408176" cy="115214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335">
            <a:solidFill>
              <a:srgbClr val="385A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46720" y="2121408"/>
            <a:ext cx="73152" cy="1152144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47888" y="224942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Detokenize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8247888" y="250545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转回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可读文本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9528048" y="2697480"/>
            <a:ext cx="256032" cy="0"/>
          </a:xfrm>
          <a:prstGeom prst="line">
            <a:avLst/>
          </a:prstGeom>
          <a:noFill/>
          <a:ln w="13335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893808" y="2121408"/>
            <a:ext cx="1408176" cy="115214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335">
            <a:solidFill>
              <a:srgbClr val="385A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93808" y="2121408"/>
            <a:ext cx="73152" cy="1152144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94976" y="224942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流式返回</a:t>
            </a:r>
            <a:endParaRPr lang="en-US" sz="1080" dirty="0"/>
          </a:p>
        </p:txBody>
      </p:sp>
      <p:sp>
        <p:nvSpPr>
          <p:cNvPr id="39" name="Text 37"/>
          <p:cNvSpPr/>
          <p:nvPr/>
        </p:nvSpPr>
        <p:spPr>
          <a:xfrm>
            <a:off x="10094976" y="2505456"/>
            <a:ext cx="1115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前端逐段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展示答案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868680" y="4224528"/>
            <a:ext cx="10469880" cy="786384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15568" y="448056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外围工程能力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331720" y="4471416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鉴权 / 限流 / 排队 / 监控 / 日志 / 计费 / 模型路由</a:t>
            </a:r>
            <a:endParaRPr lang="en-US" sz="1130" dirty="0"/>
          </a:p>
        </p:txBody>
      </p:sp>
      <p:sp>
        <p:nvSpPr>
          <p:cNvPr id="43" name="Shape 41"/>
          <p:cNvSpPr/>
          <p:nvPr/>
        </p:nvSpPr>
        <p:spPr>
          <a:xfrm>
            <a:off x="804672" y="5522976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5522976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78992" y="5687568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真正的线上推理链路，不只是模型计算，还包括请求治理和服务化能力。</a:t>
            </a:r>
            <a:endParaRPr lang="en-US" sz="10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PREFILL &amp; DECODE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与 Decode 是两个完全不同的阶段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一个更像并行扫输入，一个更像串行写输出；后面的优化基本都围绕这两个阶段展开。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822960" y="1828800"/>
            <a:ext cx="4892040" cy="3246120"/>
          </a:xfrm>
          <a:prstGeom prst="roundRect">
            <a:avLst>
              <a:gd name="adj" fmla="val 1268"/>
            </a:avLst>
          </a:prstGeom>
          <a:solidFill>
            <a:srgbClr val="FFFFFF"/>
          </a:solidFill>
          <a:ln w="13970">
            <a:solidFill>
              <a:srgbClr val="0F8B8D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828800"/>
            <a:ext cx="4892040" cy="3246120"/>
          </a:xfrm>
          <a:prstGeom prst="roundRect">
            <a:avLst>
              <a:gd name="adj" fmla="val 1268"/>
            </a:avLst>
          </a:prstGeom>
          <a:solidFill>
            <a:srgbClr val="FFF1F2"/>
          </a:solidFill>
          <a:ln w="13970">
            <a:solidFill>
              <a:srgbClr val="C7000B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208483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8B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720840" y="208483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152144" y="2834640"/>
            <a:ext cx="73152" cy="73152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16736" y="2761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一次性处理输入 prompt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1152144" y="3291840"/>
            <a:ext cx="73152" cy="73152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16736" y="32186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并行度高，更偏计算密集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1152144" y="3749040"/>
            <a:ext cx="73152" cy="73152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16736" y="3675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主要影响 TTFT，也就是首 token 时间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729984" y="2834640"/>
            <a:ext cx="73152" cy="73152"/>
          </a:xfrm>
          <a:prstGeom prst="ellipse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94576" y="2761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每轮生成一个新 token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6729984" y="3291840"/>
            <a:ext cx="73152" cy="73152"/>
          </a:xfrm>
          <a:prstGeom prst="ellipse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4576" y="32186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循环次数由输出长度决定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729984" y="3749040"/>
            <a:ext cx="73152" cy="73152"/>
          </a:xfrm>
          <a:prstGeom prst="ellipse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94576" y="3675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主要影响 TPOT，也就是输出速度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1143000" y="4462272"/>
            <a:ext cx="4251960" cy="0"/>
          </a:xfrm>
          <a:prstGeom prst="line">
            <a:avLst/>
          </a:prstGeom>
          <a:noFill/>
          <a:ln w="25400">
            <a:solidFill>
              <a:srgbClr val="0F8B8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0840" y="4462272"/>
            <a:ext cx="4251960" cy="0"/>
          </a:xfrm>
          <a:prstGeom prst="line">
            <a:avLst/>
          </a:prstGeom>
          <a:noFill/>
          <a:ln w="25400">
            <a:solidFill>
              <a:srgbClr val="C700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31720" y="466344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8B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 input tokens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909560" y="466344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 output tokens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804672" y="5522976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4672" y="5522976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78992" y="5687568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长输入主要压 Prefill；长输出主要压 Decode。</a:t>
            </a:r>
            <a:endParaRPr lang="en-US" sz="10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METRICS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推理性能看什么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不要只看总耗时，推理系统通常要同时看用户体验、系统吞吐和资源成本。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49808" y="1901952"/>
            <a:ext cx="2359152" cy="1207008"/>
          </a:xfrm>
          <a:prstGeom prst="roundRect">
            <a:avLst>
              <a:gd name="adj" fmla="val 3409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10312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TTFT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6112" y="2395728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 token 时间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96112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用户多久看到第一个字</a:t>
            </a:r>
            <a:endParaRPr lang="en-US" sz="810" dirty="0"/>
          </a:p>
        </p:txBody>
      </p:sp>
      <p:sp>
        <p:nvSpPr>
          <p:cNvPr id="15" name="Shape 13"/>
          <p:cNvSpPr/>
          <p:nvPr/>
        </p:nvSpPr>
        <p:spPr>
          <a:xfrm>
            <a:off x="3538728" y="1901952"/>
            <a:ext cx="2359152" cy="1207008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85032" y="210312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TPOT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85032" y="2395728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token 时间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85032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流式输出是否顺滑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6327648" y="1901952"/>
            <a:ext cx="2359152" cy="1207008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73952" y="210312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73952" y="2395728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吞吐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73952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单位时间能服务多少 token / 请求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9116568" y="1901952"/>
            <a:ext cx="2359152" cy="1207008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262872" y="210312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90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/ Cost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262872" y="2395728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显存与成本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262872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权重、KV Cache、并发共同决定</a:t>
            </a:r>
            <a:endParaRPr lang="en-US" sz="810" dirty="0"/>
          </a:p>
        </p:txBody>
      </p:sp>
      <p:sp>
        <p:nvSpPr>
          <p:cNvPr id="27" name="Shape 25"/>
          <p:cNvSpPr/>
          <p:nvPr/>
        </p:nvSpPr>
        <p:spPr>
          <a:xfrm>
            <a:off x="960120" y="4498848"/>
            <a:ext cx="9921240" cy="0"/>
          </a:xfrm>
          <a:prstGeom prst="line">
            <a:avLst/>
          </a:prstGeom>
          <a:noFill/>
          <a:ln w="27940">
            <a:solidFill>
              <a:srgbClr val="C700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32688" y="439826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700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" y="4754880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请求进入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3182112" y="439826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700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70632" y="4754880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 / Prefill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5266944" y="4398264"/>
            <a:ext cx="201168" cy="201168"/>
          </a:xfrm>
          <a:prstGeom prst="ellipse">
            <a:avLst/>
          </a:prstGeom>
          <a:solidFill>
            <a:srgbClr val="C7000B"/>
          </a:solidFill>
          <a:ln w="15240">
            <a:solidFill>
              <a:srgbClr val="C700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5464" y="4754880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 token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7818120" y="439826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700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640" y="4754880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 输出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10716768" y="4398264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700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05288" y="4754880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804672" y="5522976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" y="5522976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78992" y="5687568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TTFT 看启动体验，TPOT 看输出流畅度，Throughput 和显存看系统容量与成本。</a:t>
            </a:r>
            <a:endParaRPr lang="en-US" sz="107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BOTTLENECKS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推理为什么慢、为什么贵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瓶颈不是单点问题：计算、显存、带宽、调度和网络会在不同场景轮流成为主因。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914400" y="1901952"/>
            <a:ext cx="594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664208" y="1901952"/>
            <a:ext cx="5303520" cy="164592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4208" y="1901952"/>
            <a:ext cx="4348886" cy="164592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9480" y="1828800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/ 矩阵乘法 / Attention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914400" y="2514600"/>
            <a:ext cx="594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664208" y="2514600"/>
            <a:ext cx="5303520" cy="164592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4208" y="2514600"/>
            <a:ext cx="3606394" cy="164592"/>
          </a:xfrm>
          <a:prstGeom prst="rect">
            <a:avLst/>
          </a:prstGeom>
          <a:solidFill>
            <a:srgbClr val="B99020"/>
          </a:solidFill>
          <a:ln w="12700">
            <a:solidFill>
              <a:srgbClr val="B990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2441448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模型权重 / KV Cache / 并发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914400" y="3127248"/>
            <a:ext cx="594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带宽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664208" y="3127248"/>
            <a:ext cx="5303520" cy="164592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4208" y="3127248"/>
            <a:ext cx="3924605" cy="164592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3054096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 反复读取权重和 KV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914400" y="3739896"/>
            <a:ext cx="594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664208" y="3739896"/>
            <a:ext cx="5303520" cy="164592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4208" y="3739896"/>
            <a:ext cx="2916936" cy="164592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3666744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请求长短不一 / batch 不满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914400" y="4352544"/>
            <a:ext cx="5943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664208" y="4352544"/>
            <a:ext cx="5303520" cy="164592"/>
          </a:xfrm>
          <a:prstGeom prst="rect">
            <a:avLst/>
          </a:prstGeom>
          <a:solidFill>
            <a:srgbClr val="E4E4E4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4208" y="4352544"/>
            <a:ext cx="2333549" cy="16459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9480" y="4279392"/>
            <a:ext cx="3474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多机通信 / KV 传输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960120" y="4846320"/>
            <a:ext cx="9966960" cy="50292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43000" y="5029200"/>
            <a:ext cx="9555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定位方法：端到端耗时 = 排队 + Prefill + Decode + 网络 / 后处理</a:t>
            </a:r>
            <a:endParaRPr lang="en-US" sz="1060" dirty="0"/>
          </a:p>
        </p:txBody>
      </p:sp>
      <p:sp>
        <p:nvSpPr>
          <p:cNvPr id="33" name="Shape 31"/>
          <p:cNvSpPr/>
          <p:nvPr/>
        </p:nvSpPr>
        <p:spPr>
          <a:xfrm>
            <a:off x="804672" y="5522976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5522976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8992" y="5687568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先拆阶段，再看资源：不要用一个“接口慢”覆盖所有瓶颈。</a:t>
            </a:r>
            <a:endParaRPr lang="en-US" sz="107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KV CACHE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Cache：用显存换 Decode 速度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缓存历史 token 的 Key / Value，Decode 时不用重复计算已经看过的上下文。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49808" y="1828800"/>
            <a:ext cx="4846320" cy="3246120"/>
          </a:xfrm>
          <a:prstGeom prst="roundRect">
            <a:avLst>
              <a:gd name="adj" fmla="val 1268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27648" y="1828800"/>
            <a:ext cx="4846320" cy="3246120"/>
          </a:xfrm>
          <a:prstGeom prst="roundRect">
            <a:avLst>
              <a:gd name="adj" fmla="val 1268"/>
            </a:avLst>
          </a:prstGeom>
          <a:solidFill>
            <a:srgbClr val="FFF1F2"/>
          </a:solidFill>
          <a:ln w="13970">
            <a:solidFill>
              <a:srgbClr val="C7000B"/>
            </a:solidFill>
            <a:prstDash val="solid"/>
          </a:ln>
          <a:effectLst>
            <a:outerShdw sx="100000" sy="100000" kx="0" ky="0" algn="bl" rotWithShape="0" blurRad="12700" dist="50800" dir="2700000">
              <a:srgbClr val="777777">
                <a:alpha val="11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51560" y="20848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KV Cache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051560" y="250545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历史上下文反复计算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78992" y="3273552"/>
            <a:ext cx="475488" cy="365760"/>
          </a:xfrm>
          <a:prstGeom prst="roundRect">
            <a:avLst>
              <a:gd name="adj" fmla="val 11250"/>
            </a:avLst>
          </a:prstGeom>
          <a:solidFill>
            <a:srgbClr val="EFEFE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401568"/>
            <a:ext cx="47548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737360" y="3273552"/>
            <a:ext cx="475488" cy="365760"/>
          </a:xfrm>
          <a:prstGeom prst="roundRect">
            <a:avLst>
              <a:gd name="adj" fmla="val 11250"/>
            </a:avLst>
          </a:prstGeom>
          <a:solidFill>
            <a:srgbClr val="EFEFE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37360" y="3401568"/>
            <a:ext cx="47548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395728" y="3273552"/>
            <a:ext cx="475488" cy="365760"/>
          </a:xfrm>
          <a:prstGeom prst="roundRect">
            <a:avLst>
              <a:gd name="adj" fmla="val 11250"/>
            </a:avLst>
          </a:prstGeom>
          <a:solidFill>
            <a:srgbClr val="EFEFE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95728" y="3401568"/>
            <a:ext cx="47548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3054096" y="3273552"/>
            <a:ext cx="475488" cy="365760"/>
          </a:xfrm>
          <a:prstGeom prst="roundRect">
            <a:avLst>
              <a:gd name="adj" fmla="val 11250"/>
            </a:avLst>
          </a:prstGeom>
          <a:solidFill>
            <a:srgbClr val="EFEFE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54096" y="3401568"/>
            <a:ext cx="47548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712464" y="3273552"/>
            <a:ext cx="475488" cy="365760"/>
          </a:xfrm>
          <a:prstGeom prst="roundRect">
            <a:avLst>
              <a:gd name="adj" fmla="val 11250"/>
            </a:avLst>
          </a:prstGeom>
          <a:solidFill>
            <a:srgbClr val="111111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12464" y="3401568"/>
            <a:ext cx="47548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987552" y="3913632"/>
            <a:ext cx="2743200" cy="384048"/>
          </a:xfrm>
          <a:prstGeom prst="bracePair">
            <a:avLst/>
          </a:prstGeom>
          <a:noFill/>
          <a:ln w="12700">
            <a:solidFill>
              <a:srgbClr val="6666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10512" y="4407408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重复计算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29400" y="20848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KV Cache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629400" y="250545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 K/V 直接读取，新 token 追加缓存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6629400" y="3273552"/>
            <a:ext cx="457200" cy="36576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3401568"/>
            <a:ext cx="45720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K/V</a:t>
            </a:r>
            <a:endParaRPr lang="en-US" sz="670" dirty="0"/>
          </a:p>
        </p:txBody>
      </p:sp>
      <p:sp>
        <p:nvSpPr>
          <p:cNvPr id="31" name="Shape 29"/>
          <p:cNvSpPr/>
          <p:nvPr/>
        </p:nvSpPr>
        <p:spPr>
          <a:xfrm>
            <a:off x="7251192" y="3273552"/>
            <a:ext cx="457200" cy="36576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51192" y="3401568"/>
            <a:ext cx="45720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K/V</a:t>
            </a:r>
            <a:endParaRPr lang="en-US" sz="670" dirty="0"/>
          </a:p>
        </p:txBody>
      </p:sp>
      <p:sp>
        <p:nvSpPr>
          <p:cNvPr id="33" name="Shape 31"/>
          <p:cNvSpPr/>
          <p:nvPr/>
        </p:nvSpPr>
        <p:spPr>
          <a:xfrm>
            <a:off x="7872984" y="3273552"/>
            <a:ext cx="457200" cy="36576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72984" y="3401568"/>
            <a:ext cx="45720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K/V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8494776" y="3273552"/>
            <a:ext cx="457200" cy="36576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94776" y="3401568"/>
            <a:ext cx="45720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K/V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9372600" y="3456432"/>
            <a:ext cx="484632" cy="0"/>
          </a:xfrm>
          <a:prstGeom prst="line">
            <a:avLst/>
          </a:prstGeom>
          <a:noFill/>
          <a:ln w="1778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966960" y="3273552"/>
            <a:ext cx="530352" cy="365760"/>
          </a:xfrm>
          <a:prstGeom prst="roundRect">
            <a:avLst>
              <a:gd name="adj" fmla="val 11250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3401568"/>
            <a:ext cx="530352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</a:t>
            </a:r>
            <a:endParaRPr lang="en-US" sz="690" dirty="0"/>
          </a:p>
        </p:txBody>
      </p:sp>
      <p:sp>
        <p:nvSpPr>
          <p:cNvPr id="40" name="Text 38"/>
          <p:cNvSpPr/>
          <p:nvPr/>
        </p:nvSpPr>
        <p:spPr>
          <a:xfrm>
            <a:off x="6629400" y="4407408"/>
            <a:ext cx="4069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显存压力 ≈ 层数 × batch × 上下文长度 × hidden 维度 × 精度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04672" y="5522976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522976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78992" y="5687568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Cache 解决重复计算，但会把长上下文和高并发转化为显存压力。</a:t>
            </a:r>
            <a:endParaRPr lang="en-US" sz="10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/ BATCHING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Batching：让 GPU 少空转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把多个请求合并计算，提高吞吐；难点在于请求长度和阶段都不一样。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822960" y="166420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Batching 的核心不是“攒请求”，而是让 GPU 持续有活干。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868680" y="221284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 batch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46520" y="2212848"/>
            <a:ext cx="1737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Continuous batching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68680" y="2633472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2633472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74520" y="2633472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77440" y="2633472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80360" y="2633472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0" y="2633472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2980944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71600" y="2980944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74520" y="2980944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77440" y="2980944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80360" y="2980944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0" y="2980944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3328416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71600" y="3328416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74520" y="3328416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77440" y="3328416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80360" y="3328416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3280" y="3328416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8680" y="3675888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0" y="3675888"/>
            <a:ext cx="393192" cy="228600"/>
          </a:xfrm>
          <a:prstGeom prst="rect">
            <a:avLst/>
          </a:prstGeom>
          <a:solidFill>
            <a:srgbClr val="D6D6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74520" y="3675888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77440" y="3675888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3675888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3280" y="3675888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11680" y="4343400"/>
            <a:ext cx="914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padding 空算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6446520" y="2633472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49440" y="2633472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52360" y="2633472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55280" y="2633472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458200" y="2633472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961120" y="2633472"/>
            <a:ext cx="393192" cy="228600"/>
          </a:xfrm>
          <a:prstGeom prst="rect">
            <a:avLst/>
          </a:prstGeom>
          <a:solidFill>
            <a:srgbClr val="C700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46520" y="2980944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49440" y="2980944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2360" y="2980944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55280" y="2980944"/>
            <a:ext cx="393192" cy="228600"/>
          </a:xfrm>
          <a:prstGeom prst="rect">
            <a:avLst/>
          </a:prstGeom>
          <a:solidFill>
            <a:srgbClr val="C700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58200" y="2980944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961120" y="2980944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46520" y="3328416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949440" y="3328416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452360" y="3328416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955280" y="3328416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58200" y="3328416"/>
            <a:ext cx="393192" cy="228600"/>
          </a:xfrm>
          <a:prstGeom prst="rect">
            <a:avLst/>
          </a:prstGeom>
          <a:solidFill>
            <a:srgbClr val="C700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961120" y="3328416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46520" y="3675888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949440" y="3675888"/>
            <a:ext cx="393192" cy="22860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52360" y="3675888"/>
            <a:ext cx="393192" cy="228600"/>
          </a:xfrm>
          <a:prstGeom prst="rect">
            <a:avLst/>
          </a:prstGeom>
          <a:solidFill>
            <a:srgbClr val="C700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955280" y="3675888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58200" y="3675888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961120" y="3675888"/>
            <a:ext cx="393192" cy="228600"/>
          </a:xfrm>
          <a:prstGeom prst="rect">
            <a:avLst/>
          </a:prstGeom>
          <a:solidFill>
            <a:srgbClr val="F2F2F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4343400"/>
            <a:ext cx="19202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完成即移出，新请求补进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80467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097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95097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利用率低、吞吐不够</a:t>
            </a:r>
            <a:endParaRPr lang="en-US" sz="860" dirty="0"/>
          </a:p>
        </p:txBody>
      </p:sp>
      <p:sp>
        <p:nvSpPr>
          <p:cNvPr id="67" name="Shape 65"/>
          <p:cNvSpPr/>
          <p:nvPr/>
        </p:nvSpPr>
        <p:spPr>
          <a:xfrm>
            <a:off x="359359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73989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740" dirty="0"/>
          </a:p>
        </p:txBody>
      </p:sp>
      <p:sp>
        <p:nvSpPr>
          <p:cNvPr id="69" name="Text 67"/>
          <p:cNvSpPr/>
          <p:nvPr/>
        </p:nvSpPr>
        <p:spPr>
          <a:xfrm>
            <a:off x="373989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动态合并请求，完成的请求及时移出</a:t>
            </a:r>
            <a:endParaRPr lang="en-US" sz="860" dirty="0"/>
          </a:p>
        </p:txBody>
      </p:sp>
      <p:sp>
        <p:nvSpPr>
          <p:cNvPr id="70" name="Shape 68"/>
          <p:cNvSpPr/>
          <p:nvPr/>
        </p:nvSpPr>
        <p:spPr>
          <a:xfrm>
            <a:off x="638251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2881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652881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调度更复杂，低延迟请求可能等待</a:t>
            </a:r>
            <a:endParaRPr lang="en-US" sz="860" dirty="0"/>
          </a:p>
        </p:txBody>
      </p:sp>
      <p:sp>
        <p:nvSpPr>
          <p:cNvPr id="73" name="Shape 71"/>
          <p:cNvSpPr/>
          <p:nvPr/>
        </p:nvSpPr>
        <p:spPr>
          <a:xfrm>
            <a:off x="917143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31773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931773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高并发在线服务、批处理生成</a:t>
            </a:r>
            <a:endParaRPr lang="en-US" sz="860" dirty="0"/>
          </a:p>
        </p:txBody>
      </p:sp>
      <p:sp>
        <p:nvSpPr>
          <p:cNvPr id="76" name="Shape 74"/>
          <p:cNvSpPr/>
          <p:nvPr/>
        </p:nvSpPr>
        <p:spPr>
          <a:xfrm>
            <a:off x="804672" y="5650992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04672" y="5650992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78992" y="5815584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Batching 提升吞吐，但本质上是在吞吐和单请求延迟之间做权衡。</a:t>
            </a:r>
            <a:endParaRPr lang="en-US" sz="107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QUANTIZATION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量化：降低显存和计算成本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把权重或 KV Cache 用更低位宽表示，用精度换成本与速度。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822960" y="166420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量化不是免费加速，而是精度、速度和成本之间的取舍。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1005840" y="2340864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FP16/BF16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331720" y="2368296"/>
            <a:ext cx="4343400" cy="16459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31720" y="2368296"/>
            <a:ext cx="4343400" cy="164592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232257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精度稳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05840" y="299923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8B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INT8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2331720" y="3026664"/>
            <a:ext cx="4343400" cy="16459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31720" y="3026664"/>
            <a:ext cx="2432304" cy="16459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980944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常见折中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05840" y="3657600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INT4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2331720" y="3685032"/>
            <a:ext cx="4343400" cy="16459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31720" y="3685032"/>
            <a:ext cx="1389888" cy="164592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3639312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更省显存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732520" y="2212848"/>
            <a:ext cx="1554480" cy="1234440"/>
          </a:xfrm>
          <a:prstGeom prst="roundRect">
            <a:avLst>
              <a:gd name="adj" fmla="val 3333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06840" y="248716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Cache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67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95097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显存压力、推理成本高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359359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3989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373989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降低权重或 KV Cache 的位宽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638251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2881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52881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可能损失精度，也依赖硬件 kernel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917143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1773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931773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成本敏感、吞吐优先、可接受轻微精度损失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804672" y="5650992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4672" y="5650992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78992" y="5815584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量化可以显著省显存，但上线前必须用业务数据验证效果损失。</a:t>
            </a:r>
            <a:endParaRPr lang="en-US" sz="10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INFERENCE ENGINES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推理框架：把优化工程化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推理框架的价值不只是“跑模型”，而是把调度、缓存、算子和分布式能力集成起来。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822960" y="166420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推理框架把单点优化变成可复用的系统能力。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4663440" y="2240280"/>
            <a:ext cx="1965960" cy="1051560"/>
          </a:xfrm>
          <a:prstGeom prst="roundRect">
            <a:avLst>
              <a:gd name="adj" fmla="val 3913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25146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Inference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Engine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2148840"/>
            <a:ext cx="2468880" cy="786384"/>
          </a:xfrm>
          <a:prstGeom prst="roundRect">
            <a:avLst>
              <a:gd name="adj" fmla="val 5233"/>
            </a:avLst>
          </a:prstGeom>
          <a:solidFill>
            <a:srgbClr val="FFF1F2"/>
          </a:solidFill>
          <a:ln w="13335">
            <a:solidFill>
              <a:srgbClr val="C700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2148840"/>
            <a:ext cx="73152" cy="786384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5568" y="227685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115568" y="2532888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batch / 优先级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3429000" y="2542032"/>
            <a:ext cx="1188720" cy="219456"/>
          </a:xfrm>
          <a:prstGeom prst="line">
            <a:avLst/>
          </a:prstGeom>
          <a:noFill/>
          <a:ln w="1270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092440" y="2148840"/>
            <a:ext cx="2468880" cy="786384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3335">
            <a:solidFill>
              <a:srgbClr val="0F8B8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92440" y="2148840"/>
            <a:ext cx="73152" cy="786384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93608" y="227685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管理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8293608" y="2532888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PagedAttention / prefix cache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7909560" y="2542032"/>
            <a:ext cx="-1188720" cy="219456"/>
          </a:xfrm>
          <a:prstGeom prst="line">
            <a:avLst/>
          </a:prstGeom>
          <a:noFill/>
          <a:ln w="12700">
            <a:solidFill>
              <a:srgbClr val="0F8B8D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4400" y="3520440"/>
            <a:ext cx="2468880" cy="786384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3335">
            <a:solidFill>
              <a:srgbClr val="385A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3520440"/>
            <a:ext cx="73152" cy="786384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5568" y="364845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算子优化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115568" y="3904488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FlashAttention / fused kernel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429000" y="3913632"/>
            <a:ext cx="1188720" cy="-1152144"/>
          </a:xfrm>
          <a:prstGeom prst="line">
            <a:avLst/>
          </a:prstGeom>
          <a:noFill/>
          <a:ln w="12700">
            <a:solidFill>
              <a:srgbClr val="385A7C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92440" y="3520440"/>
            <a:ext cx="2468880" cy="786384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3335">
            <a:solidFill>
              <a:srgbClr val="B9902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3520440"/>
            <a:ext cx="73152" cy="786384"/>
          </a:xfrm>
          <a:prstGeom prst="rect">
            <a:avLst/>
          </a:prstGeom>
          <a:solidFill>
            <a:srgbClr val="B99020"/>
          </a:solidFill>
          <a:ln w="12700">
            <a:solidFill>
              <a:srgbClr val="B99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93608" y="364845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分布式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8293608" y="3904488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 / PP / DP / 路由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7909560" y="3913632"/>
            <a:ext cx="-1188720" cy="-1152144"/>
          </a:xfrm>
          <a:prstGeom prst="line">
            <a:avLst/>
          </a:prstGeom>
          <a:noFill/>
          <a:ln w="12700">
            <a:solidFill>
              <a:srgbClr val="B99020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337560" y="4315968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1430">
            <a:solidFill>
              <a:srgbClr val="C700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10712" y="4398264"/>
            <a:ext cx="8778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vLLM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572000" y="4315968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1430">
            <a:solidFill>
              <a:srgbClr val="385A7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45152" y="4398264"/>
            <a:ext cx="8778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TensorRT-LLM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5806440" y="4315968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1430">
            <a:solidFill>
              <a:srgbClr val="385A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79592" y="4398264"/>
            <a:ext cx="8778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SGLang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040880" y="4315968"/>
            <a:ext cx="1024128" cy="29260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1430">
            <a:solidFill>
              <a:srgbClr val="385A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14032" y="4398264"/>
            <a:ext cx="87782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85A7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TGI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80467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097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95097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手写优化难维护</a:t>
            </a:r>
            <a:endParaRPr lang="en-US" sz="860" dirty="0"/>
          </a:p>
        </p:txBody>
      </p:sp>
      <p:sp>
        <p:nvSpPr>
          <p:cNvPr id="45" name="Shape 43"/>
          <p:cNvSpPr/>
          <p:nvPr/>
        </p:nvSpPr>
        <p:spPr>
          <a:xfrm>
            <a:off x="359359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989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373989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把调度、KV、kernel、分布式集成</a:t>
            </a:r>
            <a:endParaRPr lang="en-US" sz="860" dirty="0"/>
          </a:p>
        </p:txBody>
      </p:sp>
      <p:sp>
        <p:nvSpPr>
          <p:cNvPr id="48" name="Shape 46"/>
          <p:cNvSpPr/>
          <p:nvPr/>
        </p:nvSpPr>
        <p:spPr>
          <a:xfrm>
            <a:off x="638251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2881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740" dirty="0"/>
          </a:p>
        </p:txBody>
      </p:sp>
      <p:sp>
        <p:nvSpPr>
          <p:cNvPr id="50" name="Text 48"/>
          <p:cNvSpPr/>
          <p:nvPr/>
        </p:nvSpPr>
        <p:spPr>
          <a:xfrm>
            <a:off x="652881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选型受模型、硬件和运维能力限制</a:t>
            </a:r>
            <a:endParaRPr lang="en-US" sz="860" dirty="0"/>
          </a:p>
        </p:txBody>
      </p:sp>
      <p:sp>
        <p:nvSpPr>
          <p:cNvPr id="51" name="Shape 49"/>
          <p:cNvSpPr/>
          <p:nvPr/>
        </p:nvSpPr>
        <p:spPr>
          <a:xfrm>
            <a:off x="917143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31773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931773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生产级推理服务、复杂并发场景</a:t>
            </a:r>
            <a:endParaRPr lang="en-US" sz="860" dirty="0"/>
          </a:p>
        </p:txBody>
      </p:sp>
      <p:sp>
        <p:nvSpPr>
          <p:cNvPr id="54" name="Shape 52"/>
          <p:cNvSpPr/>
          <p:nvPr/>
        </p:nvSpPr>
        <p:spPr>
          <a:xfrm>
            <a:off x="804672" y="5650992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4672" y="5650992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5815584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推理框架选型要看业务目标和硬件栈，不只是看哪个 benchmark 更高。</a:t>
            </a:r>
            <a:endParaRPr lang="en-US" sz="10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MULTI-GPU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多卡/多机部署：解决放不下和跑不快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单卡显存和吞吐有限，多卡多机通过并行拆分模型或请求，但通信会成为新成本。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822960" y="166420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多卡多机不是简单堆 GPU，通信开销会改变瓶颈位置。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68680" y="2212848"/>
            <a:ext cx="2606040" cy="530352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3335">
            <a:solidFill>
              <a:srgbClr val="C700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212848"/>
            <a:ext cx="73152" cy="530352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2340864"/>
            <a:ext cx="2313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Tensor Parallel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69848" y="2596896"/>
            <a:ext cx="23134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同一层拆到多卡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4572000" y="2267712"/>
            <a:ext cx="502920" cy="320040"/>
          </a:xfrm>
          <a:prstGeom prst="rect">
            <a:avLst/>
          </a:prstGeom>
          <a:solidFill>
            <a:srgbClr val="C700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0" y="2267712"/>
            <a:ext cx="502920" cy="320040"/>
          </a:xfrm>
          <a:prstGeom prst="rect">
            <a:avLst/>
          </a:prstGeom>
          <a:solidFill>
            <a:srgbClr val="C700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35040" y="2267712"/>
            <a:ext cx="502920" cy="320040"/>
          </a:xfrm>
          <a:prstGeom prst="rect">
            <a:avLst/>
          </a:prstGeom>
          <a:solidFill>
            <a:srgbClr val="EEEE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0" y="2267712"/>
            <a:ext cx="502920" cy="320040"/>
          </a:xfrm>
          <a:prstGeom prst="rect">
            <a:avLst/>
          </a:prstGeom>
          <a:solidFill>
            <a:srgbClr val="EEEE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26680" y="2432304"/>
            <a:ext cx="1828800" cy="0"/>
          </a:xfrm>
          <a:prstGeom prst="line">
            <a:avLst/>
          </a:prstGeom>
          <a:noFill/>
          <a:ln w="1397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710928" y="2350008"/>
            <a:ext cx="502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通信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868680" y="2980944"/>
            <a:ext cx="2606040" cy="530352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3335">
            <a:solidFill>
              <a:srgbClr val="0F8B8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2980944"/>
            <a:ext cx="73152" cy="53035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9848" y="3108960"/>
            <a:ext cx="2313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Pipeline Parallel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1069848" y="3364992"/>
            <a:ext cx="23134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不同层拆到不同卡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4572000" y="3035808"/>
            <a:ext cx="502920" cy="320040"/>
          </a:xfrm>
          <a:prstGeom prst="rect">
            <a:avLst/>
          </a:prstGeom>
          <a:solidFill>
            <a:srgbClr val="0F8B8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03520" y="3035808"/>
            <a:ext cx="502920" cy="320040"/>
          </a:xfrm>
          <a:prstGeom prst="rect">
            <a:avLst/>
          </a:prstGeom>
          <a:solidFill>
            <a:srgbClr val="0F8B8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35040" y="3035808"/>
            <a:ext cx="502920" cy="320040"/>
          </a:xfrm>
          <a:prstGeom prst="rect">
            <a:avLst/>
          </a:prstGeom>
          <a:solidFill>
            <a:srgbClr val="0F8B8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0" y="3035808"/>
            <a:ext cx="502920" cy="320040"/>
          </a:xfrm>
          <a:prstGeom prst="rect">
            <a:avLst/>
          </a:prstGeom>
          <a:solidFill>
            <a:srgbClr val="EEEE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6680" y="3200400"/>
            <a:ext cx="1828800" cy="0"/>
          </a:xfrm>
          <a:prstGeom prst="line">
            <a:avLst/>
          </a:prstGeom>
          <a:noFill/>
          <a:ln w="13970">
            <a:solidFill>
              <a:srgbClr val="0F8B8D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9710928" y="3118104"/>
            <a:ext cx="502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通信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868680" y="3749040"/>
            <a:ext cx="2606040" cy="530352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3335">
            <a:solidFill>
              <a:srgbClr val="385A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8680" y="3749040"/>
            <a:ext cx="73152" cy="530352"/>
          </a:xfrm>
          <a:prstGeom prst="rect">
            <a:avLst/>
          </a:prstGeom>
          <a:solidFill>
            <a:srgbClr val="385A7C"/>
          </a:solidFill>
          <a:ln w="12700">
            <a:solidFill>
              <a:srgbClr val="385A7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9848" y="3877056"/>
            <a:ext cx="2313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Parallel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1069848" y="4133088"/>
            <a:ext cx="23134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复制模型服务不同请求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4572000" y="3803904"/>
            <a:ext cx="502920" cy="32004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0" y="3803904"/>
            <a:ext cx="502920" cy="32004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35040" y="3803904"/>
            <a:ext cx="502920" cy="32004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0" y="3803904"/>
            <a:ext cx="502920" cy="320040"/>
          </a:xfrm>
          <a:prstGeom prst="rect">
            <a:avLst/>
          </a:prstGeom>
          <a:solidFill>
            <a:srgbClr val="385A7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26680" y="3968496"/>
            <a:ext cx="1828800" cy="0"/>
          </a:xfrm>
          <a:prstGeom prst="line">
            <a:avLst/>
          </a:prstGeom>
          <a:noFill/>
          <a:ln w="13970">
            <a:solidFill>
              <a:srgbClr val="385A7C"/>
            </a:solidFill>
            <a:prstDash val="solid"/>
            <a:headEnd type="non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9710928" y="3886200"/>
            <a:ext cx="5029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通信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6766560" y="4343400"/>
            <a:ext cx="3154680" cy="41148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67728" y="4489704"/>
            <a:ext cx="27432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NCCL / RDMA / IB / 拓扑 / 容错</a:t>
            </a:r>
            <a:endParaRPr lang="en-US" sz="790" dirty="0"/>
          </a:p>
        </p:txBody>
      </p:sp>
      <p:sp>
        <p:nvSpPr>
          <p:cNvPr id="44" name="Shape 42"/>
          <p:cNvSpPr/>
          <p:nvPr/>
        </p:nvSpPr>
        <p:spPr>
          <a:xfrm>
            <a:off x="80467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95097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单卡放不下、吞吐不够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359359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3989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373989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按层、按矩阵或按请求拆分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638251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881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740" dirty="0"/>
          </a:p>
        </p:txBody>
      </p:sp>
      <p:sp>
        <p:nvSpPr>
          <p:cNvPr id="52" name="Text 50"/>
          <p:cNvSpPr/>
          <p:nvPr/>
        </p:nvSpPr>
        <p:spPr>
          <a:xfrm>
            <a:off x="652881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通信、同步、故障恢复更复杂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917143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773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931773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大模型、高并发、多租户服务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04672" y="5650992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4672" y="5650992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78992" y="5815584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多卡解决容量问题，但会引入通信税和运维复杂度。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6304" y="0"/>
            <a:ext cx="36576" cy="6858000"/>
          </a:xfrm>
          <a:prstGeom prst="rect">
            <a:avLst/>
          </a:prstGeom>
          <a:solidFill>
            <a:srgbClr val="E60012"/>
          </a:solidFill>
          <a:ln w="12700">
            <a:solidFill>
              <a:srgbClr val="E600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27648"/>
            <a:ext cx="10744200" cy="0"/>
          </a:xfrm>
          <a:prstGeom prst="line">
            <a:avLst/>
          </a:prstGeom>
          <a:noFill/>
          <a:ln w="762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Inference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109960" y="6364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94360" y="34747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PD DISAGGREGATION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594360" y="65836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 分离：按阶段拆资源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612648" y="1234440"/>
            <a:ext cx="896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与 Decode 的资源特征不同，分离后可以分别扩容和调度。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822960" y="166420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 分离把长输入和长输出拆到不同资源池处理。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68680" y="2240280"/>
            <a:ext cx="2514600" cy="868680"/>
          </a:xfrm>
          <a:prstGeom prst="roundRect">
            <a:avLst>
              <a:gd name="adj" fmla="val 4737"/>
            </a:avLst>
          </a:prstGeom>
          <a:solidFill>
            <a:srgbClr val="E8F6F6"/>
          </a:solidFill>
          <a:ln w="13335">
            <a:solidFill>
              <a:srgbClr val="0F8B8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240280"/>
            <a:ext cx="73152" cy="86868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9848" y="2368296"/>
            <a:ext cx="2221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Pool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69848" y="2624328"/>
            <a:ext cx="22219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 prompt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计算密集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 TTFT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3520440" y="2670048"/>
            <a:ext cx="1051560" cy="0"/>
          </a:xfrm>
          <a:prstGeom prst="line">
            <a:avLst/>
          </a:prstGeom>
          <a:noFill/>
          <a:ln w="1905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2240280"/>
            <a:ext cx="2240280" cy="868680"/>
          </a:xfrm>
          <a:prstGeom prst="roundRect">
            <a:avLst>
              <a:gd name="adj" fmla="val 4737"/>
            </a:avLst>
          </a:prstGeom>
          <a:solidFill>
            <a:srgbClr val="FFF7DC"/>
          </a:solidFill>
          <a:ln w="13335">
            <a:solidFill>
              <a:srgbClr val="B990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240280"/>
            <a:ext cx="73152" cy="868680"/>
          </a:xfrm>
          <a:prstGeom prst="rect">
            <a:avLst/>
          </a:prstGeom>
          <a:solidFill>
            <a:srgbClr val="B99020"/>
          </a:solidFill>
          <a:ln w="12700">
            <a:solidFill>
              <a:srgbClr val="B99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2368296"/>
            <a:ext cx="1947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Transfer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4910328" y="2624328"/>
            <a:ext cx="19476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缓存交接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网络带宽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生命周期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7095744" y="2670048"/>
            <a:ext cx="1042416" cy="0"/>
          </a:xfrm>
          <a:prstGeom prst="line">
            <a:avLst/>
          </a:prstGeom>
          <a:noFill/>
          <a:ln w="19050">
            <a:solidFill>
              <a:srgbClr val="C7000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275320" y="2240280"/>
            <a:ext cx="2514600" cy="868680"/>
          </a:xfrm>
          <a:prstGeom prst="roundRect">
            <a:avLst>
              <a:gd name="adj" fmla="val 4737"/>
            </a:avLst>
          </a:prstGeom>
          <a:solidFill>
            <a:srgbClr val="FFF1F2"/>
          </a:solidFill>
          <a:ln w="13335">
            <a:solidFill>
              <a:srgbClr val="C700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2240280"/>
            <a:ext cx="73152" cy="868680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76488" y="2368296"/>
            <a:ext cx="2221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 Pool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8476488" y="2624328"/>
            <a:ext cx="22219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持续生成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带宽敏感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 TPOT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1143000" y="4041648"/>
            <a:ext cx="4297680" cy="59436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89888" y="4261104"/>
            <a:ext cx="3794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收益：资源利用率更高，可分别扩容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6400800" y="4041648"/>
            <a:ext cx="4297680" cy="59436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4261104"/>
            <a:ext cx="3794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挑战：KV 传输、调度和网络压力</a:t>
            </a:r>
            <a:endParaRPr lang="en-US" sz="870" dirty="0"/>
          </a:p>
        </p:txBody>
      </p:sp>
      <p:sp>
        <p:nvSpPr>
          <p:cNvPr id="30" name="Shape 28"/>
          <p:cNvSpPr/>
          <p:nvPr/>
        </p:nvSpPr>
        <p:spPr>
          <a:xfrm>
            <a:off x="80467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1F2"/>
          </a:solidFill>
          <a:ln w="9525">
            <a:solidFill>
              <a:srgbClr val="C700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097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95097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和 Decode 资源特征不同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59359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3989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373989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Prefill 池与 Decode 池分离调度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638251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2881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652881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传输和请求生命周期复杂</a:t>
            </a:r>
            <a:endParaRPr lang="en-US" sz="860" dirty="0"/>
          </a:p>
        </p:txBody>
      </p:sp>
      <p:sp>
        <p:nvSpPr>
          <p:cNvPr id="39" name="Shape 37"/>
          <p:cNvSpPr/>
          <p:nvPr/>
        </p:nvSpPr>
        <p:spPr>
          <a:xfrm>
            <a:off x="9171432" y="4709160"/>
            <a:ext cx="2423160" cy="758952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9525">
            <a:solidFill>
              <a:srgbClr val="DCDC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317736" y="4864608"/>
            <a:ext cx="777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9C9C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9317736" y="507492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1F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长上下文、高并发、TTFT 敏感场景</a:t>
            </a:r>
            <a:endParaRPr lang="en-US" sz="860" dirty="0"/>
          </a:p>
        </p:txBody>
      </p:sp>
      <p:sp>
        <p:nvSpPr>
          <p:cNvPr id="42" name="Shape 40"/>
          <p:cNvSpPr/>
          <p:nvPr/>
        </p:nvSpPr>
        <p:spPr>
          <a:xfrm>
            <a:off x="804672" y="5650992"/>
            <a:ext cx="10469880" cy="493776"/>
          </a:xfrm>
          <a:prstGeom prst="roundRect">
            <a:avLst>
              <a:gd name="adj" fmla="val 9259"/>
            </a:avLst>
          </a:prstGeom>
          <a:solidFill>
            <a:srgbClr val="FFF1F2"/>
          </a:solidFill>
          <a:ln w="10160">
            <a:solidFill>
              <a:srgbClr val="F2C7C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" y="5650992"/>
            <a:ext cx="100584" cy="493776"/>
          </a:xfrm>
          <a:prstGeom prst="rect">
            <a:avLst/>
          </a:prstGeom>
          <a:solidFill>
            <a:srgbClr val="C7000B"/>
          </a:solidFill>
          <a:ln w="12700">
            <a:solidFill>
              <a:srgbClr val="C700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78992" y="5815584"/>
            <a:ext cx="99212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C700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推理优化的核心，是在体验、吞吐和成本之间做工程取舍。</a:t>
            </a:r>
            <a:endParaRPr lang="en-US" sz="10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Huawei-tone technical sharing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大模型推理基础与性能优化 精修版</dc:title>
  <dc:subject>大模型推理知识分享</dc:subject>
  <dc:creator>Codex</dc:creator>
  <cp:lastModifiedBy>Codex</cp:lastModifiedBy>
  <cp:revision>1</cp:revision>
  <dcterms:created xsi:type="dcterms:W3CDTF">2026-06-02T03:04:39Z</dcterms:created>
  <dcterms:modified xsi:type="dcterms:W3CDTF">2026-06-02T03:04:39Z</dcterms:modified>
</cp:coreProperties>
</file>