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今天我分享的主题是大模型推理。我们平时聊大模型，很多时候会聊模型能力、训练数据、参数规模，或者具体应用效果。但模型真正进入业务系统以后，另一个问题会变得非常关键：这个模型怎么被高效、稳定、低成本地调用。
这就是今天要讲的推理。简单说，推理就是模型训练好以后，用户给它一个输入，模型基于这个输入生成输出。它不是训练模型，而是使用模型。
为了让后面的内容更容易串起来，我会一直用一个例子：假设用户输入大约 2000 个 token，模型输出 300 个 token。我们会沿着这个请求，看它从 Prompt、Tokenize，到 Prefill、Decode，再到 KV Cache 和各种优化手段。大家不需要一开始就理解所有术语，先记住这条主线：大模型推理的核心，是围绕一次请求，尽量把延迟、吞吐和成本平衡好。
这里可以先给大家一个预期：今天不会深入讲训练算法，也不会讲某一个框架的安装使用，而是先把推理这件事的基本结构讲清楚。对于不熟悉大模型的人，听完以后至少能知道一次请求大概经历了什么；对于已经接触过大模型应用的人，听完以后能更准确地区分，是 Prompt 太长、输出太长、显存不够，还是调度和部署方式带来的问题。
如果现场有人对 token 不熟悉，可以提前说明：后面我会多次提到 token，大家先把它理解成模型处理文本的最小片段。我们平时看到的是一句话、一段文字，但模型内部看到的是 token 序列。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先说为什么需要理解推理。对一个大模型应用来说，用户最终感受到的不是模型参数有多少，也不是底层用了什么框架，而是这个系统回答得快不快、稳不稳、贵不贵。
第一是体验。比如一个聊天机器人，如果用户发完问题以后，三四秒都没有第一个字出来，用户会觉得系统卡住了。这个就是首 token 时间，也就是 TTFT。再比如第一个字出来了，但是后面一个字一个字很慢，也会影响流式体验，这对应后面会讲的 TPOT。
第二是成本。大模型推理通常消耗 GPU 资源，而且成本经常和 token 数量、并发数、上下文长度相关。同样一个模型，同样一张卡，如果调度、batch、KV Cache 管理不同，单位 token 成本可能差很多。
第三是容量。业务流量上来以后，系统能不能扛住，不只看模型本身，还要看 GPU 利用率、显存、队列等待和服务路由。
第四是稳定性。线上最常见的问题包括长 prompt、长输出、突发并发、显存打满、慢请求堆积。这些问题很多都属于推理系统问题。
所以理解推理的意义，不是为了背术语，而是为了遇到问题时能判断：慢在哪里，贵在哪里，优化应该从哪里下手。
这里可以结合部门业务举一个更具体的例子。比如一个智能客服或知识问答系统，用户最直接的体验是“点了以后多久有反应”。如果首 token 慢，用户会以为系统挂了；如果后续输出慢，用户会觉得答案生成很费劲。对业务侧来说，这直接影响转化率、使用意愿和投诉率。
成本也可以讲得更落地一点：同样是回答一个问题，如果 Prompt 里塞了很多不必要的历史上下文，输入 token 会变多；如果没有限制输出长度，模型可能生成很长的答案，输出 token 会变多。token 一多，就意味着 GPU 工作更多、KV Cache 占用更多、请求耗时更长。所以推理优化不只是底层工程，也和产品设计、Prompt 设计、RAG 裁剪都有关系。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下来把训练和推理区分一下。训练的目标是让模型学会能力。比如我们拿大量语料、代码、图片或者指令数据，让模型通过前向、反向传播和参数更新，逐步学到模式。训练更关注的是收敛、精度、loss、训练效率，以及训练过程是否稳定。
推理不一样。推理时，模型参数已经固定了。我们不再更新模型参数，而是把用户输入送进去，让模型根据已有参数生成输出。这个阶段更像一个线上服务问题。
举个类比，训练像是培养一个专家，让他通过大量资料学习。推理像是让这个专家坐到服务台前，不断回答用户问题。训练阶段关心专家学得怎么样，推理阶段关心他回答得快不快、服务多少人、每次服务成本是多少。
所以训练和推理关注的指标也不同。训练里常说 loss、epoch、梯度、吞吐。推理里更常说 TTFT、TPOT、throughput、显存、QPS、单 token 成本。
这也是为什么一个模型效果很好，不代表线上体验一定好。模型能力是一部分，推理系统决定了这个能力能不能以可接受的速度和成本交付出去。
可以再补充一个容易混淆的点：训练和推理都需要“前向计算”，但训练还要做反向传播和参数更新，所以训练的计算链路更重；推理只做前向生成，但它的难点在于要面向线上用户持续服务。也就是说，推理单次看起来比训练简单，但在线上系统里，它会遇到并发、排队、服务稳定性和成本控制问题。
还可以强调：训练通常是离线批量任务，可以提前规划资源和时间；推理通常是在线实时任务，用户什么时候来请求是不确定的。这个“不确定”就是推理系统需要调度、限流、排队和监控的原因。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这一页讲大模型到底是怎么生成答案的。很多人直觉上会以为，大模型收到问题以后，会在内部思考一遍，然后一次性把完整答案吐出来。但实际并不是这样。
大多数大语言模型采用的是自回归生成。所谓自回归，可以简单理解为：模型每一步只预测下一个 token。比如用户问“请解释大模型推理为什么慢”，模型先根据输入上下文预测第一个输出 token。第一个 token 出来以后，模型会把它也放进上下文里，再预测第二个 token。这个过程不断循环，直到生成结束符，或者达到最大输出长度。
这里要解释一下 token。Token 不完全等同于汉字或单词，它是模型处理文本的基本单位。中文里一个 token 可能是一个字，也可能是一个词的一部分；英文里可能是一个单词，也可能是单词片段。我们平时说输入 2000 token、输出 300 token，就是按模型看到的这些基本单位来算。
这个机制带来两个非常重要的直觉。第一，输入越长，模型在生成第一个 token 之前要看的上下文越多，所以首 token 时间可能更长。第二，输出越长，Decode 循环次数越多，所以整体生成时间也会更长。
后面讲 Prefill、Decode、KV Cache，其实都和这个逐 token 生成机制有关。
这里可以展开讲一下为什么逐 token 生成会导致延迟不可避免。假设模型输出 300 个 token，不管单个 token 生成得多快，都需要至少 300 轮 Decode。每一轮都要读模型权重、读历史 KV Cache、计算下一个 token 的概率分布，然后再选择一个 token。这就是为什么大模型生成长答案时，耗时会随着输出长度线性增加。
还可以顺带解释生成参数。temperature、top-p、top-k 这些参数决定模型在候选 token 里怎么选择。它们主要影响输出的随机性和多样性，不会改变“逐 token 生成”这个基本事实。max tokens 则会直接限制输出长度，因此它既影响成本，也影响延迟。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现在把一次推理请求拆成完整链路来看。
第一步是 Prompt 构造。真实业务里，用户问题通常不是直接丢给模型。系统可能会加系统提示词，比如角色、回答格式、约束条件；如果是 RAG 场景，还会拼接检索出来的知识片段；如果是多轮对话，还会带上历史上下文。
第二步是 Tokenize，把文本切成模型能够识别的 token。这个步骤看起来简单，但在高并发场景下，tokenizer 性能也可能成为瓶颈。
第三步是 Prefill。模型会一次性处理输入上下文，建立后续生成需要的内部状态。第四步是 Decode，也就是逐 token 生成输出。生成出来的 token 还要 Detokenize，转回人能读的文本，然后通过流式方式返回给前端。
除了这条主链路，线上还会有鉴权、限流、排队、监控、日志、计费、模型路由等能力。很多时候用户感觉慢，不一定慢在模型计算，也可能慢在排队、检索、网关、tokenizer 或后处理。
所以看推理链路时，我们要避免只看一个端到端耗时，而是把它拆成多个阶段分析。
这一页可以强调“链路上每一步都可能带来延迟”。比如 Prompt 构造阶段，如果 RAG 检索慢，模型还没开始算，请求就已经慢了；Tokenize 阶段如果在 CPU 上处理大量文本，也可能拖慢；模型阶段又分成 Prefill 和 Decode；最后 Detokenize 和流式返回也会影响用户看到内容的节奏。
如果现场有工程同学，可以补一句：线上排查最好做 trace，把一次请求按阶段打点。比如记录 queue time、tokenize time、prefill time、decode token/s、detokenize time。只有这样，看到慢请求时才知道该看 GPU、看检索、看网关，还是看调度队列。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这里是今天最核心的一页：Prefill 和 Decode。
Prefill 可以理解为模型先阅读输入。假设用户输入 2000 个 token，模型在生成第一个输出 token 之前，需要把这 2000 个 token 处理一遍。这个阶段一次性处理大量输入，并行度比较高，所以更偏计算密集。它直接影响 TTFT，也就是用户多久能看到第一个输出。
Decode 可以理解为模型开始写答案。每一步生成一个新 token，然后把新 token 加回上下文，再生成下一个。如果输出 300 个 token，就至少要循环 300 次。这个阶段每次只生成一个 token，看起来计算量不如 Prefill 大，但因为要反复读取模型权重和 KV Cache，所以更容易受显存带宽、调度和缓存管理影响。
这两个阶段的资源特征不同，所以优化方向也不同。长输入场景，比如 RAG 拼了很多文档，主要会压 Prefill。长输出场景，比如让模型写长报告、长代码，主要会压 Decode。
我们后面讲性能指标、KV Cache、Batching、PD 分离，本质上都是围绕这两个阶段展开的。记住一个简单判断：输入长，先看 Prefill；输出长，重点看 Decode。
这里可以用刚才的 2000 输入、300 输出例子再讲一遍。Prefill 面对的是 2000 个输入 token，所以它的工作量和输入长度强相关。Decode 面对的是 300 个输出 token，所以它至少要循环 300 次。两者都在同一个请求里，但瓶颈可能完全不同。
可以再补一个业务判断方法：如果用户问题里带了很多文档、很多历史对话，首 token 慢，通常优先怀疑 Prefill；如果第一个 token 出来很快，但后面输出很慢，通常优先看 Decode、KV Cache、batch 调度和显存带宽。这个判断不一定百分百准确，但作为第一步排查很有用。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推理性能可以从四类指标来看。
第一是 TTFT，Time To First Token，也就是首 token 时间。用户发起请求以后，多久能看到第一个字，主要看这个指标。它和排队时间、Prompt 长度、Prefill 计算、调度都有关系。聊天类应用里，TTFT 非常影响用户体感。
第二是 TPOT，Time Per Output Token，也就是每个输出 token 的耗时。如果 TPOT 比较稳定，用户会觉得输出是连续流畅的；如果 TPOT 抖动比较大，流式输出就会一卡一卡。
第三是 Throughput，也就是吞吐。可以按 tokens per second 看，也可以按 requests per second 看。吞吐关心的是一组 GPU 单位时间能处理多少工作。对批处理、离线生成、大规模服务来说，吞吐非常重要。
第四是显存和成本。显存要放模型权重，也要放 KV Cache。上下文越长，并发越高，KV Cache 越大，显存压力越高。成本则和 GPU 时间、token 数量、模型大小、利用率都有关系。
所以不同业务场景关注点不同。聊天机器人更关注 TTFT 和 TPOT；批量生成更关注吞吐；长文档问答更关注 Prefill 成本和 KV Cache；企业内部服务还要关注单次调用成本和稳定性。
可以把这些指标和用户体验对应起来。TTFT 低，用户觉得系统响应快；TPOT 稳，用户觉得输出流畅；Throughput 高，系统能服务更多用户；显存和成本可控，业务才能规模化上线。很多优化不是单独追一个指标，而是多个指标一起权衡。
举例来说，增大 batch 可能提高 Throughput，但也可能让某些请求排队更久，TTFT 变差。量化可能降低显存和成本，但可能影响模型质量。多卡部署能提升容量，但通信开销可能影响 TPOT。所以看指标时要先明确业务优先级：是体验优先、吞吐优先，还是成本优先。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这一页回答一个常见问题：推理为什么慢、为什么贵。
第一类瓶颈是计算。Prefill 阶段要处理完整输入，尤其是长上下文和大模型时，矩阵乘法和 Attention 计算都比较重。
第二类是显存。显存里不只放模型权重，还要放 KV Cache 和一些运行时状态。模型越大、上下文越长、并发越高，显存压力越明显。
第三类是内存带宽。Decode 阶段每生成一个 token 都要读取模型权重和历史 KV Cache。这个阶段很多时候不是算力不够，而是数据搬运跟不上。
第四类是调度。线上请求长度不一样，有的请求输入很长，有的输出很长，有的很快结束，有的持续生成。如果调度不好，batch 可能组不满，GPU 会空转，或者短请求被长请求拖住。
第五类是网络。单机单卡时网络不是重点，但多卡多机以后，跨卡通信、跨节点同步、KV Cache 传输都会变成成本。
所以定位推理问题时，可以先把端到端耗时拆成几个部分：排队、Prefill、Decode、网络和后处理。这样更容易知道真正该优化哪里。
这一页可以多讲一下不同瓶颈出现的典型场景。计算瓶颈常见于长输入、超大模型、Prefill 很重的请求。显存瓶颈常见于高并发、长上下文、多轮对话，尤其是 KV Cache 堆起来以后。带宽瓶颈常见于 Decode，因为每一步都要读很多历史状态。
调度瓶颈则更隐蔽。比如一批请求里有的输出 20 token，有的输出 2000 token，如果调度策略不好，短请求可能被长请求影响。网络瓶颈通常在多卡多机时出现，比如张量并行需要跨卡同步，PD 分离需要传 KV Cache。把这些场景讲出来，听众会更容易把瓶颈和真实问题对应上。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 Cache 是理解推理系统非常关键的概念。
Transformer 在处理 token 时，会为每一层 attention 产生 Key 和 Value。生成下一个 token 时，模型需要关注之前所有 token。如果每次生成新 token 都重新计算历史上下文，Decode 会非常慢。
KV Cache 的思路是，把历史 token 对应的 Key 和 Value 缓存下来。下一步生成时，不需要重新计算所有历史 token，只需要读取已有缓存，再为新 token 追加新的 K/V。这样可以大幅降低 Decode 阶段的重复计算。
它的收益很直接：输出生成更快，尤其是长输出时非常重要。但代价也很直接：占显存。KV Cache 的规模大致和层数、batch size、上下文长度、hidden 维度、数据精度相关。上下文越长，并发越高，KV Cache 越大。
所以线上经常会看到一个现象：模型权重本身能放下，但并发一高、上下文一长，显存还是被 KV Cache 打满。很多长上下文优化，比如 PagedAttention、Prefix Cache、KV Cache 量化、KV offload，本质上都是围绕这个问题做文章。
这里可以补一个显存直觉。模型权重是相对固定的，比如一个模型加载上来以后，权重占用基本稳定；但 KV Cache 是随请求变化的。并发越高，正在生成的请求越多；上下文越长，每个请求缓存的历史 token 越多；输出越长，请求占用 KV Cache 的时间也越长。
所以 KV Cache 管理是推理框架的核心能力之一。PagedAttention 的思路可以类比操作系统的分页，把 KV Cache 切成块来管理，减少内存碎片。Prefix Cache 可以复用相同前缀，比如多个请求共享同一段系统提示词或文档前缀。KV Cache 量化和 offload 则是在显存不够时，用精度或速度换容量。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接下来进入几个常见优化方向。第一个是 Batching。
如果一个请求一个请求地跑，GPU 经常不能被充分利用。Batching 的思路是把多个请求合并起来，让 GPU 一次处理更多工作，提高整体吞吐。
但大模型推理的 batching 比普通任务复杂。因为每个请求的输入长度和输出长度都不一样。比如一个请求很快生成完了，另一个还在继续输出。如果用静态 batch，短请求结束后的位置可能被浪费，或者为了对齐长请求产生 padding 空算。
Continuous batching 的思路是动态管理 batch。已经完成的请求及时移出，新来的请求及时补进来，让 GPU 尽量持续有工作做。这类能力也是很多推理框架的重要优化点。
Batching 的收益是提高吞吐、降低单位 token 成本。代价是调度复杂，而且如果系统为了吞吐攒太多请求，低延迟请求可能会排队更久。所以实际线上要根据业务场景调平衡：聊天场景不能只追求吞吐，批处理场景则可以更激进地做 batch。
可以把 batching 和餐厅排队做个类比。GPU 像厨房，如果一次只做一份菜，厨房可能有很多时间在等；如果把多份菜一起处理，厨房利用率更高。但如果为了凑一大桌，让先来的简单菜一直等，用户体验也会变差。
所以线上 batching 通常需要策略。比如设置最大等待时间，超过时间就算 batch 不满也要发出去；或者给高优先级业务更短等待；或者把长输出请求和短输出请求分开调度。Continuous batching 的价值就在于更灵活地把不同请求混合起来，让 GPU 利用率更平稳。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第二个优化方向是量化。
模型权重和计算默认可能使用 FP16 或 BF16。如果改成 INT8、INT4 这样的低位宽表示，模型会更小，显存占用会下降，某些硬件上推理速度也可能提升。
量化可以作用在不同位置。最常见的是权重量化，把模型权重从 16 位降到 8 位或 4 位。也可以做 KV Cache 量化，用更低位宽保存 KV Cache，从而缓解长上下文和高并发时的显存压力。
这里要注意，量化不是单纯的压缩文件。位宽降低后，数值精度会变低，模型输出质量可能受影响。不同模型、不同任务对量化的敏感程度也不同。有些场景，比如分类、简单问答，损失可能很小；有些场景，比如复杂推理、代码生成、数学题，影响可能更明显。
所以落地量化时，通常要同时看三件事：显存和吞吐收益、硬件和 kernel 是否支持、业务测试集上的质量变化。只有这三方面都能接受，量化才适合上线。
量化这里可以再解释 FP16、INT8、INT4 的直觉。FP16 是 16 位浮点数，表达范围和精度比较适合深度学习推理；INT8 和 INT4 用更少的位保存数值，所以同样显存能放下更多参数或缓存。显存减少以后，也可能减少数据搬运量，从而提升速度。
但量化会引入误差。工程上常见的量化方法，比如 GPTQ、AWQ、SmoothQuant，本质上都是想在降低位宽的同时尽量保持模型输出质量。上线前一般要用业务样本评估，比如问答准确率、格式遵守、代码可用性、拒答率、幻觉率等，而不只看困惑度或通用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第三个方向是推理框架。这里可以把推理框架理解成一套把模型服务化的系统。
像 vLLM、TensorRT-LLM、SGLang、TGI 这些框架，主要价值在于把很多推理优化工程化，形成稳定可复用的能力。它们不是只负责把模型加载起来，而是把调度、KV 管理、算子优化和分布式能力组合到一起。
调度层面，框架会处理动态 batching、队列、优先级和并发控制。KV 管理层面，会有 PagedAttention、Prefix Cache、KV offload 等机制。算子层面，会用 FlashAttention、fused kernel、量化 kernel 来提升计算效率。分布式层面，会支持张量并行、流水线并行、数据并行以及服务路由。
所以选推理框架时，可以同时看几个维度：模型是否支持，硬件栈是否匹配，吞吐和延迟是否满足目标，运维复杂度是否可控，以及它和现有网关、监控、日志、计费系统怎么集成。
这一页图里的意思是：这些优化能力最后都会汇聚到推理框架里，由框架统一调度和管理。
这一页可以进一步讲框架选型的实际问题。比如 vLLM 在 KV Cache 管理和 continuous batching 上很有代表性，TensorRT-LLM 更强调 NVIDIA 生态下的高性能 kernel 和部署优化，SGLang 在结构化生成、agent、多请求编排上有自己的优势，TGI 更偏 Hugging Face 生态的服务化部署。
这里不需要现场比较哪个最好，因为框架没有绝对最优。更实际的判断是：我们要跑什么模型，用什么硬件，业务更关注低延迟还是高吞吐，是否需要多机部署，团队能不能维护这套系统。把这些维度放在一起看，选型会更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第四个方向是多卡和多机部署。
为什么需要多卡？主要有两个原因。第一，模型太大，单卡放不下。第二，单卡能放下，但吞吐不够，需要更多 GPU 一起服务请求。
常见并行方式有三类。Tensor Parallel 是把同一层里的矩阵计算拆到多张卡上，适合单层计算很大或者模型放不下的场景。Pipeline Parallel 是把不同层放到不同卡上，模型像流水线一样经过多张卡，适合更大的模型，但会有流水线气泡。Data Parallel 是复制多份模型，不同副本处理不同请求，主要用于提升整体吞吐。
多卡多机带来的收益是容量提升，但也会引入新的成本。卡和卡之间、机器和机器之间需要通信。比如 tensor parallel 中不同卡要交换中间结果；多机部署还涉及 NCCL、RDMA、InfiniBand、网络拓扑和故障恢复。
所以多卡不是简单增加 GPU 数量。它解决放不下和跑不快的问题，同时也会把通信、同步、容错和运维复杂度带进来。
多卡多机这里可以补充一点：并行方式往往会组合使用。比如一个超大模型可能同时用 tensor parallel 把单层拆开，又用 pipeline parallel 把层拆开；如果服务多个用户，还会有 data parallel 或多副本部署。实际系统里不是三选一，而是根据模型大小、显存、吞吐目标和网络条件组合。
通信开销也可以讲得更具体：如果每一层计算后都要跨卡交换数据，那么网络延迟和带宽会影响整体速度。单机多卡通常通信快一些，多机跨节点通信复杂得多。硬件拓扑、IB 网络、NCCL 配置、故障恢复都会影响最终稳定性。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最后讲 PD 分离，也就是 Prefill 和 Decode 分离。
前面我们说过，Prefill 和 Decode 的资源特征不同。Prefill 更像一次性处理长输入，计算密集，主要影响 TTFT。Decode 是持续生成输出，循环次数多，更受内存带宽、KV Cache 和调度影响。
PD 分离的思路是把这两个阶段拆到不同资源池里。Prefill Pool 专门处理长 prompt，快速完成输入上下文处理并生成 KV Cache。之后把 KV Cache 传给 Decode Pool，由 Decode 节点继续逐 token 生成。
这样做的收益是资源可以按阶段扩容。比如某个业务输入很长但输出不长，可以增加 Prefill 能力；另一个业务输出很长，可以增加 Decode 能力。这样比所有请求都混在同一组 GPU 上更容易做资源匹配。
挑战也很明显。KV Cache 要在 Prefill 和 Decode 之间传输，网络压力会上来；请求生命周期也更复杂，需要调度系统知道请求处在哪个阶段。通常在长上下文、高并发、首 token 时间敏感的场景里，PD 分离更有价值。
到这里，我们就把推理的主链路和常见优化方向串起来了。核心思路是：先拆清楚 Prefill 和 Decode，再根据瓶颈选择 KV Cache、batching、量化、推理框架、多卡多机或 PD 分离这些手段。
PD 分离可以用资源错配来解释。Prefill 需要短时间处理大量输入，像一次性读很多材料；Decode 需要较长时间稳定输出，像持续写答案。如果把两类请求都混在同一批 GPU 上，可能出现 Prefill 抢占 Decode，或者 Decode 占着资源导致 Prefill 排队。
分离以后，Prefill Pool 和 Decode Pool 可以分别调度。比如长文档问答可以给 Prefill 更多资源，聊天式长输出可以给 Decode 更多资源。不过它也增加了系统复杂度：KV Cache 怎么传、失败怎么恢复、请求怎么追踪、两个资源池怎么做负载均衡，都需要工程设计。可以把它理解为更高级的推理系统优化，而不是入门阶段必须马上使用的能力。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4407408" cy="6858000"/>
          </a:xfrm>
          <a:prstGeom prst="rect">
            <a:avLst/>
          </a:prstGeom>
          <a:solidFill>
            <a:srgbClr val="C7000B"/>
          </a:solidFill>
          <a:ln w="12700">
            <a:solidFill>
              <a:srgbClr val="C7000B"/>
            </a:solidFill>
            <a:prstDash val="solid"/>
          </a:ln>
        </p:spPr>
      </p:sp>
      <p:sp>
        <p:nvSpPr>
          <p:cNvPr id="4" name="Shape 2"/>
          <p:cNvSpPr/>
          <p:nvPr/>
        </p:nvSpPr>
        <p:spPr>
          <a:xfrm>
            <a:off x="4407408" y="0"/>
            <a:ext cx="164592" cy="6858000"/>
          </a:xfrm>
          <a:prstGeom prst="rect">
            <a:avLst/>
          </a:prstGeom>
          <a:solidFill>
            <a:srgbClr val="E60012"/>
          </a:solidFill>
          <a:ln w="12700">
            <a:solidFill>
              <a:srgbClr val="E60012"/>
            </a:solidFill>
            <a:prstDash val="solid"/>
          </a:ln>
        </p:spPr>
      </p:sp>
      <p:sp>
        <p:nvSpPr>
          <p:cNvPr id="5" name="Shape 3"/>
          <p:cNvSpPr/>
          <p:nvPr/>
        </p:nvSpPr>
        <p:spPr>
          <a:xfrm>
            <a:off x="4572000" y="0"/>
            <a:ext cx="73152" cy="6858000"/>
          </a:xfrm>
          <a:prstGeom prst="rect">
            <a:avLst/>
          </a:prstGeom>
          <a:solidFill>
            <a:srgbClr val="FFE3E6"/>
          </a:solidFill>
          <a:ln w="12700">
            <a:solidFill>
              <a:srgbClr val="FFE3E6"/>
            </a:solidFill>
            <a:prstDash val="solid"/>
          </a:ln>
        </p:spPr>
      </p:sp>
      <p:sp>
        <p:nvSpPr>
          <p:cNvPr id="6" name="Shape 4"/>
          <p:cNvSpPr/>
          <p:nvPr/>
        </p:nvSpPr>
        <p:spPr>
          <a:xfrm rot="1440000">
            <a:off x="-1097280" y="-822960"/>
            <a:ext cx="4480560" cy="4480560"/>
          </a:xfrm>
          <a:prstGeom prst="arc">
            <a:avLst/>
          </a:prstGeom>
          <a:noFill/>
          <a:ln w="15240">
            <a:solidFill>
              <a:srgbClr val="F15D67"/>
            </a:solidFill>
            <a:prstDash val="solid"/>
          </a:ln>
        </p:spPr>
      </p:sp>
      <p:sp>
        <p:nvSpPr>
          <p:cNvPr id="7" name="Shape 5"/>
          <p:cNvSpPr/>
          <p:nvPr/>
        </p:nvSpPr>
        <p:spPr>
          <a:xfrm rot="12600000">
            <a:off x="2194560" y="4480560"/>
            <a:ext cx="2377440" cy="2377440"/>
          </a:xfrm>
          <a:prstGeom prst="arc">
            <a:avLst/>
          </a:prstGeom>
          <a:noFill/>
          <a:ln w="12700">
            <a:solidFill>
              <a:srgbClr val="F15D67"/>
            </a:solidFill>
            <a:prstDash val="solid"/>
          </a:ln>
        </p:spPr>
      </p:sp>
      <p:sp>
        <p:nvSpPr>
          <p:cNvPr id="8" name="Text 6"/>
          <p:cNvSpPr/>
          <p:nvPr/>
        </p:nvSpPr>
        <p:spPr>
          <a:xfrm>
            <a:off x="685800" y="1078992"/>
            <a:ext cx="4206240" cy="502920"/>
          </a:xfrm>
          <a:prstGeom prst="rect">
            <a:avLst/>
          </a:prstGeom>
          <a:noFill/>
          <a:ln/>
        </p:spPr>
        <p:txBody>
          <a:bodyPr wrap="square" lIns="0" tIns="0" rIns="0" bIns="0"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大模型推理</a:t>
            </a:r>
            <a:endParaRPr lang="en-US" sz="3200" dirty="0"/>
          </a:p>
        </p:txBody>
      </p:sp>
      <p:sp>
        <p:nvSpPr>
          <p:cNvPr id="9" name="Text 7"/>
          <p:cNvSpPr/>
          <p:nvPr/>
        </p:nvSpPr>
        <p:spPr>
          <a:xfrm>
            <a:off x="713232" y="1755648"/>
            <a:ext cx="3474720" cy="320040"/>
          </a:xfrm>
          <a:prstGeom prst="rect">
            <a:avLst/>
          </a:prstGeom>
          <a:noFill/>
          <a:ln/>
        </p:spPr>
        <p:txBody>
          <a:bodyPr wrap="square" lIns="0" tIns="0" rIns="0" bIns="0" rtlCol="0" anchor="ctr"/>
          <a:lstStyle/>
          <a:p>
            <a:pPr indent="0" marL="0">
              <a:buNone/>
            </a:pPr>
            <a:r>
              <a:rPr lang="en-US" sz="2000" b="1" dirty="0">
                <a:solidFill>
                  <a:srgbClr val="FFECEF"/>
                </a:solidFill>
                <a:latin typeface="Microsoft YaHei" pitchFamily="34" charset="0"/>
                <a:ea typeface="Microsoft YaHei" pitchFamily="34" charset="-122"/>
                <a:cs typeface="Microsoft YaHei" pitchFamily="34" charset="-120"/>
              </a:rPr>
              <a:t>基础与性能优化</a:t>
            </a:r>
            <a:endParaRPr lang="en-US" sz="2000" dirty="0"/>
          </a:p>
        </p:txBody>
      </p:sp>
      <p:sp>
        <p:nvSpPr>
          <p:cNvPr id="10" name="Text 8"/>
          <p:cNvSpPr/>
          <p:nvPr/>
        </p:nvSpPr>
        <p:spPr>
          <a:xfrm>
            <a:off x="749808" y="2779776"/>
            <a:ext cx="3246120" cy="594360"/>
          </a:xfrm>
          <a:prstGeom prst="rect">
            <a:avLst/>
          </a:prstGeom>
          <a:noFill/>
          <a:ln/>
        </p:spPr>
        <p:txBody>
          <a:bodyPr wrap="square" lIns="0" tIns="0" rIns="0" bIns="0" rtlCol="0" anchor="ctr">
            <a:normAutofit/>
          </a:bodyPr>
          <a:lstStyle/>
          <a:p>
            <a:pPr indent="0" marL="0">
              <a:buNone/>
            </a:pPr>
            <a:r>
              <a:rPr lang="en-US" sz="1140" dirty="0">
                <a:solidFill>
                  <a:srgbClr val="FFECEF"/>
                </a:solidFill>
                <a:latin typeface="Microsoft YaHei" pitchFamily="34" charset="0"/>
                <a:ea typeface="Microsoft YaHei" pitchFamily="34" charset="-122"/>
                <a:cs typeface="Microsoft YaHei" pitchFamily="34" charset="-120"/>
              </a:rPr>
              <a:t>30 分钟部门知识分享</a:t>
            </a:r>
            <a:endParaRPr lang="en-US" sz="1140" dirty="0"/>
          </a:p>
          <a:p>
            <a:pPr indent="0" marL="0">
              <a:buNone/>
            </a:pPr>
            <a:r>
              <a:rPr lang="en-US" sz="1140" dirty="0">
                <a:solidFill>
                  <a:srgbClr val="FFECEF"/>
                </a:solidFill>
                <a:latin typeface="Microsoft YaHei" pitchFamily="34" charset="0"/>
                <a:ea typeface="Microsoft YaHei" pitchFamily="34" charset="-122"/>
                <a:cs typeface="Microsoft YaHei" pitchFamily="34" charset="-120"/>
              </a:rPr>
              <a:t>从一次请求出发，理解推理链路、瓶颈和常见优化方向</a:t>
            </a:r>
            <a:endParaRPr lang="en-US" sz="1140" dirty="0"/>
          </a:p>
        </p:txBody>
      </p:sp>
      <p:sp>
        <p:nvSpPr>
          <p:cNvPr id="11" name="Text 9"/>
          <p:cNvSpPr/>
          <p:nvPr/>
        </p:nvSpPr>
        <p:spPr>
          <a:xfrm>
            <a:off x="777240" y="4800600"/>
            <a:ext cx="822960" cy="146304"/>
          </a:xfrm>
          <a:prstGeom prst="rect">
            <a:avLst/>
          </a:prstGeom>
          <a:noFill/>
          <a:ln/>
        </p:spPr>
        <p:txBody>
          <a:bodyPr wrap="square" lIns="0" tIns="0" rIns="0" bIns="0" rtlCol="0" anchor="ctr"/>
          <a:lstStyle/>
          <a:p>
            <a:pPr indent="0" marL="0">
              <a:buNone/>
            </a:pPr>
            <a:r>
              <a:rPr lang="en-US" sz="800" b="1" dirty="0">
                <a:solidFill>
                  <a:srgbClr val="FFD0D5"/>
                </a:solidFill>
                <a:latin typeface="Microsoft YaHei" pitchFamily="34" charset="0"/>
                <a:ea typeface="Microsoft YaHei" pitchFamily="34" charset="-122"/>
                <a:cs typeface="Microsoft YaHei" pitchFamily="34" charset="-120"/>
              </a:rPr>
              <a:t>贯穿案例</a:t>
            </a:r>
            <a:endParaRPr lang="en-US" sz="800" dirty="0"/>
          </a:p>
        </p:txBody>
      </p:sp>
      <p:sp>
        <p:nvSpPr>
          <p:cNvPr id="12" name="Text 10"/>
          <p:cNvSpPr/>
          <p:nvPr/>
        </p:nvSpPr>
        <p:spPr>
          <a:xfrm>
            <a:off x="777240" y="5102352"/>
            <a:ext cx="2926080" cy="164592"/>
          </a:xfrm>
          <a:prstGeom prst="rect">
            <a:avLst/>
          </a:prstGeom>
          <a:noFill/>
          <a:ln/>
        </p:spPr>
        <p:txBody>
          <a:bodyPr wrap="square" lIns="0" tIns="0" rIns="0" bIns="0" rtlCol="0" anchor="ct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2000 token 输入 + 300 token 输出</a:t>
            </a:r>
            <a:endParaRPr lang="en-US" sz="1100" dirty="0"/>
          </a:p>
        </p:txBody>
      </p:sp>
      <p:sp>
        <p:nvSpPr>
          <p:cNvPr id="13" name="Shape 11"/>
          <p:cNvSpPr/>
          <p:nvPr/>
        </p:nvSpPr>
        <p:spPr>
          <a:xfrm>
            <a:off x="5650992" y="1115568"/>
            <a:ext cx="1481328" cy="530352"/>
          </a:xfrm>
          <a:prstGeom prst="roundRect">
            <a:avLst>
              <a:gd name="adj" fmla="val 7759"/>
            </a:avLst>
          </a:prstGeom>
          <a:solidFill>
            <a:srgbClr val="FFFFFF"/>
          </a:solidFill>
          <a:ln w="14605">
            <a:solidFill>
              <a:srgbClr val="385A7C"/>
            </a:solidFill>
            <a:prstDash val="solid"/>
          </a:ln>
          <a:effectLst>
            <a:outerShdw sx="100000" sy="100000" kx="0" ky="0" algn="bl" rotWithShape="0" blurRad="12700" dist="50800" dir="2700000">
              <a:srgbClr val="777777">
                <a:alpha val="11000"/>
              </a:srgbClr>
            </a:outerShdw>
          </a:effectLst>
        </p:spPr>
      </p:sp>
      <p:sp>
        <p:nvSpPr>
          <p:cNvPr id="14" name="Text 12"/>
          <p:cNvSpPr/>
          <p:nvPr/>
        </p:nvSpPr>
        <p:spPr>
          <a:xfrm>
            <a:off x="5724144" y="1298448"/>
            <a:ext cx="1335024" cy="109728"/>
          </a:xfrm>
          <a:prstGeom prst="rect">
            <a:avLst/>
          </a:prstGeom>
          <a:noFill/>
          <a:ln/>
        </p:spPr>
        <p:txBody>
          <a:bodyPr wrap="square" lIns="0" tIns="0" rIns="0" bIns="0" rtlCol="0" anchor="ctr"/>
          <a:lstStyle/>
          <a:p>
            <a:pPr algn="ctr" indent="0" marL="0">
              <a:buNone/>
            </a:pPr>
            <a:r>
              <a:rPr lang="en-US" sz="980" b="1" dirty="0">
                <a:solidFill>
                  <a:srgbClr val="385A7C"/>
                </a:solidFill>
                <a:latin typeface="Microsoft YaHei" pitchFamily="34" charset="0"/>
                <a:ea typeface="Microsoft YaHei" pitchFamily="34" charset="-122"/>
                <a:cs typeface="Microsoft YaHei" pitchFamily="34" charset="-120"/>
              </a:rPr>
              <a:t>Prompt</a:t>
            </a:r>
            <a:endParaRPr lang="en-US" sz="980" dirty="0"/>
          </a:p>
        </p:txBody>
      </p:sp>
      <p:sp>
        <p:nvSpPr>
          <p:cNvPr id="15" name="Shape 13"/>
          <p:cNvSpPr/>
          <p:nvPr/>
        </p:nvSpPr>
        <p:spPr>
          <a:xfrm>
            <a:off x="7790688" y="1115568"/>
            <a:ext cx="1481328" cy="530352"/>
          </a:xfrm>
          <a:prstGeom prst="roundRect">
            <a:avLst>
              <a:gd name="adj" fmla="val 7759"/>
            </a:avLst>
          </a:prstGeom>
          <a:solidFill>
            <a:srgbClr val="FFFFFF"/>
          </a:solidFill>
          <a:ln w="14605">
            <a:solidFill>
              <a:srgbClr val="385A7C"/>
            </a:solidFill>
            <a:prstDash val="solid"/>
          </a:ln>
          <a:effectLst>
            <a:outerShdw sx="100000" sy="100000" kx="0" ky="0" algn="bl" rotWithShape="0" blurRad="12700" dist="50800" dir="2700000">
              <a:srgbClr val="777777">
                <a:alpha val="11000"/>
              </a:srgbClr>
            </a:outerShdw>
          </a:effectLst>
        </p:spPr>
      </p:sp>
      <p:sp>
        <p:nvSpPr>
          <p:cNvPr id="16" name="Text 14"/>
          <p:cNvSpPr/>
          <p:nvPr/>
        </p:nvSpPr>
        <p:spPr>
          <a:xfrm>
            <a:off x="7863840" y="1298448"/>
            <a:ext cx="1335024" cy="109728"/>
          </a:xfrm>
          <a:prstGeom prst="rect">
            <a:avLst/>
          </a:prstGeom>
          <a:noFill/>
          <a:ln/>
        </p:spPr>
        <p:txBody>
          <a:bodyPr wrap="square" lIns="0" tIns="0" rIns="0" bIns="0" rtlCol="0" anchor="ctr"/>
          <a:lstStyle/>
          <a:p>
            <a:pPr algn="ctr" indent="0" marL="0">
              <a:buNone/>
            </a:pPr>
            <a:r>
              <a:rPr lang="en-US" sz="980" b="1" dirty="0">
                <a:solidFill>
                  <a:srgbClr val="385A7C"/>
                </a:solidFill>
                <a:latin typeface="Microsoft YaHei" pitchFamily="34" charset="0"/>
                <a:ea typeface="Microsoft YaHei" pitchFamily="34" charset="-122"/>
                <a:cs typeface="Microsoft YaHei" pitchFamily="34" charset="-120"/>
              </a:rPr>
              <a:t>Tokenize</a:t>
            </a:r>
            <a:endParaRPr lang="en-US" sz="980" dirty="0"/>
          </a:p>
        </p:txBody>
      </p:sp>
      <p:sp>
        <p:nvSpPr>
          <p:cNvPr id="17" name="Shape 15"/>
          <p:cNvSpPr/>
          <p:nvPr/>
        </p:nvSpPr>
        <p:spPr>
          <a:xfrm>
            <a:off x="6510528" y="2670048"/>
            <a:ext cx="1481328" cy="530352"/>
          </a:xfrm>
          <a:prstGeom prst="roundRect">
            <a:avLst>
              <a:gd name="adj" fmla="val 7759"/>
            </a:avLst>
          </a:prstGeom>
          <a:solidFill>
            <a:srgbClr val="E8F6F6"/>
          </a:solidFill>
          <a:ln w="14605">
            <a:solidFill>
              <a:srgbClr val="0F8B8D"/>
            </a:solidFill>
            <a:prstDash val="solid"/>
          </a:ln>
          <a:effectLst>
            <a:outerShdw sx="100000" sy="100000" kx="0" ky="0" algn="bl" rotWithShape="0" blurRad="12700" dist="50800" dir="2700000">
              <a:srgbClr val="777777">
                <a:alpha val="11000"/>
              </a:srgbClr>
            </a:outerShdw>
          </a:effectLst>
        </p:spPr>
      </p:sp>
      <p:sp>
        <p:nvSpPr>
          <p:cNvPr id="18" name="Text 16"/>
          <p:cNvSpPr/>
          <p:nvPr/>
        </p:nvSpPr>
        <p:spPr>
          <a:xfrm>
            <a:off x="6583680" y="2852928"/>
            <a:ext cx="1335024" cy="109728"/>
          </a:xfrm>
          <a:prstGeom prst="rect">
            <a:avLst/>
          </a:prstGeom>
          <a:noFill/>
          <a:ln/>
        </p:spPr>
        <p:txBody>
          <a:bodyPr wrap="square" lIns="0" tIns="0" rIns="0" bIns="0" rtlCol="0" anchor="ctr"/>
          <a:lstStyle/>
          <a:p>
            <a:pPr algn="ctr" indent="0" marL="0">
              <a:buNone/>
            </a:pPr>
            <a:r>
              <a:rPr lang="en-US" sz="980" b="1" dirty="0">
                <a:solidFill>
                  <a:srgbClr val="0F8B8D"/>
                </a:solidFill>
                <a:latin typeface="Microsoft YaHei" pitchFamily="34" charset="0"/>
                <a:ea typeface="Microsoft YaHei" pitchFamily="34" charset="-122"/>
                <a:cs typeface="Microsoft YaHei" pitchFamily="34" charset="-120"/>
              </a:rPr>
              <a:t>Prefill</a:t>
            </a:r>
            <a:endParaRPr lang="en-US" sz="980" dirty="0"/>
          </a:p>
        </p:txBody>
      </p:sp>
      <p:sp>
        <p:nvSpPr>
          <p:cNvPr id="19" name="Shape 17"/>
          <p:cNvSpPr/>
          <p:nvPr/>
        </p:nvSpPr>
        <p:spPr>
          <a:xfrm>
            <a:off x="7991856" y="4251960"/>
            <a:ext cx="1481328" cy="530352"/>
          </a:xfrm>
          <a:prstGeom prst="roundRect">
            <a:avLst>
              <a:gd name="adj" fmla="val 7759"/>
            </a:avLst>
          </a:prstGeom>
          <a:solidFill>
            <a:srgbClr val="FFF1F2"/>
          </a:solidFill>
          <a:ln w="14605">
            <a:solidFill>
              <a:srgbClr val="C7000B"/>
            </a:solidFill>
            <a:prstDash val="solid"/>
          </a:ln>
          <a:effectLst>
            <a:outerShdw sx="100000" sy="100000" kx="0" ky="0" algn="bl" rotWithShape="0" blurRad="12700" dist="50800" dir="2700000">
              <a:srgbClr val="777777">
                <a:alpha val="11000"/>
              </a:srgbClr>
            </a:outerShdw>
          </a:effectLst>
        </p:spPr>
      </p:sp>
      <p:sp>
        <p:nvSpPr>
          <p:cNvPr id="20" name="Text 18"/>
          <p:cNvSpPr/>
          <p:nvPr/>
        </p:nvSpPr>
        <p:spPr>
          <a:xfrm>
            <a:off x="8065008" y="4434840"/>
            <a:ext cx="1335024" cy="109728"/>
          </a:xfrm>
          <a:prstGeom prst="rect">
            <a:avLst/>
          </a:prstGeom>
          <a:noFill/>
          <a:ln/>
        </p:spPr>
        <p:txBody>
          <a:bodyPr wrap="square" lIns="0" tIns="0" rIns="0" bIns="0" rtlCol="0" anchor="ctr"/>
          <a:lstStyle/>
          <a:p>
            <a:pPr algn="ctr" indent="0" marL="0">
              <a:buNone/>
            </a:pPr>
            <a:r>
              <a:rPr lang="en-US" sz="980" b="1" dirty="0">
                <a:solidFill>
                  <a:srgbClr val="C7000B"/>
                </a:solidFill>
                <a:latin typeface="Microsoft YaHei" pitchFamily="34" charset="0"/>
                <a:ea typeface="Microsoft YaHei" pitchFamily="34" charset="-122"/>
                <a:cs typeface="Microsoft YaHei" pitchFamily="34" charset="-120"/>
              </a:rPr>
              <a:t>KV Cache</a:t>
            </a:r>
            <a:endParaRPr lang="en-US" sz="980" dirty="0"/>
          </a:p>
        </p:txBody>
      </p:sp>
      <p:sp>
        <p:nvSpPr>
          <p:cNvPr id="21" name="Shape 19"/>
          <p:cNvSpPr/>
          <p:nvPr/>
        </p:nvSpPr>
        <p:spPr>
          <a:xfrm>
            <a:off x="9491472" y="2670048"/>
            <a:ext cx="1481328" cy="530352"/>
          </a:xfrm>
          <a:prstGeom prst="roundRect">
            <a:avLst>
              <a:gd name="adj" fmla="val 7759"/>
            </a:avLst>
          </a:prstGeom>
          <a:solidFill>
            <a:srgbClr val="FFF1F2"/>
          </a:solidFill>
          <a:ln w="14605">
            <a:solidFill>
              <a:srgbClr val="C7000B"/>
            </a:solidFill>
            <a:prstDash val="solid"/>
          </a:ln>
          <a:effectLst>
            <a:outerShdw sx="100000" sy="100000" kx="0" ky="0" algn="bl" rotWithShape="0" blurRad="12700" dist="50800" dir="2700000">
              <a:srgbClr val="777777">
                <a:alpha val="11000"/>
              </a:srgbClr>
            </a:outerShdw>
          </a:effectLst>
        </p:spPr>
      </p:sp>
      <p:sp>
        <p:nvSpPr>
          <p:cNvPr id="22" name="Text 20"/>
          <p:cNvSpPr/>
          <p:nvPr/>
        </p:nvSpPr>
        <p:spPr>
          <a:xfrm>
            <a:off x="9564624" y="2852928"/>
            <a:ext cx="1335024" cy="109728"/>
          </a:xfrm>
          <a:prstGeom prst="rect">
            <a:avLst/>
          </a:prstGeom>
          <a:noFill/>
          <a:ln/>
        </p:spPr>
        <p:txBody>
          <a:bodyPr wrap="square" lIns="0" tIns="0" rIns="0" bIns="0" rtlCol="0" anchor="ctr"/>
          <a:lstStyle/>
          <a:p>
            <a:pPr algn="ctr" indent="0" marL="0">
              <a:buNone/>
            </a:pPr>
            <a:r>
              <a:rPr lang="en-US" sz="980" b="1" dirty="0">
                <a:solidFill>
                  <a:srgbClr val="C7000B"/>
                </a:solidFill>
                <a:latin typeface="Microsoft YaHei" pitchFamily="34" charset="0"/>
                <a:ea typeface="Microsoft YaHei" pitchFamily="34" charset="-122"/>
                <a:cs typeface="Microsoft YaHei" pitchFamily="34" charset="-120"/>
              </a:rPr>
              <a:t>Decode</a:t>
            </a:r>
            <a:endParaRPr lang="en-US" sz="980" dirty="0"/>
          </a:p>
        </p:txBody>
      </p:sp>
      <p:sp>
        <p:nvSpPr>
          <p:cNvPr id="23" name="Shape 21"/>
          <p:cNvSpPr/>
          <p:nvPr/>
        </p:nvSpPr>
        <p:spPr>
          <a:xfrm>
            <a:off x="7150608" y="1380744"/>
            <a:ext cx="576072" cy="0"/>
          </a:xfrm>
          <a:prstGeom prst="line">
            <a:avLst/>
          </a:prstGeom>
          <a:noFill/>
          <a:ln w="12700">
            <a:solidFill>
              <a:srgbClr val="C7000B"/>
            </a:solidFill>
            <a:prstDash val="solid"/>
            <a:headEnd type="none"/>
            <a:tailEnd type="triangle"/>
          </a:ln>
        </p:spPr>
      </p:sp>
      <p:sp>
        <p:nvSpPr>
          <p:cNvPr id="24" name="Shape 22"/>
          <p:cNvSpPr/>
          <p:nvPr/>
        </p:nvSpPr>
        <p:spPr>
          <a:xfrm>
            <a:off x="7388352" y="1755648"/>
            <a:ext cx="-237744" cy="896112"/>
          </a:xfrm>
          <a:prstGeom prst="line">
            <a:avLst/>
          </a:prstGeom>
          <a:noFill/>
          <a:ln w="12700">
            <a:solidFill>
              <a:srgbClr val="C7000B"/>
            </a:solidFill>
            <a:prstDash val="solid"/>
            <a:headEnd type="none"/>
            <a:tailEnd type="triangle"/>
          </a:ln>
        </p:spPr>
      </p:sp>
      <p:sp>
        <p:nvSpPr>
          <p:cNvPr id="25" name="Shape 23"/>
          <p:cNvSpPr/>
          <p:nvPr/>
        </p:nvSpPr>
        <p:spPr>
          <a:xfrm>
            <a:off x="8028432" y="2935224"/>
            <a:ext cx="1353312" cy="0"/>
          </a:xfrm>
          <a:prstGeom prst="line">
            <a:avLst/>
          </a:prstGeom>
          <a:noFill/>
          <a:ln w="12700">
            <a:solidFill>
              <a:srgbClr val="C7000B"/>
            </a:solidFill>
            <a:prstDash val="solid"/>
            <a:headEnd type="none"/>
            <a:tailEnd type="triangle"/>
          </a:ln>
        </p:spPr>
      </p:sp>
      <p:sp>
        <p:nvSpPr>
          <p:cNvPr id="26" name="Shape 24"/>
          <p:cNvSpPr/>
          <p:nvPr/>
        </p:nvSpPr>
        <p:spPr>
          <a:xfrm>
            <a:off x="8741664" y="4279392"/>
            <a:ext cx="932688" cy="-1060704"/>
          </a:xfrm>
          <a:prstGeom prst="line">
            <a:avLst/>
          </a:prstGeom>
          <a:noFill/>
          <a:ln w="19050">
            <a:solidFill>
              <a:srgbClr val="E60012"/>
            </a:solidFill>
            <a:prstDash val="solid"/>
            <a:headEnd type="none"/>
            <a:tailEnd type="triangle"/>
          </a:ln>
        </p:spPr>
      </p:sp>
      <p:sp>
        <p:nvSpPr>
          <p:cNvPr id="27" name="Shape 25"/>
          <p:cNvSpPr/>
          <p:nvPr/>
        </p:nvSpPr>
        <p:spPr>
          <a:xfrm rot="1440000">
            <a:off x="5897880" y="411480"/>
            <a:ext cx="4160520" cy="4160520"/>
          </a:xfrm>
          <a:prstGeom prst="arc">
            <a:avLst/>
          </a:prstGeom>
          <a:noFill/>
          <a:ln w="15240">
            <a:solidFill>
              <a:srgbClr val="F1B8BD"/>
            </a:solidFill>
            <a:prstDash val="solid"/>
          </a:ln>
        </p:spPr>
      </p:sp>
      <p:sp>
        <p:nvSpPr>
          <p:cNvPr id="28" name="Shape 26"/>
          <p:cNvSpPr/>
          <p:nvPr/>
        </p:nvSpPr>
        <p:spPr>
          <a:xfrm rot="12600000">
            <a:off x="8412480" y="3913632"/>
            <a:ext cx="2331720" cy="2331720"/>
          </a:xfrm>
          <a:prstGeom prst="arc">
            <a:avLst/>
          </a:prstGeom>
          <a:noFill/>
          <a:ln w="12700">
            <a:solidFill>
              <a:srgbClr val="F1B8BD"/>
            </a:solidFill>
            <a:prstDash val="solid"/>
          </a:ln>
        </p:spPr>
      </p:sp>
      <p:sp>
        <p:nvSpPr>
          <p:cNvPr id="29" name="Text 27"/>
          <p:cNvSpPr/>
          <p:nvPr/>
        </p:nvSpPr>
        <p:spPr>
          <a:xfrm>
            <a:off x="9829800" y="6327648"/>
            <a:ext cx="1371600" cy="128016"/>
          </a:xfrm>
          <a:prstGeom prst="rect">
            <a:avLst/>
          </a:prstGeom>
          <a:noFill/>
          <a:ln/>
        </p:spPr>
        <p:txBody>
          <a:bodyPr wrap="square" lIns="0" tIns="0" rIns="0" bIns="0" rtlCol="0" anchor="ctr"/>
          <a:lstStyle/>
          <a:p>
            <a:pPr algn="r" indent="0" marL="0">
              <a:buNone/>
            </a:pPr>
            <a:r>
              <a:rPr lang="en-US" sz="700" dirty="0">
                <a:solidFill>
                  <a:srgbClr val="9C9C9C"/>
                </a:solidFill>
                <a:latin typeface="Microsoft YaHei" pitchFamily="34" charset="0"/>
                <a:ea typeface="Microsoft YaHei" pitchFamily="34" charset="-122"/>
                <a:cs typeface="Microsoft YaHei" pitchFamily="34" charset="-120"/>
              </a:rPr>
              <a:t>Huawei red tone</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02</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01 / WHY</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为什么需要理解推理</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大模型应用体验，最后会落到推理系统的速度、吞吐、成本和稳定性上。</a:t>
            </a:r>
            <a:endParaRPr lang="en-US" sz="1080" dirty="0"/>
          </a:p>
        </p:txBody>
      </p:sp>
      <p:sp>
        <p:nvSpPr>
          <p:cNvPr id="11" name="Shape 9"/>
          <p:cNvSpPr/>
          <p:nvPr/>
        </p:nvSpPr>
        <p:spPr>
          <a:xfrm>
            <a:off x="749808" y="1874520"/>
            <a:ext cx="4709160" cy="1033272"/>
          </a:xfrm>
          <a:prstGeom prst="roundRect">
            <a:avLst>
              <a:gd name="adj" fmla="val 3982"/>
            </a:avLst>
          </a:prstGeom>
          <a:solidFill>
            <a:srgbClr val="FFFFFF"/>
          </a:solidFill>
          <a:ln w="13335">
            <a:solidFill>
              <a:srgbClr val="C7000B"/>
            </a:solidFill>
            <a:prstDash val="solid"/>
          </a:ln>
          <a:effectLst>
            <a:outerShdw sx="100000" sy="100000" kx="0" ky="0" algn="bl" rotWithShape="0" blurRad="12700" dist="50800" dir="2700000">
              <a:srgbClr val="777777">
                <a:alpha val="11000"/>
              </a:srgbClr>
            </a:outerShdw>
          </a:effectLst>
        </p:spPr>
      </p:sp>
      <p:sp>
        <p:nvSpPr>
          <p:cNvPr id="12" name="Shape 10"/>
          <p:cNvSpPr/>
          <p:nvPr/>
        </p:nvSpPr>
        <p:spPr>
          <a:xfrm>
            <a:off x="749808" y="1874520"/>
            <a:ext cx="109728" cy="1033272"/>
          </a:xfrm>
          <a:prstGeom prst="rect">
            <a:avLst/>
          </a:prstGeom>
          <a:solidFill>
            <a:srgbClr val="C7000B"/>
          </a:solidFill>
          <a:ln w="12700">
            <a:solidFill>
              <a:srgbClr val="C7000B"/>
            </a:solidFill>
            <a:prstDash val="solid"/>
          </a:ln>
        </p:spPr>
      </p:sp>
      <p:sp>
        <p:nvSpPr>
          <p:cNvPr id="13" name="Text 11"/>
          <p:cNvSpPr/>
          <p:nvPr/>
        </p:nvSpPr>
        <p:spPr>
          <a:xfrm>
            <a:off x="1060704" y="2057400"/>
            <a:ext cx="731520" cy="182880"/>
          </a:xfrm>
          <a:prstGeom prst="rect">
            <a:avLst/>
          </a:prstGeom>
          <a:noFill/>
          <a:ln/>
        </p:spPr>
        <p:txBody>
          <a:bodyPr wrap="square" lIns="0" tIns="0" rIns="0" bIns="0" rtlCol="0" anchor="ctr"/>
          <a:lstStyle/>
          <a:p>
            <a:pPr indent="0" marL="0">
              <a:buNone/>
            </a:pPr>
            <a:r>
              <a:rPr lang="en-US" sz="1350" b="1" dirty="0">
                <a:solidFill>
                  <a:srgbClr val="C7000B"/>
                </a:solidFill>
                <a:latin typeface="Microsoft YaHei" pitchFamily="34" charset="0"/>
                <a:ea typeface="Microsoft YaHei" pitchFamily="34" charset="-122"/>
                <a:cs typeface="Microsoft YaHei" pitchFamily="34" charset="-120"/>
              </a:rPr>
              <a:t>体验</a:t>
            </a:r>
            <a:endParaRPr lang="en-US" sz="1350" dirty="0"/>
          </a:p>
        </p:txBody>
      </p:sp>
      <p:sp>
        <p:nvSpPr>
          <p:cNvPr id="14" name="Text 12"/>
          <p:cNvSpPr/>
          <p:nvPr/>
        </p:nvSpPr>
        <p:spPr>
          <a:xfrm>
            <a:off x="1801368" y="2057400"/>
            <a:ext cx="3401568" cy="438912"/>
          </a:xfrm>
          <a:prstGeom prst="rect">
            <a:avLst/>
          </a:prstGeom>
          <a:noFill/>
          <a:ln/>
        </p:spPr>
        <p:txBody>
          <a:bodyPr wrap="square" lIns="0" tIns="0" rIns="0" bIns="0" rtlCol="0" anchor="ctr">
            <a:normAutofit/>
          </a:bodyPr>
          <a:lstStyle/>
          <a:p>
            <a:pPr indent="0" marL="0">
              <a:buNone/>
            </a:pPr>
            <a:r>
              <a:rPr lang="en-US" sz="980" dirty="0">
                <a:solidFill>
                  <a:srgbClr val="1F1F1F"/>
                </a:solidFill>
                <a:latin typeface="Microsoft YaHei" pitchFamily="34" charset="0"/>
                <a:ea typeface="Microsoft YaHei" pitchFamily="34" charset="-122"/>
                <a:cs typeface="Microsoft YaHei" pitchFamily="34" charset="-120"/>
              </a:rPr>
              <a:t>首 token 慢，用户会觉得系统没有响应；输出 token 慢，流式体验会卡顿。</a:t>
            </a:r>
            <a:endParaRPr lang="en-US" sz="980" dirty="0"/>
          </a:p>
        </p:txBody>
      </p:sp>
      <p:sp>
        <p:nvSpPr>
          <p:cNvPr id="15" name="Shape 13"/>
          <p:cNvSpPr/>
          <p:nvPr/>
        </p:nvSpPr>
        <p:spPr>
          <a:xfrm>
            <a:off x="6099048" y="1874520"/>
            <a:ext cx="4709160" cy="1033272"/>
          </a:xfrm>
          <a:prstGeom prst="roundRect">
            <a:avLst>
              <a:gd name="adj" fmla="val 3982"/>
            </a:avLst>
          </a:prstGeom>
          <a:solidFill>
            <a:srgbClr val="FFFFFF"/>
          </a:solidFill>
          <a:ln w="13335">
            <a:solidFill>
              <a:srgbClr val="B99020"/>
            </a:solidFill>
            <a:prstDash val="solid"/>
          </a:ln>
          <a:effectLst>
            <a:outerShdw sx="100000" sy="100000" kx="0" ky="0" algn="bl" rotWithShape="0" blurRad="12700" dist="50800" dir="2700000">
              <a:srgbClr val="777777">
                <a:alpha val="11000"/>
              </a:srgbClr>
            </a:outerShdw>
          </a:effectLst>
        </p:spPr>
      </p:sp>
      <p:sp>
        <p:nvSpPr>
          <p:cNvPr id="16" name="Shape 14"/>
          <p:cNvSpPr/>
          <p:nvPr/>
        </p:nvSpPr>
        <p:spPr>
          <a:xfrm>
            <a:off x="6099048" y="1874520"/>
            <a:ext cx="109728" cy="1033272"/>
          </a:xfrm>
          <a:prstGeom prst="rect">
            <a:avLst/>
          </a:prstGeom>
          <a:solidFill>
            <a:srgbClr val="B99020"/>
          </a:solidFill>
          <a:ln w="12700">
            <a:solidFill>
              <a:srgbClr val="B99020"/>
            </a:solidFill>
            <a:prstDash val="solid"/>
          </a:ln>
        </p:spPr>
      </p:sp>
      <p:sp>
        <p:nvSpPr>
          <p:cNvPr id="17" name="Text 15"/>
          <p:cNvSpPr/>
          <p:nvPr/>
        </p:nvSpPr>
        <p:spPr>
          <a:xfrm>
            <a:off x="6409944" y="2057400"/>
            <a:ext cx="731520" cy="182880"/>
          </a:xfrm>
          <a:prstGeom prst="rect">
            <a:avLst/>
          </a:prstGeom>
          <a:noFill/>
          <a:ln/>
        </p:spPr>
        <p:txBody>
          <a:bodyPr wrap="square" lIns="0" tIns="0" rIns="0" bIns="0" rtlCol="0" anchor="ctr"/>
          <a:lstStyle/>
          <a:p>
            <a:pPr indent="0" marL="0">
              <a:buNone/>
            </a:pPr>
            <a:r>
              <a:rPr lang="en-US" sz="1350" b="1" dirty="0">
                <a:solidFill>
                  <a:srgbClr val="B99020"/>
                </a:solidFill>
                <a:latin typeface="Microsoft YaHei" pitchFamily="34" charset="0"/>
                <a:ea typeface="Microsoft YaHei" pitchFamily="34" charset="-122"/>
                <a:cs typeface="Microsoft YaHei" pitchFamily="34" charset="-120"/>
              </a:rPr>
              <a:t>成本</a:t>
            </a:r>
            <a:endParaRPr lang="en-US" sz="1350" dirty="0"/>
          </a:p>
        </p:txBody>
      </p:sp>
      <p:sp>
        <p:nvSpPr>
          <p:cNvPr id="18" name="Text 16"/>
          <p:cNvSpPr/>
          <p:nvPr/>
        </p:nvSpPr>
        <p:spPr>
          <a:xfrm>
            <a:off x="7150608" y="2057400"/>
            <a:ext cx="3401568" cy="438912"/>
          </a:xfrm>
          <a:prstGeom prst="rect">
            <a:avLst/>
          </a:prstGeom>
          <a:noFill/>
          <a:ln/>
        </p:spPr>
        <p:txBody>
          <a:bodyPr wrap="square" lIns="0" tIns="0" rIns="0" bIns="0" rtlCol="0" anchor="ctr">
            <a:normAutofit/>
          </a:bodyPr>
          <a:lstStyle/>
          <a:p>
            <a:pPr indent="0" marL="0">
              <a:buNone/>
            </a:pPr>
            <a:r>
              <a:rPr lang="en-US" sz="980" dirty="0">
                <a:solidFill>
                  <a:srgbClr val="1F1F1F"/>
                </a:solidFill>
                <a:latin typeface="Microsoft YaHei" pitchFamily="34" charset="0"/>
                <a:ea typeface="Microsoft YaHei" pitchFamily="34" charset="-122"/>
                <a:cs typeface="Microsoft YaHei" pitchFamily="34" charset="-120"/>
              </a:rPr>
              <a:t>同样的模型，调度、batch、KV Cache 使用不同，单 token 成本会差很多。</a:t>
            </a:r>
            <a:endParaRPr lang="en-US" sz="980" dirty="0"/>
          </a:p>
        </p:txBody>
      </p:sp>
      <p:sp>
        <p:nvSpPr>
          <p:cNvPr id="19" name="Shape 17"/>
          <p:cNvSpPr/>
          <p:nvPr/>
        </p:nvSpPr>
        <p:spPr>
          <a:xfrm>
            <a:off x="749808" y="3227832"/>
            <a:ext cx="4709160" cy="1033272"/>
          </a:xfrm>
          <a:prstGeom prst="roundRect">
            <a:avLst>
              <a:gd name="adj" fmla="val 3982"/>
            </a:avLst>
          </a:prstGeom>
          <a:solidFill>
            <a:srgbClr val="FFFFFF"/>
          </a:solidFill>
          <a:ln w="13335">
            <a:solidFill>
              <a:srgbClr val="0F8B8D"/>
            </a:solidFill>
            <a:prstDash val="solid"/>
          </a:ln>
          <a:effectLst>
            <a:outerShdw sx="100000" sy="100000" kx="0" ky="0" algn="bl" rotWithShape="0" blurRad="12700" dist="50800" dir="2700000">
              <a:srgbClr val="777777">
                <a:alpha val="11000"/>
              </a:srgbClr>
            </a:outerShdw>
          </a:effectLst>
        </p:spPr>
      </p:sp>
      <p:sp>
        <p:nvSpPr>
          <p:cNvPr id="20" name="Shape 18"/>
          <p:cNvSpPr/>
          <p:nvPr/>
        </p:nvSpPr>
        <p:spPr>
          <a:xfrm>
            <a:off x="749808" y="3227832"/>
            <a:ext cx="109728" cy="1033272"/>
          </a:xfrm>
          <a:prstGeom prst="rect">
            <a:avLst/>
          </a:prstGeom>
          <a:solidFill>
            <a:srgbClr val="0F8B8D"/>
          </a:solidFill>
          <a:ln w="12700">
            <a:solidFill>
              <a:srgbClr val="0F8B8D"/>
            </a:solidFill>
            <a:prstDash val="solid"/>
          </a:ln>
        </p:spPr>
      </p:sp>
      <p:sp>
        <p:nvSpPr>
          <p:cNvPr id="21" name="Text 19"/>
          <p:cNvSpPr/>
          <p:nvPr/>
        </p:nvSpPr>
        <p:spPr>
          <a:xfrm>
            <a:off x="1060704" y="3410712"/>
            <a:ext cx="731520" cy="182880"/>
          </a:xfrm>
          <a:prstGeom prst="rect">
            <a:avLst/>
          </a:prstGeom>
          <a:noFill/>
          <a:ln/>
        </p:spPr>
        <p:txBody>
          <a:bodyPr wrap="square" lIns="0" tIns="0" rIns="0" bIns="0" rtlCol="0" anchor="ctr"/>
          <a:lstStyle/>
          <a:p>
            <a:pPr indent="0" marL="0">
              <a:buNone/>
            </a:pPr>
            <a:r>
              <a:rPr lang="en-US" sz="1350" b="1" dirty="0">
                <a:solidFill>
                  <a:srgbClr val="0F8B8D"/>
                </a:solidFill>
                <a:latin typeface="Microsoft YaHei" pitchFamily="34" charset="0"/>
                <a:ea typeface="Microsoft YaHei" pitchFamily="34" charset="-122"/>
                <a:cs typeface="Microsoft YaHei" pitchFamily="34" charset="-120"/>
              </a:rPr>
              <a:t>容量</a:t>
            </a:r>
            <a:endParaRPr lang="en-US" sz="1350" dirty="0"/>
          </a:p>
        </p:txBody>
      </p:sp>
      <p:sp>
        <p:nvSpPr>
          <p:cNvPr id="22" name="Text 20"/>
          <p:cNvSpPr/>
          <p:nvPr/>
        </p:nvSpPr>
        <p:spPr>
          <a:xfrm>
            <a:off x="1801368" y="3410712"/>
            <a:ext cx="3401568" cy="438912"/>
          </a:xfrm>
          <a:prstGeom prst="rect">
            <a:avLst/>
          </a:prstGeom>
          <a:noFill/>
          <a:ln/>
        </p:spPr>
        <p:txBody>
          <a:bodyPr wrap="square" lIns="0" tIns="0" rIns="0" bIns="0" rtlCol="0" anchor="ctr">
            <a:normAutofit/>
          </a:bodyPr>
          <a:lstStyle/>
          <a:p>
            <a:pPr indent="0" marL="0">
              <a:buNone/>
            </a:pPr>
            <a:r>
              <a:rPr lang="en-US" sz="980" dirty="0">
                <a:solidFill>
                  <a:srgbClr val="1F1F1F"/>
                </a:solidFill>
                <a:latin typeface="Microsoft YaHei" pitchFamily="34" charset="0"/>
                <a:ea typeface="Microsoft YaHei" pitchFamily="34" charset="-122"/>
                <a:cs typeface="Microsoft YaHei" pitchFamily="34" charset="-120"/>
              </a:rPr>
              <a:t>并发上来后，GPU 利用率、显存、队列等待会共同决定能服务多少请求。</a:t>
            </a:r>
            <a:endParaRPr lang="en-US" sz="980" dirty="0"/>
          </a:p>
        </p:txBody>
      </p:sp>
      <p:sp>
        <p:nvSpPr>
          <p:cNvPr id="23" name="Shape 21"/>
          <p:cNvSpPr/>
          <p:nvPr/>
        </p:nvSpPr>
        <p:spPr>
          <a:xfrm>
            <a:off x="6099048" y="3227832"/>
            <a:ext cx="4709160" cy="1033272"/>
          </a:xfrm>
          <a:prstGeom prst="roundRect">
            <a:avLst>
              <a:gd name="adj" fmla="val 3982"/>
            </a:avLst>
          </a:prstGeom>
          <a:solidFill>
            <a:srgbClr val="FFFFFF"/>
          </a:solidFill>
          <a:ln w="13335">
            <a:solidFill>
              <a:srgbClr val="385A7C"/>
            </a:solidFill>
            <a:prstDash val="solid"/>
          </a:ln>
          <a:effectLst>
            <a:outerShdw sx="100000" sy="100000" kx="0" ky="0" algn="bl" rotWithShape="0" blurRad="12700" dist="50800" dir="2700000">
              <a:srgbClr val="777777">
                <a:alpha val="11000"/>
              </a:srgbClr>
            </a:outerShdw>
          </a:effectLst>
        </p:spPr>
      </p:sp>
      <p:sp>
        <p:nvSpPr>
          <p:cNvPr id="24" name="Shape 22"/>
          <p:cNvSpPr/>
          <p:nvPr/>
        </p:nvSpPr>
        <p:spPr>
          <a:xfrm>
            <a:off x="6099048" y="3227832"/>
            <a:ext cx="109728" cy="1033272"/>
          </a:xfrm>
          <a:prstGeom prst="rect">
            <a:avLst/>
          </a:prstGeom>
          <a:solidFill>
            <a:srgbClr val="385A7C"/>
          </a:solidFill>
          <a:ln w="12700">
            <a:solidFill>
              <a:srgbClr val="385A7C"/>
            </a:solidFill>
            <a:prstDash val="solid"/>
          </a:ln>
        </p:spPr>
      </p:sp>
      <p:sp>
        <p:nvSpPr>
          <p:cNvPr id="25" name="Text 23"/>
          <p:cNvSpPr/>
          <p:nvPr/>
        </p:nvSpPr>
        <p:spPr>
          <a:xfrm>
            <a:off x="6409944" y="3410712"/>
            <a:ext cx="731520" cy="182880"/>
          </a:xfrm>
          <a:prstGeom prst="rect">
            <a:avLst/>
          </a:prstGeom>
          <a:noFill/>
          <a:ln/>
        </p:spPr>
        <p:txBody>
          <a:bodyPr wrap="square" lIns="0" tIns="0" rIns="0" bIns="0" rtlCol="0" anchor="ctr"/>
          <a:lstStyle/>
          <a:p>
            <a:pPr indent="0" marL="0">
              <a:buNone/>
            </a:pPr>
            <a:r>
              <a:rPr lang="en-US" sz="1350" b="1" dirty="0">
                <a:solidFill>
                  <a:srgbClr val="385A7C"/>
                </a:solidFill>
                <a:latin typeface="Microsoft YaHei" pitchFamily="34" charset="0"/>
                <a:ea typeface="Microsoft YaHei" pitchFamily="34" charset="-122"/>
                <a:cs typeface="Microsoft YaHei" pitchFamily="34" charset="-120"/>
              </a:rPr>
              <a:t>稳定性</a:t>
            </a:r>
            <a:endParaRPr lang="en-US" sz="1350" dirty="0"/>
          </a:p>
        </p:txBody>
      </p:sp>
      <p:sp>
        <p:nvSpPr>
          <p:cNvPr id="26" name="Text 24"/>
          <p:cNvSpPr/>
          <p:nvPr/>
        </p:nvSpPr>
        <p:spPr>
          <a:xfrm>
            <a:off x="7150608" y="3410712"/>
            <a:ext cx="3401568" cy="438912"/>
          </a:xfrm>
          <a:prstGeom prst="rect">
            <a:avLst/>
          </a:prstGeom>
          <a:noFill/>
          <a:ln/>
        </p:spPr>
        <p:txBody>
          <a:bodyPr wrap="square" lIns="0" tIns="0" rIns="0" bIns="0" rtlCol="0" anchor="ctr">
            <a:normAutofit/>
          </a:bodyPr>
          <a:lstStyle/>
          <a:p>
            <a:pPr indent="0" marL="0">
              <a:buNone/>
            </a:pPr>
            <a:r>
              <a:rPr lang="en-US" sz="980" dirty="0">
                <a:solidFill>
                  <a:srgbClr val="1F1F1F"/>
                </a:solidFill>
                <a:latin typeface="Microsoft YaHei" pitchFamily="34" charset="0"/>
                <a:ea typeface="Microsoft YaHei" pitchFamily="34" charset="-122"/>
                <a:cs typeface="Microsoft YaHei" pitchFamily="34" charset="-120"/>
              </a:rPr>
              <a:t>长 prompt、长输出、突发流量和 OOM 是线上推理最常见的风险。</a:t>
            </a:r>
            <a:endParaRPr lang="en-US" sz="980" dirty="0"/>
          </a:p>
        </p:txBody>
      </p:sp>
      <p:sp>
        <p:nvSpPr>
          <p:cNvPr id="27" name="Shape 25"/>
          <p:cNvSpPr/>
          <p:nvPr/>
        </p:nvSpPr>
        <p:spPr>
          <a:xfrm>
            <a:off x="1417320" y="4690872"/>
            <a:ext cx="9098280" cy="658368"/>
          </a:xfrm>
          <a:prstGeom prst="roundRect">
            <a:avLst>
              <a:gd name="adj" fmla="val 6250"/>
            </a:avLst>
          </a:prstGeom>
          <a:solidFill>
            <a:srgbClr val="111111"/>
          </a:solidFill>
          <a:ln w="9525">
            <a:solidFill>
              <a:srgbClr val="111111"/>
            </a:solidFill>
            <a:prstDash val="solid"/>
          </a:ln>
        </p:spPr>
      </p:sp>
      <p:sp>
        <p:nvSpPr>
          <p:cNvPr id="28" name="Text 26"/>
          <p:cNvSpPr/>
          <p:nvPr/>
        </p:nvSpPr>
        <p:spPr>
          <a:xfrm>
            <a:off x="1664208" y="4928616"/>
            <a:ext cx="8595360" cy="146304"/>
          </a:xfrm>
          <a:prstGeom prst="rect">
            <a:avLst/>
          </a:prstGeom>
          <a:noFill/>
          <a:ln/>
        </p:spPr>
        <p:txBody>
          <a:bodyPr wrap="square" lIns="0" tIns="0" rIns="0" bIns="0" rtlCol="0" anchor="ctr"/>
          <a:lstStyle/>
          <a:p>
            <a:pPr algn="ctr" indent="0" marL="0">
              <a:buNone/>
            </a:pPr>
            <a:r>
              <a:rPr lang="en-US" sz="1230" b="1" dirty="0">
                <a:solidFill>
                  <a:srgbClr val="FFFFFF"/>
                </a:solidFill>
                <a:latin typeface="Microsoft YaHei" pitchFamily="34" charset="0"/>
                <a:ea typeface="Microsoft YaHei" pitchFamily="34" charset="-122"/>
                <a:cs typeface="Microsoft YaHei" pitchFamily="34" charset="-120"/>
              </a:rPr>
              <a:t>推理系统 = 用户体验 SLA + GPU 成本 + 线上容量的交汇点</a:t>
            </a:r>
            <a:endParaRPr lang="en-US" sz="1230" dirty="0"/>
          </a:p>
        </p:txBody>
      </p:sp>
      <p:sp>
        <p:nvSpPr>
          <p:cNvPr id="29" name="Shape 27"/>
          <p:cNvSpPr/>
          <p:nvPr/>
        </p:nvSpPr>
        <p:spPr>
          <a:xfrm>
            <a:off x="804672" y="5522976"/>
            <a:ext cx="10469880" cy="493776"/>
          </a:xfrm>
          <a:prstGeom prst="roundRect">
            <a:avLst>
              <a:gd name="adj" fmla="val 9259"/>
            </a:avLst>
          </a:prstGeom>
          <a:solidFill>
            <a:srgbClr val="FFFFFF"/>
          </a:solidFill>
          <a:ln w="9525">
            <a:solidFill>
              <a:srgbClr val="DCDCDC"/>
            </a:solidFill>
            <a:prstDash val="solid"/>
          </a:ln>
        </p:spPr>
      </p:sp>
      <p:sp>
        <p:nvSpPr>
          <p:cNvPr id="30" name="Shape 28"/>
          <p:cNvSpPr/>
          <p:nvPr/>
        </p:nvSpPr>
        <p:spPr>
          <a:xfrm>
            <a:off x="804672" y="5522976"/>
            <a:ext cx="91440" cy="493776"/>
          </a:xfrm>
          <a:prstGeom prst="rect">
            <a:avLst/>
          </a:prstGeom>
          <a:solidFill>
            <a:srgbClr val="C7000B"/>
          </a:solidFill>
          <a:ln w="12700">
            <a:solidFill>
              <a:srgbClr val="C7000B"/>
            </a:solidFill>
            <a:prstDash val="solid"/>
          </a:ln>
        </p:spPr>
      </p:sp>
      <p:sp>
        <p:nvSpPr>
          <p:cNvPr id="31" name="Text 29"/>
          <p:cNvSpPr/>
          <p:nvPr/>
        </p:nvSpPr>
        <p:spPr>
          <a:xfrm>
            <a:off x="1051560" y="5632704"/>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32" name="Text 30"/>
          <p:cNvSpPr/>
          <p:nvPr/>
        </p:nvSpPr>
        <p:spPr>
          <a:xfrm>
            <a:off x="1874520" y="5687568"/>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推理指标能帮助定位慢点、成本来源和优化方向。</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03</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02 / CONCEPT</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推理 vs 训练</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训练关注把参数学出来；推理关注用已有参数持续、低成本地服务请求。</a:t>
            </a:r>
            <a:endParaRPr lang="en-US" sz="1080" dirty="0"/>
          </a:p>
        </p:txBody>
      </p:sp>
      <p:sp>
        <p:nvSpPr>
          <p:cNvPr id="11" name="Shape 9"/>
          <p:cNvSpPr/>
          <p:nvPr/>
        </p:nvSpPr>
        <p:spPr>
          <a:xfrm>
            <a:off x="777240" y="1847088"/>
            <a:ext cx="4892040" cy="3246120"/>
          </a:xfrm>
          <a:prstGeom prst="roundRect">
            <a:avLst>
              <a:gd name="adj" fmla="val 1268"/>
            </a:avLst>
          </a:prstGeom>
          <a:solidFill>
            <a:srgbClr val="FFFFFF"/>
          </a:solidFill>
          <a:ln w="9525">
            <a:solidFill>
              <a:srgbClr val="DCDCDC"/>
            </a:solidFill>
            <a:prstDash val="solid"/>
          </a:ln>
          <a:effectLst>
            <a:outerShdw sx="100000" sy="100000" kx="0" ky="0" algn="bl" rotWithShape="0" blurRad="12700" dist="50800" dir="2700000">
              <a:srgbClr val="777777">
                <a:alpha val="11000"/>
              </a:srgbClr>
            </a:outerShdw>
          </a:effectLst>
        </p:spPr>
      </p:sp>
      <p:sp>
        <p:nvSpPr>
          <p:cNvPr id="12" name="Shape 10"/>
          <p:cNvSpPr/>
          <p:nvPr/>
        </p:nvSpPr>
        <p:spPr>
          <a:xfrm>
            <a:off x="6446520" y="1847088"/>
            <a:ext cx="4892040" cy="3246120"/>
          </a:xfrm>
          <a:prstGeom prst="roundRect">
            <a:avLst>
              <a:gd name="adj" fmla="val 1268"/>
            </a:avLst>
          </a:prstGeom>
          <a:solidFill>
            <a:srgbClr val="FFF1F2"/>
          </a:solidFill>
          <a:ln w="14605">
            <a:solidFill>
              <a:srgbClr val="C7000B"/>
            </a:solidFill>
            <a:prstDash val="solid"/>
          </a:ln>
          <a:effectLst>
            <a:outerShdw sx="100000" sy="100000" kx="0" ky="0" algn="bl" rotWithShape="0" blurRad="12700" dist="50800" dir="2700000">
              <a:srgbClr val="777777">
                <a:alpha val="11000"/>
              </a:srgbClr>
            </a:outerShdw>
          </a:effectLst>
        </p:spPr>
      </p:sp>
      <p:sp>
        <p:nvSpPr>
          <p:cNvPr id="13" name="Text 11"/>
          <p:cNvSpPr/>
          <p:nvPr/>
        </p:nvSpPr>
        <p:spPr>
          <a:xfrm>
            <a:off x="1097280" y="2139696"/>
            <a:ext cx="2011680" cy="237744"/>
          </a:xfrm>
          <a:prstGeom prst="rect">
            <a:avLst/>
          </a:prstGeom>
          <a:noFill/>
          <a:ln/>
        </p:spPr>
        <p:txBody>
          <a:bodyPr wrap="square" lIns="0" tIns="0" rIns="0" bIns="0" rtlCol="0" anchor="ctr"/>
          <a:lstStyle/>
          <a:p>
            <a:pPr indent="0" marL="0">
              <a:buNone/>
            </a:pPr>
            <a:r>
              <a:rPr lang="en-US" sz="1700" b="1" dirty="0">
                <a:solidFill>
                  <a:srgbClr val="666666"/>
                </a:solidFill>
                <a:latin typeface="Microsoft YaHei" pitchFamily="34" charset="0"/>
                <a:ea typeface="Microsoft YaHei" pitchFamily="34" charset="-122"/>
                <a:cs typeface="Microsoft YaHei" pitchFamily="34" charset="-120"/>
              </a:rPr>
              <a:t>训练 Training</a:t>
            </a:r>
            <a:endParaRPr lang="en-US" sz="1700" dirty="0"/>
          </a:p>
        </p:txBody>
      </p:sp>
      <p:sp>
        <p:nvSpPr>
          <p:cNvPr id="14" name="Text 12"/>
          <p:cNvSpPr/>
          <p:nvPr/>
        </p:nvSpPr>
        <p:spPr>
          <a:xfrm>
            <a:off x="6766560" y="2139696"/>
            <a:ext cx="2194560" cy="237744"/>
          </a:xfrm>
          <a:prstGeom prst="rect">
            <a:avLst/>
          </a:prstGeom>
          <a:noFill/>
          <a:ln/>
        </p:spPr>
        <p:txBody>
          <a:bodyPr wrap="square" lIns="0" tIns="0" rIns="0" bIns="0" rtlCol="0" anchor="ctr"/>
          <a:lstStyle/>
          <a:p>
            <a:pPr indent="0" marL="0">
              <a:buNone/>
            </a:pPr>
            <a:r>
              <a:rPr lang="en-US" sz="1700" b="1" dirty="0">
                <a:solidFill>
                  <a:srgbClr val="C7000B"/>
                </a:solidFill>
                <a:latin typeface="Microsoft YaHei" pitchFamily="34" charset="0"/>
                <a:ea typeface="Microsoft YaHei" pitchFamily="34" charset="-122"/>
                <a:cs typeface="Microsoft YaHei" pitchFamily="34" charset="-120"/>
              </a:rPr>
              <a:t>推理 Inference</a:t>
            </a:r>
            <a:endParaRPr lang="en-US" sz="1700" dirty="0"/>
          </a:p>
        </p:txBody>
      </p:sp>
      <p:sp>
        <p:nvSpPr>
          <p:cNvPr id="15" name="Text 13"/>
          <p:cNvSpPr/>
          <p:nvPr/>
        </p:nvSpPr>
        <p:spPr>
          <a:xfrm>
            <a:off x="1097280" y="2743200"/>
            <a:ext cx="713232" cy="146304"/>
          </a:xfrm>
          <a:prstGeom prst="rect">
            <a:avLst/>
          </a:prstGeom>
          <a:noFill/>
          <a:ln/>
        </p:spPr>
        <p:txBody>
          <a:bodyPr wrap="square" lIns="0" tIns="0" rIns="0" bIns="0" rtlCol="0" anchor="ctr"/>
          <a:lstStyle/>
          <a:p>
            <a:pPr indent="0" marL="0">
              <a:buNone/>
            </a:pPr>
            <a:r>
              <a:rPr lang="en-US" sz="780" b="1" dirty="0">
                <a:solidFill>
                  <a:srgbClr val="9C9C9C"/>
                </a:solidFill>
                <a:latin typeface="Microsoft YaHei" pitchFamily="34" charset="0"/>
                <a:ea typeface="Microsoft YaHei" pitchFamily="34" charset="-122"/>
                <a:cs typeface="Microsoft YaHei" pitchFamily="34" charset="-120"/>
              </a:rPr>
              <a:t>目标</a:t>
            </a:r>
            <a:endParaRPr lang="en-US" sz="780" dirty="0"/>
          </a:p>
        </p:txBody>
      </p:sp>
      <p:sp>
        <p:nvSpPr>
          <p:cNvPr id="16" name="Text 14"/>
          <p:cNvSpPr/>
          <p:nvPr/>
        </p:nvSpPr>
        <p:spPr>
          <a:xfrm>
            <a:off x="1810512" y="2724912"/>
            <a:ext cx="2651760" cy="201168"/>
          </a:xfrm>
          <a:prstGeom prst="rect">
            <a:avLst/>
          </a:prstGeom>
          <a:noFill/>
          <a:ln/>
        </p:spPr>
        <p:txBody>
          <a:bodyPr wrap="square" lIns="0" tIns="0" rIns="0" bIns="0" rtlCol="0" anchor="ctr">
            <a:normAutofit/>
          </a:bodyPr>
          <a:lstStyle/>
          <a:p>
            <a:pPr indent="0" marL="0">
              <a:buNone/>
            </a:pPr>
            <a:r>
              <a:rPr lang="en-US" sz="920" dirty="0">
                <a:solidFill>
                  <a:srgbClr val="1F1F1F"/>
                </a:solidFill>
                <a:latin typeface="Microsoft YaHei" pitchFamily="34" charset="0"/>
                <a:ea typeface="Microsoft YaHei" pitchFamily="34" charset="-122"/>
                <a:cs typeface="Microsoft YaHei" pitchFamily="34" charset="-120"/>
              </a:rPr>
              <a:t>学习模型参数</a:t>
            </a:r>
            <a:endParaRPr lang="en-US" sz="920" dirty="0"/>
          </a:p>
        </p:txBody>
      </p:sp>
      <p:sp>
        <p:nvSpPr>
          <p:cNvPr id="17" name="Text 15"/>
          <p:cNvSpPr/>
          <p:nvPr/>
        </p:nvSpPr>
        <p:spPr>
          <a:xfrm>
            <a:off x="1097280" y="3218688"/>
            <a:ext cx="713232" cy="146304"/>
          </a:xfrm>
          <a:prstGeom prst="rect">
            <a:avLst/>
          </a:prstGeom>
          <a:noFill/>
          <a:ln/>
        </p:spPr>
        <p:txBody>
          <a:bodyPr wrap="square" lIns="0" tIns="0" rIns="0" bIns="0" rtlCol="0" anchor="ctr"/>
          <a:lstStyle/>
          <a:p>
            <a:pPr indent="0" marL="0">
              <a:buNone/>
            </a:pPr>
            <a:r>
              <a:rPr lang="en-US" sz="780" b="1" dirty="0">
                <a:solidFill>
                  <a:srgbClr val="9C9C9C"/>
                </a:solidFill>
                <a:latin typeface="Microsoft YaHei" pitchFamily="34" charset="0"/>
                <a:ea typeface="Microsoft YaHei" pitchFamily="34" charset="-122"/>
                <a:cs typeface="Microsoft YaHei" pitchFamily="34" charset="-120"/>
              </a:rPr>
              <a:t>过程</a:t>
            </a:r>
            <a:endParaRPr lang="en-US" sz="780" dirty="0"/>
          </a:p>
        </p:txBody>
      </p:sp>
      <p:sp>
        <p:nvSpPr>
          <p:cNvPr id="18" name="Text 16"/>
          <p:cNvSpPr/>
          <p:nvPr/>
        </p:nvSpPr>
        <p:spPr>
          <a:xfrm>
            <a:off x="1810512" y="3200400"/>
            <a:ext cx="2651760" cy="201168"/>
          </a:xfrm>
          <a:prstGeom prst="rect">
            <a:avLst/>
          </a:prstGeom>
          <a:noFill/>
          <a:ln/>
        </p:spPr>
        <p:txBody>
          <a:bodyPr wrap="square" lIns="0" tIns="0" rIns="0" bIns="0" rtlCol="0" anchor="ctr">
            <a:normAutofit/>
          </a:bodyPr>
          <a:lstStyle/>
          <a:p>
            <a:pPr indent="0" marL="0">
              <a:buNone/>
            </a:pPr>
            <a:r>
              <a:rPr lang="en-US" sz="920" dirty="0">
                <a:solidFill>
                  <a:srgbClr val="1F1F1F"/>
                </a:solidFill>
                <a:latin typeface="Microsoft YaHei" pitchFamily="34" charset="0"/>
                <a:ea typeface="Microsoft YaHei" pitchFamily="34" charset="-122"/>
                <a:cs typeface="Microsoft YaHei" pitchFamily="34" charset="-120"/>
              </a:rPr>
              <a:t>前向 + 反向 + 更新</a:t>
            </a:r>
            <a:endParaRPr lang="en-US" sz="920" dirty="0"/>
          </a:p>
        </p:txBody>
      </p:sp>
      <p:sp>
        <p:nvSpPr>
          <p:cNvPr id="19" name="Text 17"/>
          <p:cNvSpPr/>
          <p:nvPr/>
        </p:nvSpPr>
        <p:spPr>
          <a:xfrm>
            <a:off x="1097280" y="3694176"/>
            <a:ext cx="713232" cy="146304"/>
          </a:xfrm>
          <a:prstGeom prst="rect">
            <a:avLst/>
          </a:prstGeom>
          <a:noFill/>
          <a:ln/>
        </p:spPr>
        <p:txBody>
          <a:bodyPr wrap="square" lIns="0" tIns="0" rIns="0" bIns="0" rtlCol="0" anchor="ctr"/>
          <a:lstStyle/>
          <a:p>
            <a:pPr indent="0" marL="0">
              <a:buNone/>
            </a:pPr>
            <a:r>
              <a:rPr lang="en-US" sz="780" b="1" dirty="0">
                <a:solidFill>
                  <a:srgbClr val="9C9C9C"/>
                </a:solidFill>
                <a:latin typeface="Microsoft YaHei" pitchFamily="34" charset="0"/>
                <a:ea typeface="Microsoft YaHei" pitchFamily="34" charset="-122"/>
                <a:cs typeface="Microsoft YaHei" pitchFamily="34" charset="-120"/>
              </a:rPr>
              <a:t>指标</a:t>
            </a:r>
            <a:endParaRPr lang="en-US" sz="780" dirty="0"/>
          </a:p>
        </p:txBody>
      </p:sp>
      <p:sp>
        <p:nvSpPr>
          <p:cNvPr id="20" name="Text 18"/>
          <p:cNvSpPr/>
          <p:nvPr/>
        </p:nvSpPr>
        <p:spPr>
          <a:xfrm>
            <a:off x="1810512" y="3675888"/>
            <a:ext cx="2651760" cy="201168"/>
          </a:xfrm>
          <a:prstGeom prst="rect">
            <a:avLst/>
          </a:prstGeom>
          <a:noFill/>
          <a:ln/>
        </p:spPr>
        <p:txBody>
          <a:bodyPr wrap="square" lIns="0" tIns="0" rIns="0" bIns="0" rtlCol="0" anchor="ctr">
            <a:normAutofit/>
          </a:bodyPr>
          <a:lstStyle/>
          <a:p>
            <a:pPr indent="0" marL="0">
              <a:buNone/>
            </a:pPr>
            <a:r>
              <a:rPr lang="en-US" sz="920" dirty="0">
                <a:solidFill>
                  <a:srgbClr val="1F1F1F"/>
                </a:solidFill>
                <a:latin typeface="Microsoft YaHei" pitchFamily="34" charset="0"/>
                <a:ea typeface="Microsoft YaHei" pitchFamily="34" charset="-122"/>
                <a:cs typeface="Microsoft YaHei" pitchFamily="34" charset="-120"/>
              </a:rPr>
              <a:t>收敛、精度、训练效率</a:t>
            </a:r>
            <a:endParaRPr lang="en-US" sz="920" dirty="0"/>
          </a:p>
        </p:txBody>
      </p:sp>
      <p:sp>
        <p:nvSpPr>
          <p:cNvPr id="21" name="Text 19"/>
          <p:cNvSpPr/>
          <p:nvPr/>
        </p:nvSpPr>
        <p:spPr>
          <a:xfrm>
            <a:off x="6766560" y="2743200"/>
            <a:ext cx="713232" cy="146304"/>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目标</a:t>
            </a:r>
            <a:endParaRPr lang="en-US" sz="780" dirty="0"/>
          </a:p>
        </p:txBody>
      </p:sp>
      <p:sp>
        <p:nvSpPr>
          <p:cNvPr id="22" name="Text 20"/>
          <p:cNvSpPr/>
          <p:nvPr/>
        </p:nvSpPr>
        <p:spPr>
          <a:xfrm>
            <a:off x="7479792" y="2724912"/>
            <a:ext cx="2651760" cy="201168"/>
          </a:xfrm>
          <a:prstGeom prst="rect">
            <a:avLst/>
          </a:prstGeom>
          <a:noFill/>
          <a:ln/>
        </p:spPr>
        <p:txBody>
          <a:bodyPr wrap="square" lIns="0" tIns="0" rIns="0" bIns="0" rtlCol="0" anchor="ctr">
            <a:normAutofit/>
          </a:bodyPr>
          <a:lstStyle/>
          <a:p>
            <a:pPr indent="0" marL="0">
              <a:buNone/>
            </a:pPr>
            <a:r>
              <a:rPr lang="en-US" sz="920" dirty="0">
                <a:solidFill>
                  <a:srgbClr val="1F1F1F"/>
                </a:solidFill>
                <a:latin typeface="Microsoft YaHei" pitchFamily="34" charset="0"/>
                <a:ea typeface="Microsoft YaHei" pitchFamily="34" charset="-122"/>
                <a:cs typeface="Microsoft YaHei" pitchFamily="34" charset="-120"/>
              </a:rPr>
              <a:t>生成结果并服务用户</a:t>
            </a:r>
            <a:endParaRPr lang="en-US" sz="920" dirty="0"/>
          </a:p>
        </p:txBody>
      </p:sp>
      <p:sp>
        <p:nvSpPr>
          <p:cNvPr id="23" name="Text 21"/>
          <p:cNvSpPr/>
          <p:nvPr/>
        </p:nvSpPr>
        <p:spPr>
          <a:xfrm>
            <a:off x="6766560" y="3218688"/>
            <a:ext cx="713232" cy="146304"/>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过程</a:t>
            </a:r>
            <a:endParaRPr lang="en-US" sz="780" dirty="0"/>
          </a:p>
        </p:txBody>
      </p:sp>
      <p:sp>
        <p:nvSpPr>
          <p:cNvPr id="24" name="Text 22"/>
          <p:cNvSpPr/>
          <p:nvPr/>
        </p:nvSpPr>
        <p:spPr>
          <a:xfrm>
            <a:off x="7479792" y="3200400"/>
            <a:ext cx="2651760" cy="201168"/>
          </a:xfrm>
          <a:prstGeom prst="rect">
            <a:avLst/>
          </a:prstGeom>
          <a:noFill/>
          <a:ln/>
        </p:spPr>
        <p:txBody>
          <a:bodyPr wrap="square" lIns="0" tIns="0" rIns="0" bIns="0" rtlCol="0" anchor="ctr">
            <a:normAutofit/>
          </a:bodyPr>
          <a:lstStyle/>
          <a:p>
            <a:pPr indent="0" marL="0">
              <a:buNone/>
            </a:pPr>
            <a:r>
              <a:rPr lang="en-US" sz="920" dirty="0">
                <a:solidFill>
                  <a:srgbClr val="1F1F1F"/>
                </a:solidFill>
                <a:latin typeface="Microsoft YaHei" pitchFamily="34" charset="0"/>
                <a:ea typeface="Microsoft YaHei" pitchFamily="34" charset="-122"/>
                <a:cs typeface="Microsoft YaHei" pitchFamily="34" charset="-120"/>
              </a:rPr>
              <a:t>Prefill + Decode</a:t>
            </a:r>
            <a:endParaRPr lang="en-US" sz="920" dirty="0"/>
          </a:p>
        </p:txBody>
      </p:sp>
      <p:sp>
        <p:nvSpPr>
          <p:cNvPr id="25" name="Text 23"/>
          <p:cNvSpPr/>
          <p:nvPr/>
        </p:nvSpPr>
        <p:spPr>
          <a:xfrm>
            <a:off x="6766560" y="3694176"/>
            <a:ext cx="713232" cy="146304"/>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指标</a:t>
            </a:r>
            <a:endParaRPr lang="en-US" sz="780" dirty="0"/>
          </a:p>
        </p:txBody>
      </p:sp>
      <p:sp>
        <p:nvSpPr>
          <p:cNvPr id="26" name="Text 24"/>
          <p:cNvSpPr/>
          <p:nvPr/>
        </p:nvSpPr>
        <p:spPr>
          <a:xfrm>
            <a:off x="7479792" y="3675888"/>
            <a:ext cx="2651760" cy="201168"/>
          </a:xfrm>
          <a:prstGeom prst="rect">
            <a:avLst/>
          </a:prstGeom>
          <a:noFill/>
          <a:ln/>
        </p:spPr>
        <p:txBody>
          <a:bodyPr wrap="square" lIns="0" tIns="0" rIns="0" bIns="0" rtlCol="0" anchor="ctr">
            <a:normAutofit/>
          </a:bodyPr>
          <a:lstStyle/>
          <a:p>
            <a:pPr indent="0" marL="0">
              <a:buNone/>
            </a:pPr>
            <a:r>
              <a:rPr lang="en-US" sz="920" dirty="0">
                <a:solidFill>
                  <a:srgbClr val="1F1F1F"/>
                </a:solidFill>
                <a:latin typeface="Microsoft YaHei" pitchFamily="34" charset="0"/>
                <a:ea typeface="Microsoft YaHei" pitchFamily="34" charset="-122"/>
                <a:cs typeface="Microsoft YaHei" pitchFamily="34" charset="-120"/>
              </a:rPr>
              <a:t>TTFT、TPOT、吞吐、成本</a:t>
            </a:r>
            <a:endParaRPr lang="en-US" sz="920" dirty="0"/>
          </a:p>
        </p:txBody>
      </p:sp>
      <p:sp>
        <p:nvSpPr>
          <p:cNvPr id="27" name="Shape 25"/>
          <p:cNvSpPr/>
          <p:nvPr/>
        </p:nvSpPr>
        <p:spPr>
          <a:xfrm>
            <a:off x="5779008" y="3401568"/>
            <a:ext cx="457200" cy="0"/>
          </a:xfrm>
          <a:prstGeom prst="line">
            <a:avLst/>
          </a:prstGeom>
          <a:noFill/>
          <a:ln w="20320">
            <a:solidFill>
              <a:srgbClr val="C7000B"/>
            </a:solidFill>
            <a:prstDash val="solid"/>
            <a:headEnd type="none"/>
            <a:tailEnd type="triangle"/>
          </a:ln>
        </p:spPr>
      </p:sp>
      <p:sp>
        <p:nvSpPr>
          <p:cNvPr id="28" name="Shape 26"/>
          <p:cNvSpPr/>
          <p:nvPr/>
        </p:nvSpPr>
        <p:spPr>
          <a:xfrm>
            <a:off x="2487168" y="4617720"/>
            <a:ext cx="1234440" cy="292608"/>
          </a:xfrm>
          <a:prstGeom prst="roundRect">
            <a:avLst>
              <a:gd name="adj" fmla="val 25000"/>
            </a:avLst>
          </a:prstGeom>
          <a:solidFill>
            <a:srgbClr val="FFFFFF"/>
          </a:solidFill>
          <a:ln w="11430">
            <a:solidFill>
              <a:srgbClr val="666666"/>
            </a:solidFill>
            <a:prstDash val="solid"/>
          </a:ln>
        </p:spPr>
      </p:sp>
      <p:sp>
        <p:nvSpPr>
          <p:cNvPr id="29" name="Text 27"/>
          <p:cNvSpPr/>
          <p:nvPr/>
        </p:nvSpPr>
        <p:spPr>
          <a:xfrm>
            <a:off x="2560320" y="4700016"/>
            <a:ext cx="1088136" cy="91440"/>
          </a:xfrm>
          <a:prstGeom prst="rect">
            <a:avLst/>
          </a:prstGeom>
          <a:noFill/>
          <a:ln/>
        </p:spPr>
        <p:txBody>
          <a:bodyPr wrap="square" lIns="0" tIns="0" rIns="0" bIns="0" rtlCol="0" anchor="ctr">
            <a:normAutofit/>
          </a:bodyPr>
          <a:lstStyle/>
          <a:p>
            <a:pPr algn="ctr" indent="0" marL="0">
              <a:buNone/>
            </a:pPr>
            <a:r>
              <a:rPr lang="en-US" sz="780" b="1" dirty="0">
                <a:solidFill>
                  <a:srgbClr val="666666"/>
                </a:solidFill>
                <a:latin typeface="Microsoft YaHei" pitchFamily="34" charset="0"/>
                <a:ea typeface="Microsoft YaHei" pitchFamily="34" charset="-122"/>
                <a:cs typeface="Microsoft YaHei" pitchFamily="34" charset="-120"/>
              </a:rPr>
              <a:t>训练偏离线</a:t>
            </a:r>
            <a:endParaRPr lang="en-US" sz="780" dirty="0"/>
          </a:p>
        </p:txBody>
      </p:sp>
      <p:sp>
        <p:nvSpPr>
          <p:cNvPr id="30" name="Shape 28"/>
          <p:cNvSpPr/>
          <p:nvPr/>
        </p:nvSpPr>
        <p:spPr>
          <a:xfrm>
            <a:off x="8183880" y="4617720"/>
            <a:ext cx="1234440" cy="292608"/>
          </a:xfrm>
          <a:prstGeom prst="roundRect">
            <a:avLst>
              <a:gd name="adj" fmla="val 25000"/>
            </a:avLst>
          </a:prstGeom>
          <a:solidFill>
            <a:srgbClr val="FFFFFF"/>
          </a:solidFill>
          <a:ln w="11430">
            <a:solidFill>
              <a:srgbClr val="C7000B"/>
            </a:solidFill>
            <a:prstDash val="solid"/>
          </a:ln>
        </p:spPr>
      </p:sp>
      <p:sp>
        <p:nvSpPr>
          <p:cNvPr id="31" name="Text 29"/>
          <p:cNvSpPr/>
          <p:nvPr/>
        </p:nvSpPr>
        <p:spPr>
          <a:xfrm>
            <a:off x="8257032" y="4700016"/>
            <a:ext cx="1088136" cy="91440"/>
          </a:xfrm>
          <a:prstGeom prst="rect">
            <a:avLst/>
          </a:prstGeom>
          <a:noFill/>
          <a:ln/>
        </p:spPr>
        <p:txBody>
          <a:bodyPr wrap="square" lIns="0" tIns="0" rIns="0" bIns="0" rtlCol="0" anchor="ctr">
            <a:normAutofit/>
          </a:bodyPr>
          <a:lstStyle/>
          <a:p>
            <a:pPr algn="ctr" indent="0" marL="0">
              <a:buNone/>
            </a:pPr>
            <a:r>
              <a:rPr lang="en-US" sz="780" b="1" dirty="0">
                <a:solidFill>
                  <a:srgbClr val="C7000B"/>
                </a:solidFill>
                <a:latin typeface="Microsoft YaHei" pitchFamily="34" charset="0"/>
                <a:ea typeface="Microsoft YaHei" pitchFamily="34" charset="-122"/>
                <a:cs typeface="Microsoft YaHei" pitchFamily="34" charset="-120"/>
              </a:rPr>
              <a:t>推理偏线上</a:t>
            </a:r>
            <a:endParaRPr lang="en-US" sz="780" dirty="0"/>
          </a:p>
        </p:txBody>
      </p:sp>
      <p:sp>
        <p:nvSpPr>
          <p:cNvPr id="32" name="Shape 30"/>
          <p:cNvSpPr/>
          <p:nvPr/>
        </p:nvSpPr>
        <p:spPr>
          <a:xfrm>
            <a:off x="804672" y="5522976"/>
            <a:ext cx="10469880" cy="493776"/>
          </a:xfrm>
          <a:prstGeom prst="roundRect">
            <a:avLst>
              <a:gd name="adj" fmla="val 9259"/>
            </a:avLst>
          </a:prstGeom>
          <a:solidFill>
            <a:srgbClr val="FFFFFF"/>
          </a:solidFill>
          <a:ln w="9525">
            <a:solidFill>
              <a:srgbClr val="DCDCDC"/>
            </a:solidFill>
            <a:prstDash val="solid"/>
          </a:ln>
        </p:spPr>
      </p:sp>
      <p:sp>
        <p:nvSpPr>
          <p:cNvPr id="33" name="Shape 31"/>
          <p:cNvSpPr/>
          <p:nvPr/>
        </p:nvSpPr>
        <p:spPr>
          <a:xfrm>
            <a:off x="804672" y="5522976"/>
            <a:ext cx="91440" cy="493776"/>
          </a:xfrm>
          <a:prstGeom prst="rect">
            <a:avLst/>
          </a:prstGeom>
          <a:solidFill>
            <a:srgbClr val="C7000B"/>
          </a:solidFill>
          <a:ln w="12700">
            <a:solidFill>
              <a:srgbClr val="C7000B"/>
            </a:solidFill>
            <a:prstDash val="solid"/>
          </a:ln>
        </p:spPr>
      </p:sp>
      <p:sp>
        <p:nvSpPr>
          <p:cNvPr id="34" name="Text 32"/>
          <p:cNvSpPr/>
          <p:nvPr/>
        </p:nvSpPr>
        <p:spPr>
          <a:xfrm>
            <a:off x="1051560" y="5632704"/>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35" name="Text 33"/>
          <p:cNvSpPr/>
          <p:nvPr/>
        </p:nvSpPr>
        <p:spPr>
          <a:xfrm>
            <a:off x="1874520" y="5687568"/>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推理更贴近线上系统工程：准确性、延迟、吞吐和成本需要一起看。</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04</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03 / GENERATION</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大模型不是一次生成完整答案，而是逐 token 生成</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自回归生成的核心：每一步都基于已有上下文预测下一个 token。</a:t>
            </a:r>
            <a:endParaRPr lang="en-US" sz="1080" dirty="0"/>
          </a:p>
        </p:txBody>
      </p:sp>
      <p:sp>
        <p:nvSpPr>
          <p:cNvPr id="11" name="Shape 9"/>
          <p:cNvSpPr/>
          <p:nvPr/>
        </p:nvSpPr>
        <p:spPr>
          <a:xfrm>
            <a:off x="822960" y="2057400"/>
            <a:ext cx="603504" cy="384048"/>
          </a:xfrm>
          <a:prstGeom prst="roundRect">
            <a:avLst>
              <a:gd name="adj" fmla="val 10714"/>
            </a:avLst>
          </a:prstGeom>
          <a:solidFill>
            <a:srgbClr val="FFFFFF"/>
          </a:solidFill>
          <a:ln w="9525">
            <a:solidFill>
              <a:srgbClr val="C7000B"/>
            </a:solidFill>
            <a:prstDash val="solid"/>
          </a:ln>
        </p:spPr>
      </p:sp>
      <p:sp>
        <p:nvSpPr>
          <p:cNvPr id="12" name="Text 10"/>
          <p:cNvSpPr/>
          <p:nvPr/>
        </p:nvSpPr>
        <p:spPr>
          <a:xfrm>
            <a:off x="822960" y="2185416"/>
            <a:ext cx="603504" cy="82296"/>
          </a:xfrm>
          <a:prstGeom prst="rect">
            <a:avLst/>
          </a:prstGeom>
          <a:noFill/>
          <a:ln/>
        </p:spPr>
        <p:txBody>
          <a:bodyPr wrap="square" lIns="0" tIns="0" rIns="0" bIns="0" rtlCol="0" anchor="ctr"/>
          <a:lstStyle/>
          <a:p>
            <a:pPr algn="ctr" indent="0" marL="0">
              <a:buNone/>
            </a:pPr>
            <a:r>
              <a:rPr lang="en-US" sz="820" b="1" dirty="0">
                <a:solidFill>
                  <a:srgbClr val="C7000B"/>
                </a:solidFill>
                <a:latin typeface="Microsoft YaHei" pitchFamily="34" charset="0"/>
                <a:ea typeface="Microsoft YaHei" pitchFamily="34" charset="-122"/>
                <a:cs typeface="Microsoft YaHei" pitchFamily="34" charset="-120"/>
              </a:rPr>
              <a:t>请</a:t>
            </a:r>
            <a:endParaRPr lang="en-US" sz="820" dirty="0"/>
          </a:p>
        </p:txBody>
      </p:sp>
      <p:sp>
        <p:nvSpPr>
          <p:cNvPr id="13" name="Shape 11"/>
          <p:cNvSpPr/>
          <p:nvPr/>
        </p:nvSpPr>
        <p:spPr>
          <a:xfrm>
            <a:off x="1609344" y="2057400"/>
            <a:ext cx="603504" cy="384048"/>
          </a:xfrm>
          <a:prstGeom prst="roundRect">
            <a:avLst>
              <a:gd name="adj" fmla="val 10714"/>
            </a:avLst>
          </a:prstGeom>
          <a:solidFill>
            <a:srgbClr val="FFFFFF"/>
          </a:solidFill>
          <a:ln w="9525">
            <a:solidFill>
              <a:srgbClr val="C7000B"/>
            </a:solidFill>
            <a:prstDash val="solid"/>
          </a:ln>
        </p:spPr>
      </p:sp>
      <p:sp>
        <p:nvSpPr>
          <p:cNvPr id="14" name="Text 12"/>
          <p:cNvSpPr/>
          <p:nvPr/>
        </p:nvSpPr>
        <p:spPr>
          <a:xfrm>
            <a:off x="1609344" y="2185416"/>
            <a:ext cx="603504" cy="82296"/>
          </a:xfrm>
          <a:prstGeom prst="rect">
            <a:avLst/>
          </a:prstGeom>
          <a:noFill/>
          <a:ln/>
        </p:spPr>
        <p:txBody>
          <a:bodyPr wrap="square" lIns="0" tIns="0" rIns="0" bIns="0" rtlCol="0" anchor="ctr"/>
          <a:lstStyle/>
          <a:p>
            <a:pPr algn="ctr" indent="0" marL="0">
              <a:buNone/>
            </a:pPr>
            <a:r>
              <a:rPr lang="en-US" sz="820" b="1" dirty="0">
                <a:solidFill>
                  <a:srgbClr val="C7000B"/>
                </a:solidFill>
                <a:latin typeface="Microsoft YaHei" pitchFamily="34" charset="0"/>
                <a:ea typeface="Microsoft YaHei" pitchFamily="34" charset="-122"/>
                <a:cs typeface="Microsoft YaHei" pitchFamily="34" charset="-120"/>
              </a:rPr>
              <a:t>解释</a:t>
            </a:r>
            <a:endParaRPr lang="en-US" sz="820" dirty="0"/>
          </a:p>
        </p:txBody>
      </p:sp>
      <p:sp>
        <p:nvSpPr>
          <p:cNvPr id="15" name="Shape 13"/>
          <p:cNvSpPr/>
          <p:nvPr/>
        </p:nvSpPr>
        <p:spPr>
          <a:xfrm>
            <a:off x="2395728" y="2057400"/>
            <a:ext cx="603504" cy="384048"/>
          </a:xfrm>
          <a:prstGeom prst="roundRect">
            <a:avLst>
              <a:gd name="adj" fmla="val 10714"/>
            </a:avLst>
          </a:prstGeom>
          <a:solidFill>
            <a:srgbClr val="FFFFFF"/>
          </a:solidFill>
          <a:ln w="9525">
            <a:solidFill>
              <a:srgbClr val="C7000B"/>
            </a:solidFill>
            <a:prstDash val="solid"/>
          </a:ln>
        </p:spPr>
      </p:sp>
      <p:sp>
        <p:nvSpPr>
          <p:cNvPr id="16" name="Text 14"/>
          <p:cNvSpPr/>
          <p:nvPr/>
        </p:nvSpPr>
        <p:spPr>
          <a:xfrm>
            <a:off x="2395728" y="2185416"/>
            <a:ext cx="603504" cy="82296"/>
          </a:xfrm>
          <a:prstGeom prst="rect">
            <a:avLst/>
          </a:prstGeom>
          <a:noFill/>
          <a:ln/>
        </p:spPr>
        <p:txBody>
          <a:bodyPr wrap="square" lIns="0" tIns="0" rIns="0" bIns="0" rtlCol="0" anchor="ctr"/>
          <a:lstStyle/>
          <a:p>
            <a:pPr algn="ctr" indent="0" marL="0">
              <a:buNone/>
            </a:pPr>
            <a:r>
              <a:rPr lang="en-US" sz="820" b="1" dirty="0">
                <a:solidFill>
                  <a:srgbClr val="C7000B"/>
                </a:solidFill>
                <a:latin typeface="Microsoft YaHei" pitchFamily="34" charset="0"/>
                <a:ea typeface="Microsoft YaHei" pitchFamily="34" charset="-122"/>
                <a:cs typeface="Microsoft YaHei" pitchFamily="34" charset="-120"/>
              </a:rPr>
              <a:t>大模型</a:t>
            </a:r>
            <a:endParaRPr lang="en-US" sz="820" dirty="0"/>
          </a:p>
        </p:txBody>
      </p:sp>
      <p:sp>
        <p:nvSpPr>
          <p:cNvPr id="17" name="Shape 15"/>
          <p:cNvSpPr/>
          <p:nvPr/>
        </p:nvSpPr>
        <p:spPr>
          <a:xfrm>
            <a:off x="3182112" y="2057400"/>
            <a:ext cx="603504" cy="384048"/>
          </a:xfrm>
          <a:prstGeom prst="roundRect">
            <a:avLst>
              <a:gd name="adj" fmla="val 10714"/>
            </a:avLst>
          </a:prstGeom>
          <a:solidFill>
            <a:srgbClr val="FFFFFF"/>
          </a:solidFill>
          <a:ln w="9525">
            <a:solidFill>
              <a:srgbClr val="C7000B"/>
            </a:solidFill>
            <a:prstDash val="solid"/>
          </a:ln>
        </p:spPr>
      </p:sp>
      <p:sp>
        <p:nvSpPr>
          <p:cNvPr id="18" name="Text 16"/>
          <p:cNvSpPr/>
          <p:nvPr/>
        </p:nvSpPr>
        <p:spPr>
          <a:xfrm>
            <a:off x="3182112" y="2185416"/>
            <a:ext cx="603504" cy="82296"/>
          </a:xfrm>
          <a:prstGeom prst="rect">
            <a:avLst/>
          </a:prstGeom>
          <a:noFill/>
          <a:ln/>
        </p:spPr>
        <p:txBody>
          <a:bodyPr wrap="square" lIns="0" tIns="0" rIns="0" bIns="0" rtlCol="0" anchor="ctr"/>
          <a:lstStyle/>
          <a:p>
            <a:pPr algn="ctr" indent="0" marL="0">
              <a:buNone/>
            </a:pPr>
            <a:r>
              <a:rPr lang="en-US" sz="820" b="1" dirty="0">
                <a:solidFill>
                  <a:srgbClr val="C7000B"/>
                </a:solidFill>
                <a:latin typeface="Microsoft YaHei" pitchFamily="34" charset="0"/>
                <a:ea typeface="Microsoft YaHei" pitchFamily="34" charset="-122"/>
                <a:cs typeface="Microsoft YaHei" pitchFamily="34" charset="-120"/>
              </a:rPr>
              <a:t>推理</a:t>
            </a:r>
            <a:endParaRPr lang="en-US" sz="820" dirty="0"/>
          </a:p>
        </p:txBody>
      </p:sp>
      <p:sp>
        <p:nvSpPr>
          <p:cNvPr id="19" name="Shape 17"/>
          <p:cNvSpPr/>
          <p:nvPr/>
        </p:nvSpPr>
        <p:spPr>
          <a:xfrm>
            <a:off x="3968496" y="2057400"/>
            <a:ext cx="603504" cy="384048"/>
          </a:xfrm>
          <a:prstGeom prst="roundRect">
            <a:avLst>
              <a:gd name="adj" fmla="val 10714"/>
            </a:avLst>
          </a:prstGeom>
          <a:solidFill>
            <a:srgbClr val="FFFFFF"/>
          </a:solidFill>
          <a:ln w="9525">
            <a:solidFill>
              <a:srgbClr val="C7000B"/>
            </a:solidFill>
            <a:prstDash val="solid"/>
          </a:ln>
        </p:spPr>
      </p:sp>
      <p:sp>
        <p:nvSpPr>
          <p:cNvPr id="20" name="Text 18"/>
          <p:cNvSpPr/>
          <p:nvPr/>
        </p:nvSpPr>
        <p:spPr>
          <a:xfrm>
            <a:off x="3968496" y="2185416"/>
            <a:ext cx="603504" cy="82296"/>
          </a:xfrm>
          <a:prstGeom prst="rect">
            <a:avLst/>
          </a:prstGeom>
          <a:noFill/>
          <a:ln/>
        </p:spPr>
        <p:txBody>
          <a:bodyPr wrap="square" lIns="0" tIns="0" rIns="0" bIns="0" rtlCol="0" anchor="ctr"/>
          <a:lstStyle/>
          <a:p>
            <a:pPr algn="ctr" indent="0" marL="0">
              <a:buNone/>
            </a:pPr>
            <a:r>
              <a:rPr lang="en-US" sz="820" b="1" dirty="0">
                <a:solidFill>
                  <a:srgbClr val="C7000B"/>
                </a:solidFill>
                <a:latin typeface="Microsoft YaHei" pitchFamily="34" charset="0"/>
                <a:ea typeface="Microsoft YaHei" pitchFamily="34" charset="-122"/>
                <a:cs typeface="Microsoft YaHei" pitchFamily="34" charset="-120"/>
              </a:rPr>
              <a:t>为什么</a:t>
            </a:r>
            <a:endParaRPr lang="en-US" sz="820" dirty="0"/>
          </a:p>
        </p:txBody>
      </p:sp>
      <p:sp>
        <p:nvSpPr>
          <p:cNvPr id="21" name="Shape 19"/>
          <p:cNvSpPr/>
          <p:nvPr/>
        </p:nvSpPr>
        <p:spPr>
          <a:xfrm>
            <a:off x="4754880" y="2057400"/>
            <a:ext cx="603504" cy="384048"/>
          </a:xfrm>
          <a:prstGeom prst="roundRect">
            <a:avLst>
              <a:gd name="adj" fmla="val 10714"/>
            </a:avLst>
          </a:prstGeom>
          <a:solidFill>
            <a:srgbClr val="FFFFFF"/>
          </a:solidFill>
          <a:ln w="9525">
            <a:solidFill>
              <a:srgbClr val="C7000B"/>
            </a:solidFill>
            <a:prstDash val="solid"/>
          </a:ln>
        </p:spPr>
      </p:sp>
      <p:sp>
        <p:nvSpPr>
          <p:cNvPr id="22" name="Text 20"/>
          <p:cNvSpPr/>
          <p:nvPr/>
        </p:nvSpPr>
        <p:spPr>
          <a:xfrm>
            <a:off x="4754880" y="2185416"/>
            <a:ext cx="603504" cy="82296"/>
          </a:xfrm>
          <a:prstGeom prst="rect">
            <a:avLst/>
          </a:prstGeom>
          <a:noFill/>
          <a:ln/>
        </p:spPr>
        <p:txBody>
          <a:bodyPr wrap="square" lIns="0" tIns="0" rIns="0" bIns="0" rtlCol="0" anchor="ctr"/>
          <a:lstStyle/>
          <a:p>
            <a:pPr algn="ctr" indent="0" marL="0">
              <a:buNone/>
            </a:pPr>
            <a:r>
              <a:rPr lang="en-US" sz="820" b="1" dirty="0">
                <a:solidFill>
                  <a:srgbClr val="C7000B"/>
                </a:solidFill>
                <a:latin typeface="Microsoft YaHei" pitchFamily="34" charset="0"/>
                <a:ea typeface="Microsoft YaHei" pitchFamily="34" charset="-122"/>
                <a:cs typeface="Microsoft YaHei" pitchFamily="34" charset="-120"/>
              </a:rPr>
              <a:t>慢</a:t>
            </a:r>
            <a:endParaRPr lang="en-US" sz="820" dirty="0"/>
          </a:p>
        </p:txBody>
      </p:sp>
      <p:sp>
        <p:nvSpPr>
          <p:cNvPr id="23" name="Shape 21"/>
          <p:cNvSpPr/>
          <p:nvPr/>
        </p:nvSpPr>
        <p:spPr>
          <a:xfrm>
            <a:off x="5532120" y="2249424"/>
            <a:ext cx="868680" cy="0"/>
          </a:xfrm>
          <a:prstGeom prst="line">
            <a:avLst/>
          </a:prstGeom>
          <a:noFill/>
          <a:ln w="20320">
            <a:solidFill>
              <a:srgbClr val="C7000B"/>
            </a:solidFill>
            <a:prstDash val="solid"/>
            <a:headEnd type="none"/>
            <a:tailEnd type="triangle"/>
          </a:ln>
        </p:spPr>
      </p:sp>
      <p:sp>
        <p:nvSpPr>
          <p:cNvPr id="24" name="Shape 22"/>
          <p:cNvSpPr/>
          <p:nvPr/>
        </p:nvSpPr>
        <p:spPr>
          <a:xfrm>
            <a:off x="6537960" y="1810512"/>
            <a:ext cx="4069080" cy="868680"/>
          </a:xfrm>
          <a:prstGeom prst="roundRect">
            <a:avLst>
              <a:gd name="adj" fmla="val 4737"/>
            </a:avLst>
          </a:prstGeom>
          <a:solidFill>
            <a:srgbClr val="111111"/>
          </a:solidFill>
          <a:ln w="9525">
            <a:solidFill>
              <a:srgbClr val="111111"/>
            </a:solidFill>
            <a:prstDash val="solid"/>
          </a:ln>
        </p:spPr>
      </p:sp>
      <p:sp>
        <p:nvSpPr>
          <p:cNvPr id="25" name="Text 23"/>
          <p:cNvSpPr/>
          <p:nvPr/>
        </p:nvSpPr>
        <p:spPr>
          <a:xfrm>
            <a:off x="6812280" y="2057400"/>
            <a:ext cx="352044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Microsoft YaHei" pitchFamily="34" charset="0"/>
                <a:ea typeface="Microsoft YaHei" pitchFamily="34" charset="-122"/>
                <a:cs typeface="Microsoft YaHei" pitchFamily="34" charset="-120"/>
              </a:rPr>
              <a:t>根据已有上下文</a:t>
            </a:r>
            <a:endParaRPr lang="en-US" sz="1350" dirty="0"/>
          </a:p>
          <a:p>
            <a:pPr algn="ctr" indent="0" marL="0">
              <a:buNone/>
            </a:pPr>
            <a:r>
              <a:rPr lang="en-US" sz="1350" b="1" dirty="0">
                <a:solidFill>
                  <a:srgbClr val="FFFFFF"/>
                </a:solidFill>
                <a:latin typeface="Microsoft YaHei" pitchFamily="34" charset="0"/>
                <a:ea typeface="Microsoft YaHei" pitchFamily="34" charset="-122"/>
                <a:cs typeface="Microsoft YaHei" pitchFamily="34" charset="-120"/>
              </a:rPr>
              <a:t>预测下一个 token</a:t>
            </a:r>
            <a:endParaRPr lang="en-US" sz="1350" dirty="0"/>
          </a:p>
        </p:txBody>
      </p:sp>
      <p:sp>
        <p:nvSpPr>
          <p:cNvPr id="26" name="Shape 24"/>
          <p:cNvSpPr/>
          <p:nvPr/>
        </p:nvSpPr>
        <p:spPr>
          <a:xfrm>
            <a:off x="2148840" y="3822192"/>
            <a:ext cx="749808" cy="457200"/>
          </a:xfrm>
          <a:prstGeom prst="roundRect">
            <a:avLst>
              <a:gd name="adj" fmla="val 9000"/>
            </a:avLst>
          </a:prstGeom>
          <a:solidFill>
            <a:srgbClr val="FFFFFF"/>
          </a:solidFill>
          <a:ln w="9525">
            <a:solidFill>
              <a:srgbClr val="385A7C"/>
            </a:solidFill>
            <a:prstDash val="solid"/>
          </a:ln>
        </p:spPr>
      </p:sp>
      <p:sp>
        <p:nvSpPr>
          <p:cNvPr id="27" name="Text 25"/>
          <p:cNvSpPr/>
          <p:nvPr/>
        </p:nvSpPr>
        <p:spPr>
          <a:xfrm>
            <a:off x="2148840" y="3968496"/>
            <a:ext cx="749808" cy="91440"/>
          </a:xfrm>
          <a:prstGeom prst="rect">
            <a:avLst/>
          </a:prstGeom>
          <a:noFill/>
          <a:ln/>
        </p:spPr>
        <p:txBody>
          <a:bodyPr wrap="square" lIns="0" tIns="0" rIns="0" bIns="0" rtlCol="0" anchor="ctr"/>
          <a:lstStyle/>
          <a:p>
            <a:pPr algn="ctr" indent="0" marL="0">
              <a:buNone/>
            </a:pPr>
            <a:r>
              <a:rPr lang="en-US" sz="840" b="1" dirty="0">
                <a:solidFill>
                  <a:srgbClr val="385A7C"/>
                </a:solidFill>
                <a:latin typeface="Microsoft YaHei" pitchFamily="34" charset="0"/>
                <a:ea typeface="Microsoft YaHei" pitchFamily="34" charset="-122"/>
                <a:cs typeface="Microsoft YaHei" pitchFamily="34" charset="-120"/>
              </a:rPr>
              <a:t>推理</a:t>
            </a:r>
            <a:endParaRPr lang="en-US" sz="840" dirty="0"/>
          </a:p>
        </p:txBody>
      </p:sp>
      <p:sp>
        <p:nvSpPr>
          <p:cNvPr id="28" name="Shape 26"/>
          <p:cNvSpPr/>
          <p:nvPr/>
        </p:nvSpPr>
        <p:spPr>
          <a:xfrm>
            <a:off x="2898648" y="4050792"/>
            <a:ext cx="146304" cy="0"/>
          </a:xfrm>
          <a:prstGeom prst="line">
            <a:avLst/>
          </a:prstGeom>
          <a:noFill/>
          <a:ln w="11430">
            <a:solidFill>
              <a:srgbClr val="9C9C9C"/>
            </a:solidFill>
            <a:prstDash val="solid"/>
            <a:headEnd type="none"/>
            <a:tailEnd type="triangle"/>
          </a:ln>
        </p:spPr>
      </p:sp>
      <p:sp>
        <p:nvSpPr>
          <p:cNvPr id="29" name="Shape 27"/>
          <p:cNvSpPr/>
          <p:nvPr/>
        </p:nvSpPr>
        <p:spPr>
          <a:xfrm>
            <a:off x="3081528" y="3822192"/>
            <a:ext cx="749808" cy="457200"/>
          </a:xfrm>
          <a:prstGeom prst="roundRect">
            <a:avLst>
              <a:gd name="adj" fmla="val 9000"/>
            </a:avLst>
          </a:prstGeom>
          <a:solidFill>
            <a:srgbClr val="FFFFFF"/>
          </a:solidFill>
          <a:ln w="9525">
            <a:solidFill>
              <a:srgbClr val="385A7C"/>
            </a:solidFill>
            <a:prstDash val="solid"/>
          </a:ln>
        </p:spPr>
      </p:sp>
      <p:sp>
        <p:nvSpPr>
          <p:cNvPr id="30" name="Text 28"/>
          <p:cNvSpPr/>
          <p:nvPr/>
        </p:nvSpPr>
        <p:spPr>
          <a:xfrm>
            <a:off x="3081528" y="3968496"/>
            <a:ext cx="749808" cy="91440"/>
          </a:xfrm>
          <a:prstGeom prst="rect">
            <a:avLst/>
          </a:prstGeom>
          <a:noFill/>
          <a:ln/>
        </p:spPr>
        <p:txBody>
          <a:bodyPr wrap="square" lIns="0" tIns="0" rIns="0" bIns="0" rtlCol="0" anchor="ctr"/>
          <a:lstStyle/>
          <a:p>
            <a:pPr algn="ctr" indent="0" marL="0">
              <a:buNone/>
            </a:pPr>
            <a:r>
              <a:rPr lang="en-US" sz="840" b="1" dirty="0">
                <a:solidFill>
                  <a:srgbClr val="385A7C"/>
                </a:solidFill>
                <a:latin typeface="Microsoft YaHei" pitchFamily="34" charset="0"/>
                <a:ea typeface="Microsoft YaHei" pitchFamily="34" charset="-122"/>
                <a:cs typeface="Microsoft YaHei" pitchFamily="34" charset="-120"/>
              </a:rPr>
              <a:t>通常</a:t>
            </a:r>
            <a:endParaRPr lang="en-US" sz="840" dirty="0"/>
          </a:p>
        </p:txBody>
      </p:sp>
      <p:sp>
        <p:nvSpPr>
          <p:cNvPr id="31" name="Shape 29"/>
          <p:cNvSpPr/>
          <p:nvPr/>
        </p:nvSpPr>
        <p:spPr>
          <a:xfrm>
            <a:off x="3831336" y="4050792"/>
            <a:ext cx="146304" cy="0"/>
          </a:xfrm>
          <a:prstGeom prst="line">
            <a:avLst/>
          </a:prstGeom>
          <a:noFill/>
          <a:ln w="11430">
            <a:solidFill>
              <a:srgbClr val="9C9C9C"/>
            </a:solidFill>
            <a:prstDash val="solid"/>
            <a:headEnd type="none"/>
            <a:tailEnd type="triangle"/>
          </a:ln>
        </p:spPr>
      </p:sp>
      <p:sp>
        <p:nvSpPr>
          <p:cNvPr id="32" name="Shape 30"/>
          <p:cNvSpPr/>
          <p:nvPr/>
        </p:nvSpPr>
        <p:spPr>
          <a:xfrm>
            <a:off x="4014216" y="3822192"/>
            <a:ext cx="749808" cy="457200"/>
          </a:xfrm>
          <a:prstGeom prst="roundRect">
            <a:avLst>
              <a:gd name="adj" fmla="val 9000"/>
            </a:avLst>
          </a:prstGeom>
          <a:solidFill>
            <a:srgbClr val="FFFFFF"/>
          </a:solidFill>
          <a:ln w="9525">
            <a:solidFill>
              <a:srgbClr val="385A7C"/>
            </a:solidFill>
            <a:prstDash val="solid"/>
          </a:ln>
        </p:spPr>
      </p:sp>
      <p:sp>
        <p:nvSpPr>
          <p:cNvPr id="33" name="Text 31"/>
          <p:cNvSpPr/>
          <p:nvPr/>
        </p:nvSpPr>
        <p:spPr>
          <a:xfrm>
            <a:off x="4014216" y="3968496"/>
            <a:ext cx="749808" cy="91440"/>
          </a:xfrm>
          <a:prstGeom prst="rect">
            <a:avLst/>
          </a:prstGeom>
          <a:noFill/>
          <a:ln/>
        </p:spPr>
        <p:txBody>
          <a:bodyPr wrap="square" lIns="0" tIns="0" rIns="0" bIns="0" rtlCol="0" anchor="ctr"/>
          <a:lstStyle/>
          <a:p>
            <a:pPr algn="ctr" indent="0" marL="0">
              <a:buNone/>
            </a:pPr>
            <a:r>
              <a:rPr lang="en-US" sz="840" b="1" dirty="0">
                <a:solidFill>
                  <a:srgbClr val="385A7C"/>
                </a:solidFill>
                <a:latin typeface="Microsoft YaHei" pitchFamily="34" charset="0"/>
                <a:ea typeface="Microsoft YaHei" pitchFamily="34" charset="-122"/>
                <a:cs typeface="Microsoft YaHei" pitchFamily="34" charset="-120"/>
              </a:rPr>
              <a:t>分为</a:t>
            </a:r>
            <a:endParaRPr lang="en-US" sz="840" dirty="0"/>
          </a:p>
        </p:txBody>
      </p:sp>
      <p:sp>
        <p:nvSpPr>
          <p:cNvPr id="34" name="Shape 32"/>
          <p:cNvSpPr/>
          <p:nvPr/>
        </p:nvSpPr>
        <p:spPr>
          <a:xfrm>
            <a:off x="4764024" y="4050792"/>
            <a:ext cx="146304" cy="0"/>
          </a:xfrm>
          <a:prstGeom prst="line">
            <a:avLst/>
          </a:prstGeom>
          <a:noFill/>
          <a:ln w="11430">
            <a:solidFill>
              <a:srgbClr val="9C9C9C"/>
            </a:solidFill>
            <a:prstDash val="solid"/>
            <a:headEnd type="none"/>
            <a:tailEnd type="triangle"/>
          </a:ln>
        </p:spPr>
      </p:sp>
      <p:sp>
        <p:nvSpPr>
          <p:cNvPr id="35" name="Shape 33"/>
          <p:cNvSpPr/>
          <p:nvPr/>
        </p:nvSpPr>
        <p:spPr>
          <a:xfrm>
            <a:off x="4946904" y="3822192"/>
            <a:ext cx="749808" cy="457200"/>
          </a:xfrm>
          <a:prstGeom prst="roundRect">
            <a:avLst>
              <a:gd name="adj" fmla="val 9000"/>
            </a:avLst>
          </a:prstGeom>
          <a:solidFill>
            <a:srgbClr val="FFF1F2"/>
          </a:solidFill>
          <a:ln w="9525">
            <a:solidFill>
              <a:srgbClr val="0F8B8D"/>
            </a:solidFill>
            <a:prstDash val="solid"/>
          </a:ln>
        </p:spPr>
      </p:sp>
      <p:sp>
        <p:nvSpPr>
          <p:cNvPr id="36" name="Text 34"/>
          <p:cNvSpPr/>
          <p:nvPr/>
        </p:nvSpPr>
        <p:spPr>
          <a:xfrm>
            <a:off x="4946904" y="3968496"/>
            <a:ext cx="749808" cy="91440"/>
          </a:xfrm>
          <a:prstGeom prst="rect">
            <a:avLst/>
          </a:prstGeom>
          <a:noFill/>
          <a:ln/>
        </p:spPr>
        <p:txBody>
          <a:bodyPr wrap="square" lIns="0" tIns="0" rIns="0" bIns="0" rtlCol="0" anchor="ctr"/>
          <a:lstStyle/>
          <a:p>
            <a:pPr algn="ctr" indent="0" marL="0">
              <a:buNone/>
            </a:pPr>
            <a:r>
              <a:rPr lang="en-US" sz="840" b="1" dirty="0">
                <a:solidFill>
                  <a:srgbClr val="0F8B8D"/>
                </a:solidFill>
                <a:latin typeface="Microsoft YaHei" pitchFamily="34" charset="0"/>
                <a:ea typeface="Microsoft YaHei" pitchFamily="34" charset="-122"/>
                <a:cs typeface="Microsoft YaHei" pitchFamily="34" charset="-120"/>
              </a:rPr>
              <a:t>Prefill</a:t>
            </a:r>
            <a:endParaRPr lang="en-US" sz="840" dirty="0"/>
          </a:p>
        </p:txBody>
      </p:sp>
      <p:sp>
        <p:nvSpPr>
          <p:cNvPr id="37" name="Shape 35"/>
          <p:cNvSpPr/>
          <p:nvPr/>
        </p:nvSpPr>
        <p:spPr>
          <a:xfrm>
            <a:off x="5696712" y="4050792"/>
            <a:ext cx="146304" cy="0"/>
          </a:xfrm>
          <a:prstGeom prst="line">
            <a:avLst/>
          </a:prstGeom>
          <a:noFill/>
          <a:ln w="11430">
            <a:solidFill>
              <a:srgbClr val="9C9C9C"/>
            </a:solidFill>
            <a:prstDash val="solid"/>
            <a:headEnd type="none"/>
            <a:tailEnd type="triangle"/>
          </a:ln>
        </p:spPr>
      </p:sp>
      <p:sp>
        <p:nvSpPr>
          <p:cNvPr id="38" name="Shape 36"/>
          <p:cNvSpPr/>
          <p:nvPr/>
        </p:nvSpPr>
        <p:spPr>
          <a:xfrm>
            <a:off x="5879592" y="3822192"/>
            <a:ext cx="749808" cy="457200"/>
          </a:xfrm>
          <a:prstGeom prst="roundRect">
            <a:avLst>
              <a:gd name="adj" fmla="val 9000"/>
            </a:avLst>
          </a:prstGeom>
          <a:solidFill>
            <a:srgbClr val="FFFFFF"/>
          </a:solidFill>
          <a:ln w="9525">
            <a:solidFill>
              <a:srgbClr val="385A7C"/>
            </a:solidFill>
            <a:prstDash val="solid"/>
          </a:ln>
        </p:spPr>
      </p:sp>
      <p:sp>
        <p:nvSpPr>
          <p:cNvPr id="39" name="Text 37"/>
          <p:cNvSpPr/>
          <p:nvPr/>
        </p:nvSpPr>
        <p:spPr>
          <a:xfrm>
            <a:off x="5879592" y="3968496"/>
            <a:ext cx="749808" cy="91440"/>
          </a:xfrm>
          <a:prstGeom prst="rect">
            <a:avLst/>
          </a:prstGeom>
          <a:noFill/>
          <a:ln/>
        </p:spPr>
        <p:txBody>
          <a:bodyPr wrap="square" lIns="0" tIns="0" rIns="0" bIns="0" rtlCol="0" anchor="ctr"/>
          <a:lstStyle/>
          <a:p>
            <a:pPr algn="ctr" indent="0" marL="0">
              <a:buNone/>
            </a:pPr>
            <a:r>
              <a:rPr lang="en-US" sz="840" b="1" dirty="0">
                <a:solidFill>
                  <a:srgbClr val="385A7C"/>
                </a:solidFill>
                <a:latin typeface="Microsoft YaHei" pitchFamily="34" charset="0"/>
                <a:ea typeface="Microsoft YaHei" pitchFamily="34" charset="-122"/>
                <a:cs typeface="Microsoft YaHei" pitchFamily="34" charset="-120"/>
              </a:rPr>
              <a:t>和</a:t>
            </a:r>
            <a:endParaRPr lang="en-US" sz="840" dirty="0"/>
          </a:p>
        </p:txBody>
      </p:sp>
      <p:sp>
        <p:nvSpPr>
          <p:cNvPr id="40" name="Shape 38"/>
          <p:cNvSpPr/>
          <p:nvPr/>
        </p:nvSpPr>
        <p:spPr>
          <a:xfrm>
            <a:off x="6629400" y="4050792"/>
            <a:ext cx="146304" cy="0"/>
          </a:xfrm>
          <a:prstGeom prst="line">
            <a:avLst/>
          </a:prstGeom>
          <a:noFill/>
          <a:ln w="11430">
            <a:solidFill>
              <a:srgbClr val="9C9C9C"/>
            </a:solidFill>
            <a:prstDash val="solid"/>
            <a:headEnd type="none"/>
            <a:tailEnd type="triangle"/>
          </a:ln>
        </p:spPr>
      </p:sp>
      <p:sp>
        <p:nvSpPr>
          <p:cNvPr id="41" name="Shape 39"/>
          <p:cNvSpPr/>
          <p:nvPr/>
        </p:nvSpPr>
        <p:spPr>
          <a:xfrm>
            <a:off x="6812280" y="3822192"/>
            <a:ext cx="749808" cy="457200"/>
          </a:xfrm>
          <a:prstGeom prst="roundRect">
            <a:avLst>
              <a:gd name="adj" fmla="val 9000"/>
            </a:avLst>
          </a:prstGeom>
          <a:solidFill>
            <a:srgbClr val="FFF1F2"/>
          </a:solidFill>
          <a:ln w="9525">
            <a:solidFill>
              <a:srgbClr val="C7000B"/>
            </a:solidFill>
            <a:prstDash val="solid"/>
          </a:ln>
        </p:spPr>
      </p:sp>
      <p:sp>
        <p:nvSpPr>
          <p:cNvPr id="42" name="Text 40"/>
          <p:cNvSpPr/>
          <p:nvPr/>
        </p:nvSpPr>
        <p:spPr>
          <a:xfrm>
            <a:off x="6812280" y="3968496"/>
            <a:ext cx="749808" cy="91440"/>
          </a:xfrm>
          <a:prstGeom prst="rect">
            <a:avLst/>
          </a:prstGeom>
          <a:noFill/>
          <a:ln/>
        </p:spPr>
        <p:txBody>
          <a:bodyPr wrap="square" lIns="0" tIns="0" rIns="0" bIns="0" rtlCol="0" anchor="ctr"/>
          <a:lstStyle/>
          <a:p>
            <a:pPr algn="ctr" indent="0" marL="0">
              <a:buNone/>
            </a:pPr>
            <a:r>
              <a:rPr lang="en-US" sz="840" b="1" dirty="0">
                <a:solidFill>
                  <a:srgbClr val="C7000B"/>
                </a:solidFill>
                <a:latin typeface="Microsoft YaHei" pitchFamily="34" charset="0"/>
                <a:ea typeface="Microsoft YaHei" pitchFamily="34" charset="-122"/>
                <a:cs typeface="Microsoft YaHei" pitchFamily="34" charset="-120"/>
              </a:rPr>
              <a:t>Decode</a:t>
            </a:r>
            <a:endParaRPr lang="en-US" sz="840" dirty="0"/>
          </a:p>
        </p:txBody>
      </p:sp>
      <p:sp>
        <p:nvSpPr>
          <p:cNvPr id="43" name="Shape 41"/>
          <p:cNvSpPr/>
          <p:nvPr/>
        </p:nvSpPr>
        <p:spPr>
          <a:xfrm rot="2160000">
            <a:off x="8001000" y="2944368"/>
            <a:ext cx="1554480" cy="1554480"/>
          </a:xfrm>
          <a:prstGeom prst="arc">
            <a:avLst/>
          </a:prstGeom>
          <a:noFill/>
          <a:ln w="15875">
            <a:solidFill>
              <a:srgbClr val="C7000B"/>
            </a:solidFill>
            <a:prstDash val="solid"/>
            <a:headEnd type="none"/>
            <a:tailEnd type="triangle"/>
          </a:ln>
        </p:spPr>
      </p:sp>
      <p:sp>
        <p:nvSpPr>
          <p:cNvPr id="44" name="Text 42"/>
          <p:cNvSpPr/>
          <p:nvPr/>
        </p:nvSpPr>
        <p:spPr>
          <a:xfrm>
            <a:off x="9235440" y="3657600"/>
            <a:ext cx="1097280" cy="146304"/>
          </a:xfrm>
          <a:prstGeom prst="rect">
            <a:avLst/>
          </a:prstGeom>
          <a:noFill/>
          <a:ln/>
        </p:spPr>
        <p:txBody>
          <a:bodyPr wrap="square" lIns="0" tIns="0" rIns="0" bIns="0" rtlCol="0" anchor="ctr"/>
          <a:lstStyle/>
          <a:p>
            <a:pPr indent="0" marL="0">
              <a:buNone/>
            </a:pPr>
            <a:r>
              <a:rPr lang="en-US" sz="860" b="1" dirty="0">
                <a:solidFill>
                  <a:srgbClr val="C7000B"/>
                </a:solidFill>
                <a:latin typeface="Microsoft YaHei" pitchFamily="34" charset="0"/>
                <a:ea typeface="Microsoft YaHei" pitchFamily="34" charset="-122"/>
                <a:cs typeface="Microsoft YaHei" pitchFamily="34" charset="-120"/>
              </a:rPr>
              <a:t>循环 300 次</a:t>
            </a:r>
            <a:endParaRPr lang="en-US" sz="860" dirty="0"/>
          </a:p>
        </p:txBody>
      </p:sp>
      <p:sp>
        <p:nvSpPr>
          <p:cNvPr id="45" name="Shape 43"/>
          <p:cNvSpPr/>
          <p:nvPr/>
        </p:nvSpPr>
        <p:spPr>
          <a:xfrm>
            <a:off x="804672" y="5522976"/>
            <a:ext cx="10469880" cy="493776"/>
          </a:xfrm>
          <a:prstGeom prst="roundRect">
            <a:avLst>
              <a:gd name="adj" fmla="val 9259"/>
            </a:avLst>
          </a:prstGeom>
          <a:solidFill>
            <a:srgbClr val="FFFFFF"/>
          </a:solidFill>
          <a:ln w="9525">
            <a:solidFill>
              <a:srgbClr val="DCDCDC"/>
            </a:solidFill>
            <a:prstDash val="solid"/>
          </a:ln>
        </p:spPr>
      </p:sp>
      <p:sp>
        <p:nvSpPr>
          <p:cNvPr id="46" name="Shape 44"/>
          <p:cNvSpPr/>
          <p:nvPr/>
        </p:nvSpPr>
        <p:spPr>
          <a:xfrm>
            <a:off x="804672" y="5522976"/>
            <a:ext cx="91440" cy="493776"/>
          </a:xfrm>
          <a:prstGeom prst="rect">
            <a:avLst/>
          </a:prstGeom>
          <a:solidFill>
            <a:srgbClr val="C7000B"/>
          </a:solidFill>
          <a:ln w="12700">
            <a:solidFill>
              <a:srgbClr val="C7000B"/>
            </a:solidFill>
            <a:prstDash val="solid"/>
          </a:ln>
        </p:spPr>
      </p:sp>
      <p:sp>
        <p:nvSpPr>
          <p:cNvPr id="47" name="Text 45"/>
          <p:cNvSpPr/>
          <p:nvPr/>
        </p:nvSpPr>
        <p:spPr>
          <a:xfrm>
            <a:off x="1051560" y="5632704"/>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48" name="Text 46"/>
          <p:cNvSpPr/>
          <p:nvPr/>
        </p:nvSpPr>
        <p:spPr>
          <a:xfrm>
            <a:off x="1874520" y="5687568"/>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输入 token 越多，前面处理越重；输出 token 越多，后面循环越久。</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05</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04 / REQUEST PATH</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一次推理请求的完整链路</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从业务请求到流式返回，中间会经过前处理、模型计算、缓存和后处理。</a:t>
            </a:r>
            <a:endParaRPr lang="en-US" sz="1080" dirty="0"/>
          </a:p>
        </p:txBody>
      </p:sp>
      <p:sp>
        <p:nvSpPr>
          <p:cNvPr id="11" name="Shape 9"/>
          <p:cNvSpPr/>
          <p:nvPr/>
        </p:nvSpPr>
        <p:spPr>
          <a:xfrm>
            <a:off x="658368" y="2121408"/>
            <a:ext cx="1408176" cy="1152144"/>
          </a:xfrm>
          <a:prstGeom prst="roundRect">
            <a:avLst>
              <a:gd name="adj" fmla="val 3571"/>
            </a:avLst>
          </a:prstGeom>
          <a:solidFill>
            <a:srgbClr val="FFFFFF"/>
          </a:solidFill>
          <a:ln w="13335">
            <a:solidFill>
              <a:srgbClr val="385A7C"/>
            </a:solidFill>
            <a:prstDash val="solid"/>
          </a:ln>
        </p:spPr>
      </p:sp>
      <p:sp>
        <p:nvSpPr>
          <p:cNvPr id="12" name="Shape 10"/>
          <p:cNvSpPr/>
          <p:nvPr/>
        </p:nvSpPr>
        <p:spPr>
          <a:xfrm>
            <a:off x="658368" y="2121408"/>
            <a:ext cx="73152" cy="1152144"/>
          </a:xfrm>
          <a:prstGeom prst="rect">
            <a:avLst/>
          </a:prstGeom>
          <a:solidFill>
            <a:srgbClr val="385A7C"/>
          </a:solidFill>
          <a:ln w="12700">
            <a:solidFill>
              <a:srgbClr val="385A7C"/>
            </a:solidFill>
            <a:prstDash val="solid"/>
          </a:ln>
        </p:spPr>
      </p:sp>
      <p:sp>
        <p:nvSpPr>
          <p:cNvPr id="13" name="Text 11"/>
          <p:cNvSpPr/>
          <p:nvPr/>
        </p:nvSpPr>
        <p:spPr>
          <a:xfrm>
            <a:off x="859536" y="2249424"/>
            <a:ext cx="1115568"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Prompt 构造</a:t>
            </a:r>
            <a:endParaRPr lang="en-US" sz="1080" dirty="0"/>
          </a:p>
        </p:txBody>
      </p:sp>
      <p:sp>
        <p:nvSpPr>
          <p:cNvPr id="14" name="Text 12"/>
          <p:cNvSpPr/>
          <p:nvPr/>
        </p:nvSpPr>
        <p:spPr>
          <a:xfrm>
            <a:off x="859536" y="2505456"/>
            <a:ext cx="1115568" cy="713232"/>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系统提示词</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用户问题</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RAG 片段</a:t>
            </a:r>
            <a:endParaRPr lang="en-US" sz="830" dirty="0"/>
          </a:p>
        </p:txBody>
      </p:sp>
      <p:sp>
        <p:nvSpPr>
          <p:cNvPr id="15" name="Shape 13"/>
          <p:cNvSpPr/>
          <p:nvPr/>
        </p:nvSpPr>
        <p:spPr>
          <a:xfrm>
            <a:off x="2139696" y="2697480"/>
            <a:ext cx="256032" cy="0"/>
          </a:xfrm>
          <a:prstGeom prst="line">
            <a:avLst/>
          </a:prstGeom>
          <a:noFill/>
          <a:ln w="13335">
            <a:solidFill>
              <a:srgbClr val="C7000B"/>
            </a:solidFill>
            <a:prstDash val="solid"/>
            <a:headEnd type="none"/>
            <a:tailEnd type="triangle"/>
          </a:ln>
        </p:spPr>
      </p:sp>
      <p:sp>
        <p:nvSpPr>
          <p:cNvPr id="16" name="Shape 14"/>
          <p:cNvSpPr/>
          <p:nvPr/>
        </p:nvSpPr>
        <p:spPr>
          <a:xfrm>
            <a:off x="2505456" y="2121408"/>
            <a:ext cx="1408176" cy="1152144"/>
          </a:xfrm>
          <a:prstGeom prst="roundRect">
            <a:avLst>
              <a:gd name="adj" fmla="val 3571"/>
            </a:avLst>
          </a:prstGeom>
          <a:solidFill>
            <a:srgbClr val="FFFFFF"/>
          </a:solidFill>
          <a:ln w="13335">
            <a:solidFill>
              <a:srgbClr val="385A7C"/>
            </a:solidFill>
            <a:prstDash val="solid"/>
          </a:ln>
        </p:spPr>
      </p:sp>
      <p:sp>
        <p:nvSpPr>
          <p:cNvPr id="17" name="Shape 15"/>
          <p:cNvSpPr/>
          <p:nvPr/>
        </p:nvSpPr>
        <p:spPr>
          <a:xfrm>
            <a:off x="2505456" y="2121408"/>
            <a:ext cx="73152" cy="1152144"/>
          </a:xfrm>
          <a:prstGeom prst="rect">
            <a:avLst/>
          </a:prstGeom>
          <a:solidFill>
            <a:srgbClr val="385A7C"/>
          </a:solidFill>
          <a:ln w="12700">
            <a:solidFill>
              <a:srgbClr val="385A7C"/>
            </a:solidFill>
            <a:prstDash val="solid"/>
          </a:ln>
        </p:spPr>
      </p:sp>
      <p:sp>
        <p:nvSpPr>
          <p:cNvPr id="18" name="Text 16"/>
          <p:cNvSpPr/>
          <p:nvPr/>
        </p:nvSpPr>
        <p:spPr>
          <a:xfrm>
            <a:off x="2706624" y="2249424"/>
            <a:ext cx="1115568"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Tokenize</a:t>
            </a:r>
            <a:endParaRPr lang="en-US" sz="1080" dirty="0"/>
          </a:p>
        </p:txBody>
      </p:sp>
      <p:sp>
        <p:nvSpPr>
          <p:cNvPr id="19" name="Text 17"/>
          <p:cNvSpPr/>
          <p:nvPr/>
        </p:nvSpPr>
        <p:spPr>
          <a:xfrm>
            <a:off x="2706624" y="2505456"/>
            <a:ext cx="1115568" cy="713232"/>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文本切成</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模型 token</a:t>
            </a:r>
            <a:endParaRPr lang="en-US" sz="830" dirty="0"/>
          </a:p>
        </p:txBody>
      </p:sp>
      <p:sp>
        <p:nvSpPr>
          <p:cNvPr id="20" name="Shape 18"/>
          <p:cNvSpPr/>
          <p:nvPr/>
        </p:nvSpPr>
        <p:spPr>
          <a:xfrm>
            <a:off x="3986784" y="2697480"/>
            <a:ext cx="256032" cy="0"/>
          </a:xfrm>
          <a:prstGeom prst="line">
            <a:avLst/>
          </a:prstGeom>
          <a:noFill/>
          <a:ln w="13335">
            <a:solidFill>
              <a:srgbClr val="C7000B"/>
            </a:solidFill>
            <a:prstDash val="solid"/>
            <a:headEnd type="none"/>
            <a:tailEnd type="triangle"/>
          </a:ln>
        </p:spPr>
      </p:sp>
      <p:sp>
        <p:nvSpPr>
          <p:cNvPr id="21" name="Shape 19"/>
          <p:cNvSpPr/>
          <p:nvPr/>
        </p:nvSpPr>
        <p:spPr>
          <a:xfrm>
            <a:off x="4352544" y="2121408"/>
            <a:ext cx="1408176" cy="1152144"/>
          </a:xfrm>
          <a:prstGeom prst="roundRect">
            <a:avLst>
              <a:gd name="adj" fmla="val 3571"/>
            </a:avLst>
          </a:prstGeom>
          <a:solidFill>
            <a:srgbClr val="FFF1F2"/>
          </a:solidFill>
          <a:ln w="13335">
            <a:solidFill>
              <a:srgbClr val="0F8B8D"/>
            </a:solidFill>
            <a:prstDash val="solid"/>
          </a:ln>
        </p:spPr>
      </p:sp>
      <p:sp>
        <p:nvSpPr>
          <p:cNvPr id="22" name="Shape 20"/>
          <p:cNvSpPr/>
          <p:nvPr/>
        </p:nvSpPr>
        <p:spPr>
          <a:xfrm>
            <a:off x="4352544" y="2121408"/>
            <a:ext cx="73152" cy="1152144"/>
          </a:xfrm>
          <a:prstGeom prst="rect">
            <a:avLst/>
          </a:prstGeom>
          <a:solidFill>
            <a:srgbClr val="0F8B8D"/>
          </a:solidFill>
          <a:ln w="12700">
            <a:solidFill>
              <a:srgbClr val="0F8B8D"/>
            </a:solidFill>
            <a:prstDash val="solid"/>
          </a:ln>
        </p:spPr>
      </p:sp>
      <p:sp>
        <p:nvSpPr>
          <p:cNvPr id="23" name="Text 21"/>
          <p:cNvSpPr/>
          <p:nvPr/>
        </p:nvSpPr>
        <p:spPr>
          <a:xfrm>
            <a:off x="4553712" y="2249424"/>
            <a:ext cx="1115568"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Prefill</a:t>
            </a:r>
            <a:endParaRPr lang="en-US" sz="1080" dirty="0"/>
          </a:p>
        </p:txBody>
      </p:sp>
      <p:sp>
        <p:nvSpPr>
          <p:cNvPr id="24" name="Text 22"/>
          <p:cNvSpPr/>
          <p:nvPr/>
        </p:nvSpPr>
        <p:spPr>
          <a:xfrm>
            <a:off x="4553712" y="2505456"/>
            <a:ext cx="1115568" cy="713232"/>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并行处理</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输入上下文</a:t>
            </a:r>
            <a:endParaRPr lang="en-US" sz="830" dirty="0"/>
          </a:p>
        </p:txBody>
      </p:sp>
      <p:sp>
        <p:nvSpPr>
          <p:cNvPr id="25" name="Shape 23"/>
          <p:cNvSpPr/>
          <p:nvPr/>
        </p:nvSpPr>
        <p:spPr>
          <a:xfrm>
            <a:off x="5833872" y="2697480"/>
            <a:ext cx="256032" cy="0"/>
          </a:xfrm>
          <a:prstGeom prst="line">
            <a:avLst/>
          </a:prstGeom>
          <a:noFill/>
          <a:ln w="13335">
            <a:solidFill>
              <a:srgbClr val="C7000B"/>
            </a:solidFill>
            <a:prstDash val="solid"/>
            <a:headEnd type="none"/>
            <a:tailEnd type="triangle"/>
          </a:ln>
        </p:spPr>
      </p:sp>
      <p:sp>
        <p:nvSpPr>
          <p:cNvPr id="26" name="Shape 24"/>
          <p:cNvSpPr/>
          <p:nvPr/>
        </p:nvSpPr>
        <p:spPr>
          <a:xfrm>
            <a:off x="6199632" y="2121408"/>
            <a:ext cx="1408176" cy="1152144"/>
          </a:xfrm>
          <a:prstGeom prst="roundRect">
            <a:avLst>
              <a:gd name="adj" fmla="val 3571"/>
            </a:avLst>
          </a:prstGeom>
          <a:solidFill>
            <a:srgbClr val="FFF1F2"/>
          </a:solidFill>
          <a:ln w="13335">
            <a:solidFill>
              <a:srgbClr val="C7000B"/>
            </a:solidFill>
            <a:prstDash val="solid"/>
          </a:ln>
        </p:spPr>
      </p:sp>
      <p:sp>
        <p:nvSpPr>
          <p:cNvPr id="27" name="Shape 25"/>
          <p:cNvSpPr/>
          <p:nvPr/>
        </p:nvSpPr>
        <p:spPr>
          <a:xfrm>
            <a:off x="6199632" y="2121408"/>
            <a:ext cx="73152" cy="1152144"/>
          </a:xfrm>
          <a:prstGeom prst="rect">
            <a:avLst/>
          </a:prstGeom>
          <a:solidFill>
            <a:srgbClr val="C7000B"/>
          </a:solidFill>
          <a:ln w="12700">
            <a:solidFill>
              <a:srgbClr val="C7000B"/>
            </a:solidFill>
            <a:prstDash val="solid"/>
          </a:ln>
        </p:spPr>
      </p:sp>
      <p:sp>
        <p:nvSpPr>
          <p:cNvPr id="28" name="Text 26"/>
          <p:cNvSpPr/>
          <p:nvPr/>
        </p:nvSpPr>
        <p:spPr>
          <a:xfrm>
            <a:off x="6400800" y="2249424"/>
            <a:ext cx="1115568"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Decode</a:t>
            </a:r>
            <a:endParaRPr lang="en-US" sz="1080" dirty="0"/>
          </a:p>
        </p:txBody>
      </p:sp>
      <p:sp>
        <p:nvSpPr>
          <p:cNvPr id="29" name="Text 27"/>
          <p:cNvSpPr/>
          <p:nvPr/>
        </p:nvSpPr>
        <p:spPr>
          <a:xfrm>
            <a:off x="6400800" y="2505456"/>
            <a:ext cx="1115568" cy="713232"/>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逐 token</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循环生成</a:t>
            </a:r>
            <a:endParaRPr lang="en-US" sz="830" dirty="0"/>
          </a:p>
        </p:txBody>
      </p:sp>
      <p:sp>
        <p:nvSpPr>
          <p:cNvPr id="30" name="Shape 28"/>
          <p:cNvSpPr/>
          <p:nvPr/>
        </p:nvSpPr>
        <p:spPr>
          <a:xfrm>
            <a:off x="7680960" y="2697480"/>
            <a:ext cx="256032" cy="0"/>
          </a:xfrm>
          <a:prstGeom prst="line">
            <a:avLst/>
          </a:prstGeom>
          <a:noFill/>
          <a:ln w="13335">
            <a:solidFill>
              <a:srgbClr val="C7000B"/>
            </a:solidFill>
            <a:prstDash val="solid"/>
            <a:headEnd type="none"/>
            <a:tailEnd type="triangle"/>
          </a:ln>
        </p:spPr>
      </p:sp>
      <p:sp>
        <p:nvSpPr>
          <p:cNvPr id="31" name="Shape 29"/>
          <p:cNvSpPr/>
          <p:nvPr/>
        </p:nvSpPr>
        <p:spPr>
          <a:xfrm>
            <a:off x="8046720" y="2121408"/>
            <a:ext cx="1408176" cy="1152144"/>
          </a:xfrm>
          <a:prstGeom prst="roundRect">
            <a:avLst>
              <a:gd name="adj" fmla="val 3571"/>
            </a:avLst>
          </a:prstGeom>
          <a:solidFill>
            <a:srgbClr val="FFFFFF"/>
          </a:solidFill>
          <a:ln w="13335">
            <a:solidFill>
              <a:srgbClr val="385A7C"/>
            </a:solidFill>
            <a:prstDash val="solid"/>
          </a:ln>
        </p:spPr>
      </p:sp>
      <p:sp>
        <p:nvSpPr>
          <p:cNvPr id="32" name="Shape 30"/>
          <p:cNvSpPr/>
          <p:nvPr/>
        </p:nvSpPr>
        <p:spPr>
          <a:xfrm>
            <a:off x="8046720" y="2121408"/>
            <a:ext cx="73152" cy="1152144"/>
          </a:xfrm>
          <a:prstGeom prst="rect">
            <a:avLst/>
          </a:prstGeom>
          <a:solidFill>
            <a:srgbClr val="385A7C"/>
          </a:solidFill>
          <a:ln w="12700">
            <a:solidFill>
              <a:srgbClr val="385A7C"/>
            </a:solidFill>
            <a:prstDash val="solid"/>
          </a:ln>
        </p:spPr>
      </p:sp>
      <p:sp>
        <p:nvSpPr>
          <p:cNvPr id="33" name="Text 31"/>
          <p:cNvSpPr/>
          <p:nvPr/>
        </p:nvSpPr>
        <p:spPr>
          <a:xfrm>
            <a:off x="8247888" y="2249424"/>
            <a:ext cx="1115568"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Detokenize</a:t>
            </a:r>
            <a:endParaRPr lang="en-US" sz="1080" dirty="0"/>
          </a:p>
        </p:txBody>
      </p:sp>
      <p:sp>
        <p:nvSpPr>
          <p:cNvPr id="34" name="Text 32"/>
          <p:cNvSpPr/>
          <p:nvPr/>
        </p:nvSpPr>
        <p:spPr>
          <a:xfrm>
            <a:off x="8247888" y="2505456"/>
            <a:ext cx="1115568" cy="713232"/>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token 转回</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可读文本</a:t>
            </a:r>
            <a:endParaRPr lang="en-US" sz="830" dirty="0"/>
          </a:p>
        </p:txBody>
      </p:sp>
      <p:sp>
        <p:nvSpPr>
          <p:cNvPr id="35" name="Shape 33"/>
          <p:cNvSpPr/>
          <p:nvPr/>
        </p:nvSpPr>
        <p:spPr>
          <a:xfrm>
            <a:off x="9528048" y="2697480"/>
            <a:ext cx="256032" cy="0"/>
          </a:xfrm>
          <a:prstGeom prst="line">
            <a:avLst/>
          </a:prstGeom>
          <a:noFill/>
          <a:ln w="13335">
            <a:solidFill>
              <a:srgbClr val="C7000B"/>
            </a:solidFill>
            <a:prstDash val="solid"/>
            <a:headEnd type="none"/>
            <a:tailEnd type="triangle"/>
          </a:ln>
        </p:spPr>
      </p:sp>
      <p:sp>
        <p:nvSpPr>
          <p:cNvPr id="36" name="Shape 34"/>
          <p:cNvSpPr/>
          <p:nvPr/>
        </p:nvSpPr>
        <p:spPr>
          <a:xfrm>
            <a:off x="9893808" y="2121408"/>
            <a:ext cx="1408176" cy="1152144"/>
          </a:xfrm>
          <a:prstGeom prst="roundRect">
            <a:avLst>
              <a:gd name="adj" fmla="val 3571"/>
            </a:avLst>
          </a:prstGeom>
          <a:solidFill>
            <a:srgbClr val="FFFFFF"/>
          </a:solidFill>
          <a:ln w="13335">
            <a:solidFill>
              <a:srgbClr val="385A7C"/>
            </a:solidFill>
            <a:prstDash val="solid"/>
          </a:ln>
        </p:spPr>
      </p:sp>
      <p:sp>
        <p:nvSpPr>
          <p:cNvPr id="37" name="Shape 35"/>
          <p:cNvSpPr/>
          <p:nvPr/>
        </p:nvSpPr>
        <p:spPr>
          <a:xfrm>
            <a:off x="9893808" y="2121408"/>
            <a:ext cx="73152" cy="1152144"/>
          </a:xfrm>
          <a:prstGeom prst="rect">
            <a:avLst/>
          </a:prstGeom>
          <a:solidFill>
            <a:srgbClr val="385A7C"/>
          </a:solidFill>
          <a:ln w="12700">
            <a:solidFill>
              <a:srgbClr val="385A7C"/>
            </a:solidFill>
            <a:prstDash val="solid"/>
          </a:ln>
        </p:spPr>
      </p:sp>
      <p:sp>
        <p:nvSpPr>
          <p:cNvPr id="38" name="Text 36"/>
          <p:cNvSpPr/>
          <p:nvPr/>
        </p:nvSpPr>
        <p:spPr>
          <a:xfrm>
            <a:off x="10094976" y="2249424"/>
            <a:ext cx="1115568"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流式返回</a:t>
            </a:r>
            <a:endParaRPr lang="en-US" sz="1080" dirty="0"/>
          </a:p>
        </p:txBody>
      </p:sp>
      <p:sp>
        <p:nvSpPr>
          <p:cNvPr id="39" name="Text 37"/>
          <p:cNvSpPr/>
          <p:nvPr/>
        </p:nvSpPr>
        <p:spPr>
          <a:xfrm>
            <a:off x="10094976" y="2505456"/>
            <a:ext cx="1115568" cy="713232"/>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前端逐段</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展示答案</a:t>
            </a:r>
            <a:endParaRPr lang="en-US" sz="830" dirty="0"/>
          </a:p>
        </p:txBody>
      </p:sp>
      <p:sp>
        <p:nvSpPr>
          <p:cNvPr id="40" name="Shape 38"/>
          <p:cNvSpPr/>
          <p:nvPr/>
        </p:nvSpPr>
        <p:spPr>
          <a:xfrm>
            <a:off x="868680" y="4224528"/>
            <a:ext cx="10469880" cy="786384"/>
          </a:xfrm>
          <a:prstGeom prst="roundRect">
            <a:avLst>
              <a:gd name="adj" fmla="val 5233"/>
            </a:avLst>
          </a:prstGeom>
          <a:solidFill>
            <a:srgbClr val="FFFFFF"/>
          </a:solidFill>
          <a:ln w="9525">
            <a:solidFill>
              <a:srgbClr val="DCDCDC"/>
            </a:solidFill>
            <a:prstDash val="solid"/>
          </a:ln>
        </p:spPr>
      </p:sp>
      <p:sp>
        <p:nvSpPr>
          <p:cNvPr id="41" name="Text 39"/>
          <p:cNvSpPr/>
          <p:nvPr/>
        </p:nvSpPr>
        <p:spPr>
          <a:xfrm>
            <a:off x="1115568" y="4480560"/>
            <a:ext cx="1097280" cy="137160"/>
          </a:xfrm>
          <a:prstGeom prst="rect">
            <a:avLst/>
          </a:prstGeom>
          <a:noFill/>
          <a:ln/>
        </p:spPr>
        <p:txBody>
          <a:bodyPr wrap="square" lIns="0" tIns="0" rIns="0" bIns="0" rtlCol="0" anchor="ctr"/>
          <a:lstStyle/>
          <a:p>
            <a:pPr indent="0" marL="0">
              <a:buNone/>
            </a:pPr>
            <a:r>
              <a:rPr lang="en-US" sz="850" b="1" dirty="0">
                <a:solidFill>
                  <a:srgbClr val="C7000B"/>
                </a:solidFill>
                <a:latin typeface="Microsoft YaHei" pitchFamily="34" charset="0"/>
                <a:ea typeface="Microsoft YaHei" pitchFamily="34" charset="-122"/>
                <a:cs typeface="Microsoft YaHei" pitchFamily="34" charset="-120"/>
              </a:rPr>
              <a:t>外围工程能力</a:t>
            </a:r>
            <a:endParaRPr lang="en-US" sz="850" dirty="0"/>
          </a:p>
        </p:txBody>
      </p:sp>
      <p:sp>
        <p:nvSpPr>
          <p:cNvPr id="42" name="Text 40"/>
          <p:cNvSpPr/>
          <p:nvPr/>
        </p:nvSpPr>
        <p:spPr>
          <a:xfrm>
            <a:off x="2331720" y="4471416"/>
            <a:ext cx="8046720" cy="164592"/>
          </a:xfrm>
          <a:prstGeom prst="rect">
            <a:avLst/>
          </a:prstGeom>
          <a:noFill/>
          <a:ln/>
        </p:spPr>
        <p:txBody>
          <a:bodyPr wrap="square" lIns="0" tIns="0" rIns="0" bIns="0" rtlCol="0" anchor="ctr"/>
          <a:lstStyle/>
          <a:p>
            <a:pPr algn="ctr" indent="0" marL="0">
              <a:buNone/>
            </a:pPr>
            <a:r>
              <a:rPr lang="en-US" sz="1130" b="1" dirty="0">
                <a:solidFill>
                  <a:srgbClr val="111111"/>
                </a:solidFill>
                <a:latin typeface="Microsoft YaHei" pitchFamily="34" charset="0"/>
                <a:ea typeface="Microsoft YaHei" pitchFamily="34" charset="-122"/>
                <a:cs typeface="Microsoft YaHei" pitchFamily="34" charset="-120"/>
              </a:rPr>
              <a:t>鉴权 / 限流 / 排队 / 监控 / 日志 / 计费 / 模型路由</a:t>
            </a:r>
            <a:endParaRPr lang="en-US" sz="1130" dirty="0"/>
          </a:p>
        </p:txBody>
      </p:sp>
      <p:sp>
        <p:nvSpPr>
          <p:cNvPr id="43" name="Shape 41"/>
          <p:cNvSpPr/>
          <p:nvPr/>
        </p:nvSpPr>
        <p:spPr>
          <a:xfrm>
            <a:off x="804672" y="5522976"/>
            <a:ext cx="10469880" cy="493776"/>
          </a:xfrm>
          <a:prstGeom prst="roundRect">
            <a:avLst>
              <a:gd name="adj" fmla="val 9259"/>
            </a:avLst>
          </a:prstGeom>
          <a:solidFill>
            <a:srgbClr val="FFFFFF"/>
          </a:solidFill>
          <a:ln w="9525">
            <a:solidFill>
              <a:srgbClr val="DCDCDC"/>
            </a:solidFill>
            <a:prstDash val="solid"/>
          </a:ln>
        </p:spPr>
      </p:sp>
      <p:sp>
        <p:nvSpPr>
          <p:cNvPr id="44" name="Shape 42"/>
          <p:cNvSpPr/>
          <p:nvPr/>
        </p:nvSpPr>
        <p:spPr>
          <a:xfrm>
            <a:off x="804672" y="5522976"/>
            <a:ext cx="91440" cy="493776"/>
          </a:xfrm>
          <a:prstGeom prst="rect">
            <a:avLst/>
          </a:prstGeom>
          <a:solidFill>
            <a:srgbClr val="C7000B"/>
          </a:solidFill>
          <a:ln w="12700">
            <a:solidFill>
              <a:srgbClr val="C7000B"/>
            </a:solidFill>
            <a:prstDash val="solid"/>
          </a:ln>
        </p:spPr>
      </p:sp>
      <p:sp>
        <p:nvSpPr>
          <p:cNvPr id="45" name="Text 43"/>
          <p:cNvSpPr/>
          <p:nvPr/>
        </p:nvSpPr>
        <p:spPr>
          <a:xfrm>
            <a:off x="1051560" y="5632704"/>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46" name="Text 44"/>
          <p:cNvSpPr/>
          <p:nvPr/>
        </p:nvSpPr>
        <p:spPr>
          <a:xfrm>
            <a:off x="1874520" y="5687568"/>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线上推理链路同时包含模型计算、请求治理和服务化能力。</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06</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05 / PREFILL &amp; DECODE</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Prefill 与 Decode 是两个完全不同的阶段</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一个更像并行扫输入，一个更像串行写输出；后面的优化基本都围绕这两个阶段展开。</a:t>
            </a:r>
            <a:endParaRPr lang="en-US" sz="1080" dirty="0"/>
          </a:p>
        </p:txBody>
      </p:sp>
      <p:sp>
        <p:nvSpPr>
          <p:cNvPr id="11" name="Shape 9"/>
          <p:cNvSpPr/>
          <p:nvPr/>
        </p:nvSpPr>
        <p:spPr>
          <a:xfrm>
            <a:off x="822960" y="1828800"/>
            <a:ext cx="4892040" cy="3246120"/>
          </a:xfrm>
          <a:prstGeom prst="roundRect">
            <a:avLst>
              <a:gd name="adj" fmla="val 1268"/>
            </a:avLst>
          </a:prstGeom>
          <a:solidFill>
            <a:srgbClr val="FFFFFF"/>
          </a:solidFill>
          <a:ln w="13970">
            <a:solidFill>
              <a:srgbClr val="0F8B8D"/>
            </a:solidFill>
            <a:prstDash val="solid"/>
          </a:ln>
          <a:effectLst>
            <a:outerShdw sx="100000" sy="100000" kx="0" ky="0" algn="bl" rotWithShape="0" blurRad="12700" dist="50800" dir="2700000">
              <a:srgbClr val="777777">
                <a:alpha val="11000"/>
              </a:srgbClr>
            </a:outerShdw>
          </a:effectLst>
        </p:spPr>
      </p:sp>
      <p:sp>
        <p:nvSpPr>
          <p:cNvPr id="12" name="Shape 10"/>
          <p:cNvSpPr/>
          <p:nvPr/>
        </p:nvSpPr>
        <p:spPr>
          <a:xfrm>
            <a:off x="6400800" y="1828800"/>
            <a:ext cx="4892040" cy="3246120"/>
          </a:xfrm>
          <a:prstGeom prst="roundRect">
            <a:avLst>
              <a:gd name="adj" fmla="val 1268"/>
            </a:avLst>
          </a:prstGeom>
          <a:solidFill>
            <a:srgbClr val="FFF1F2"/>
          </a:solidFill>
          <a:ln w="13970">
            <a:solidFill>
              <a:srgbClr val="C7000B"/>
            </a:solidFill>
            <a:prstDash val="solid"/>
          </a:ln>
          <a:effectLst>
            <a:outerShdw sx="100000" sy="100000" kx="0" ky="0" algn="bl" rotWithShape="0" blurRad="12700" dist="50800" dir="2700000">
              <a:srgbClr val="777777">
                <a:alpha val="11000"/>
              </a:srgbClr>
            </a:outerShdw>
          </a:effectLst>
        </p:spPr>
      </p:sp>
      <p:sp>
        <p:nvSpPr>
          <p:cNvPr id="13" name="Text 11"/>
          <p:cNvSpPr/>
          <p:nvPr/>
        </p:nvSpPr>
        <p:spPr>
          <a:xfrm>
            <a:off x="1143000" y="2084832"/>
            <a:ext cx="1554480" cy="228600"/>
          </a:xfrm>
          <a:prstGeom prst="rect">
            <a:avLst/>
          </a:prstGeom>
          <a:noFill/>
          <a:ln/>
        </p:spPr>
        <p:txBody>
          <a:bodyPr wrap="square" lIns="0" tIns="0" rIns="0" bIns="0" rtlCol="0" anchor="ctr"/>
          <a:lstStyle/>
          <a:p>
            <a:pPr indent="0" marL="0">
              <a:buNone/>
            </a:pPr>
            <a:r>
              <a:rPr lang="en-US" sz="2000" b="1" dirty="0">
                <a:solidFill>
                  <a:srgbClr val="0F8B8D"/>
                </a:solidFill>
                <a:latin typeface="Microsoft YaHei" pitchFamily="34" charset="0"/>
                <a:ea typeface="Microsoft YaHei" pitchFamily="34" charset="-122"/>
                <a:cs typeface="Microsoft YaHei" pitchFamily="34" charset="-120"/>
              </a:rPr>
              <a:t>Prefill</a:t>
            </a:r>
            <a:endParaRPr lang="en-US" sz="2000" dirty="0"/>
          </a:p>
        </p:txBody>
      </p:sp>
      <p:sp>
        <p:nvSpPr>
          <p:cNvPr id="14" name="Text 12"/>
          <p:cNvSpPr/>
          <p:nvPr/>
        </p:nvSpPr>
        <p:spPr>
          <a:xfrm>
            <a:off x="6720840" y="2084832"/>
            <a:ext cx="1554480" cy="228600"/>
          </a:xfrm>
          <a:prstGeom prst="rect">
            <a:avLst/>
          </a:prstGeom>
          <a:noFill/>
          <a:ln/>
        </p:spPr>
        <p:txBody>
          <a:bodyPr wrap="square" lIns="0" tIns="0" rIns="0" bIns="0" rtlCol="0" anchor="ctr"/>
          <a:lstStyle/>
          <a:p>
            <a:pPr indent="0" marL="0">
              <a:buNone/>
            </a:pPr>
            <a:r>
              <a:rPr lang="en-US" sz="2000" b="1" dirty="0">
                <a:solidFill>
                  <a:srgbClr val="C7000B"/>
                </a:solidFill>
                <a:latin typeface="Microsoft YaHei" pitchFamily="34" charset="0"/>
                <a:ea typeface="Microsoft YaHei" pitchFamily="34" charset="-122"/>
                <a:cs typeface="Microsoft YaHei" pitchFamily="34" charset="-120"/>
              </a:rPr>
              <a:t>Decode</a:t>
            </a:r>
            <a:endParaRPr lang="en-US" sz="2000" dirty="0"/>
          </a:p>
        </p:txBody>
      </p:sp>
      <p:sp>
        <p:nvSpPr>
          <p:cNvPr id="15" name="Shape 13"/>
          <p:cNvSpPr/>
          <p:nvPr/>
        </p:nvSpPr>
        <p:spPr>
          <a:xfrm>
            <a:off x="1152144" y="2834640"/>
            <a:ext cx="73152" cy="73152"/>
          </a:xfrm>
          <a:prstGeom prst="ellipse">
            <a:avLst/>
          </a:prstGeom>
          <a:solidFill>
            <a:srgbClr val="0F8B8D"/>
          </a:solidFill>
          <a:ln w="12700">
            <a:solidFill>
              <a:srgbClr val="0F8B8D"/>
            </a:solidFill>
            <a:prstDash val="solid"/>
          </a:ln>
        </p:spPr>
      </p:sp>
      <p:sp>
        <p:nvSpPr>
          <p:cNvPr id="16" name="Text 14"/>
          <p:cNvSpPr/>
          <p:nvPr/>
        </p:nvSpPr>
        <p:spPr>
          <a:xfrm>
            <a:off x="1316736" y="2761488"/>
            <a:ext cx="3931920" cy="256032"/>
          </a:xfrm>
          <a:prstGeom prst="rect">
            <a:avLst/>
          </a:prstGeom>
          <a:noFill/>
          <a:ln/>
        </p:spPr>
        <p:txBody>
          <a:bodyPr wrap="square" lIns="0" tIns="0" rIns="0" bIns="0" rtlCol="0" anchor="ctr">
            <a:normAutofit/>
          </a:bodyPr>
          <a:lstStyle/>
          <a:p>
            <a:pPr indent="0" marL="0">
              <a:buNone/>
            </a:pPr>
            <a:r>
              <a:rPr lang="en-US" sz="980" dirty="0">
                <a:solidFill>
                  <a:srgbClr val="1F1F1F"/>
                </a:solidFill>
                <a:latin typeface="Microsoft YaHei" pitchFamily="34" charset="0"/>
                <a:ea typeface="Microsoft YaHei" pitchFamily="34" charset="-122"/>
                <a:cs typeface="Microsoft YaHei" pitchFamily="34" charset="-120"/>
              </a:rPr>
              <a:t>一次性处理输入 prompt</a:t>
            </a:r>
            <a:endParaRPr lang="en-US" sz="980" dirty="0"/>
          </a:p>
        </p:txBody>
      </p:sp>
      <p:sp>
        <p:nvSpPr>
          <p:cNvPr id="17" name="Shape 15"/>
          <p:cNvSpPr/>
          <p:nvPr/>
        </p:nvSpPr>
        <p:spPr>
          <a:xfrm>
            <a:off x="1152144" y="3291840"/>
            <a:ext cx="73152" cy="73152"/>
          </a:xfrm>
          <a:prstGeom prst="ellipse">
            <a:avLst/>
          </a:prstGeom>
          <a:solidFill>
            <a:srgbClr val="0F8B8D"/>
          </a:solidFill>
          <a:ln w="12700">
            <a:solidFill>
              <a:srgbClr val="0F8B8D"/>
            </a:solidFill>
            <a:prstDash val="solid"/>
          </a:ln>
        </p:spPr>
      </p:sp>
      <p:sp>
        <p:nvSpPr>
          <p:cNvPr id="18" name="Text 16"/>
          <p:cNvSpPr/>
          <p:nvPr/>
        </p:nvSpPr>
        <p:spPr>
          <a:xfrm>
            <a:off x="1316736" y="3218688"/>
            <a:ext cx="3931920" cy="256032"/>
          </a:xfrm>
          <a:prstGeom prst="rect">
            <a:avLst/>
          </a:prstGeom>
          <a:noFill/>
          <a:ln/>
        </p:spPr>
        <p:txBody>
          <a:bodyPr wrap="square" lIns="0" tIns="0" rIns="0" bIns="0" rtlCol="0" anchor="ctr">
            <a:normAutofit/>
          </a:bodyPr>
          <a:lstStyle/>
          <a:p>
            <a:pPr indent="0" marL="0">
              <a:buNone/>
            </a:pPr>
            <a:r>
              <a:rPr lang="en-US" sz="980" dirty="0">
                <a:solidFill>
                  <a:srgbClr val="1F1F1F"/>
                </a:solidFill>
                <a:latin typeface="Microsoft YaHei" pitchFamily="34" charset="0"/>
                <a:ea typeface="Microsoft YaHei" pitchFamily="34" charset="-122"/>
                <a:cs typeface="Microsoft YaHei" pitchFamily="34" charset="-120"/>
              </a:rPr>
              <a:t>并行度高，更偏计算密集</a:t>
            </a:r>
            <a:endParaRPr lang="en-US" sz="980" dirty="0"/>
          </a:p>
        </p:txBody>
      </p:sp>
      <p:sp>
        <p:nvSpPr>
          <p:cNvPr id="19" name="Shape 17"/>
          <p:cNvSpPr/>
          <p:nvPr/>
        </p:nvSpPr>
        <p:spPr>
          <a:xfrm>
            <a:off x="1152144" y="3749040"/>
            <a:ext cx="73152" cy="73152"/>
          </a:xfrm>
          <a:prstGeom prst="ellipse">
            <a:avLst/>
          </a:prstGeom>
          <a:solidFill>
            <a:srgbClr val="0F8B8D"/>
          </a:solidFill>
          <a:ln w="12700">
            <a:solidFill>
              <a:srgbClr val="0F8B8D"/>
            </a:solidFill>
            <a:prstDash val="solid"/>
          </a:ln>
        </p:spPr>
      </p:sp>
      <p:sp>
        <p:nvSpPr>
          <p:cNvPr id="20" name="Text 18"/>
          <p:cNvSpPr/>
          <p:nvPr/>
        </p:nvSpPr>
        <p:spPr>
          <a:xfrm>
            <a:off x="1316736" y="3675888"/>
            <a:ext cx="3931920" cy="256032"/>
          </a:xfrm>
          <a:prstGeom prst="rect">
            <a:avLst/>
          </a:prstGeom>
          <a:noFill/>
          <a:ln/>
        </p:spPr>
        <p:txBody>
          <a:bodyPr wrap="square" lIns="0" tIns="0" rIns="0" bIns="0" rtlCol="0" anchor="ctr">
            <a:normAutofit/>
          </a:bodyPr>
          <a:lstStyle/>
          <a:p>
            <a:pPr indent="0" marL="0">
              <a:buNone/>
            </a:pPr>
            <a:r>
              <a:rPr lang="en-US" sz="980" dirty="0">
                <a:solidFill>
                  <a:srgbClr val="1F1F1F"/>
                </a:solidFill>
                <a:latin typeface="Microsoft YaHei" pitchFamily="34" charset="0"/>
                <a:ea typeface="Microsoft YaHei" pitchFamily="34" charset="-122"/>
                <a:cs typeface="Microsoft YaHei" pitchFamily="34" charset="-120"/>
              </a:rPr>
              <a:t>主要影响 TTFT，也就是首 token 时间</a:t>
            </a:r>
            <a:endParaRPr lang="en-US" sz="980" dirty="0"/>
          </a:p>
        </p:txBody>
      </p:sp>
      <p:sp>
        <p:nvSpPr>
          <p:cNvPr id="21" name="Shape 19"/>
          <p:cNvSpPr/>
          <p:nvPr/>
        </p:nvSpPr>
        <p:spPr>
          <a:xfrm>
            <a:off x="6729984" y="2834640"/>
            <a:ext cx="73152" cy="73152"/>
          </a:xfrm>
          <a:prstGeom prst="ellipse">
            <a:avLst/>
          </a:prstGeom>
          <a:solidFill>
            <a:srgbClr val="C7000B"/>
          </a:solidFill>
          <a:ln w="12700">
            <a:solidFill>
              <a:srgbClr val="C7000B"/>
            </a:solidFill>
            <a:prstDash val="solid"/>
          </a:ln>
        </p:spPr>
      </p:sp>
      <p:sp>
        <p:nvSpPr>
          <p:cNvPr id="22" name="Text 20"/>
          <p:cNvSpPr/>
          <p:nvPr/>
        </p:nvSpPr>
        <p:spPr>
          <a:xfrm>
            <a:off x="6894576" y="2761488"/>
            <a:ext cx="3931920" cy="256032"/>
          </a:xfrm>
          <a:prstGeom prst="rect">
            <a:avLst/>
          </a:prstGeom>
          <a:noFill/>
          <a:ln/>
        </p:spPr>
        <p:txBody>
          <a:bodyPr wrap="square" lIns="0" tIns="0" rIns="0" bIns="0" rtlCol="0" anchor="ctr">
            <a:normAutofit/>
          </a:bodyPr>
          <a:lstStyle/>
          <a:p>
            <a:pPr indent="0" marL="0">
              <a:buNone/>
            </a:pPr>
            <a:r>
              <a:rPr lang="en-US" sz="980" dirty="0">
                <a:solidFill>
                  <a:srgbClr val="1F1F1F"/>
                </a:solidFill>
                <a:latin typeface="Microsoft YaHei" pitchFamily="34" charset="0"/>
                <a:ea typeface="Microsoft YaHei" pitchFamily="34" charset="-122"/>
                <a:cs typeface="Microsoft YaHei" pitchFamily="34" charset="-120"/>
              </a:rPr>
              <a:t>每轮生成一个新 token</a:t>
            </a:r>
            <a:endParaRPr lang="en-US" sz="980" dirty="0"/>
          </a:p>
        </p:txBody>
      </p:sp>
      <p:sp>
        <p:nvSpPr>
          <p:cNvPr id="23" name="Shape 21"/>
          <p:cNvSpPr/>
          <p:nvPr/>
        </p:nvSpPr>
        <p:spPr>
          <a:xfrm>
            <a:off x="6729984" y="3291840"/>
            <a:ext cx="73152" cy="73152"/>
          </a:xfrm>
          <a:prstGeom prst="ellipse">
            <a:avLst/>
          </a:prstGeom>
          <a:solidFill>
            <a:srgbClr val="C7000B"/>
          </a:solidFill>
          <a:ln w="12700">
            <a:solidFill>
              <a:srgbClr val="C7000B"/>
            </a:solidFill>
            <a:prstDash val="solid"/>
          </a:ln>
        </p:spPr>
      </p:sp>
      <p:sp>
        <p:nvSpPr>
          <p:cNvPr id="24" name="Text 22"/>
          <p:cNvSpPr/>
          <p:nvPr/>
        </p:nvSpPr>
        <p:spPr>
          <a:xfrm>
            <a:off x="6894576" y="3218688"/>
            <a:ext cx="3931920" cy="256032"/>
          </a:xfrm>
          <a:prstGeom prst="rect">
            <a:avLst/>
          </a:prstGeom>
          <a:noFill/>
          <a:ln/>
        </p:spPr>
        <p:txBody>
          <a:bodyPr wrap="square" lIns="0" tIns="0" rIns="0" bIns="0" rtlCol="0" anchor="ctr">
            <a:normAutofit/>
          </a:bodyPr>
          <a:lstStyle/>
          <a:p>
            <a:pPr indent="0" marL="0">
              <a:buNone/>
            </a:pPr>
            <a:r>
              <a:rPr lang="en-US" sz="980" dirty="0">
                <a:solidFill>
                  <a:srgbClr val="1F1F1F"/>
                </a:solidFill>
                <a:latin typeface="Microsoft YaHei" pitchFamily="34" charset="0"/>
                <a:ea typeface="Microsoft YaHei" pitchFamily="34" charset="-122"/>
                <a:cs typeface="Microsoft YaHei" pitchFamily="34" charset="-120"/>
              </a:rPr>
              <a:t>循环次数由输出长度决定</a:t>
            </a:r>
            <a:endParaRPr lang="en-US" sz="980" dirty="0"/>
          </a:p>
        </p:txBody>
      </p:sp>
      <p:sp>
        <p:nvSpPr>
          <p:cNvPr id="25" name="Shape 23"/>
          <p:cNvSpPr/>
          <p:nvPr/>
        </p:nvSpPr>
        <p:spPr>
          <a:xfrm>
            <a:off x="6729984" y="3749040"/>
            <a:ext cx="73152" cy="73152"/>
          </a:xfrm>
          <a:prstGeom prst="ellipse">
            <a:avLst/>
          </a:prstGeom>
          <a:solidFill>
            <a:srgbClr val="C7000B"/>
          </a:solidFill>
          <a:ln w="12700">
            <a:solidFill>
              <a:srgbClr val="C7000B"/>
            </a:solidFill>
            <a:prstDash val="solid"/>
          </a:ln>
        </p:spPr>
      </p:sp>
      <p:sp>
        <p:nvSpPr>
          <p:cNvPr id="26" name="Text 24"/>
          <p:cNvSpPr/>
          <p:nvPr/>
        </p:nvSpPr>
        <p:spPr>
          <a:xfrm>
            <a:off x="6894576" y="3675888"/>
            <a:ext cx="3931920" cy="256032"/>
          </a:xfrm>
          <a:prstGeom prst="rect">
            <a:avLst/>
          </a:prstGeom>
          <a:noFill/>
          <a:ln/>
        </p:spPr>
        <p:txBody>
          <a:bodyPr wrap="square" lIns="0" tIns="0" rIns="0" bIns="0" rtlCol="0" anchor="ctr">
            <a:normAutofit/>
          </a:bodyPr>
          <a:lstStyle/>
          <a:p>
            <a:pPr indent="0" marL="0">
              <a:buNone/>
            </a:pPr>
            <a:r>
              <a:rPr lang="en-US" sz="980" dirty="0">
                <a:solidFill>
                  <a:srgbClr val="1F1F1F"/>
                </a:solidFill>
                <a:latin typeface="Microsoft YaHei" pitchFamily="34" charset="0"/>
                <a:ea typeface="Microsoft YaHei" pitchFamily="34" charset="-122"/>
                <a:cs typeface="Microsoft YaHei" pitchFamily="34" charset="-120"/>
              </a:rPr>
              <a:t>主要影响 TPOT，也就是输出速度</a:t>
            </a:r>
            <a:endParaRPr lang="en-US" sz="980" dirty="0"/>
          </a:p>
        </p:txBody>
      </p:sp>
      <p:sp>
        <p:nvSpPr>
          <p:cNvPr id="27" name="Shape 25"/>
          <p:cNvSpPr/>
          <p:nvPr/>
        </p:nvSpPr>
        <p:spPr>
          <a:xfrm>
            <a:off x="1143000" y="4462272"/>
            <a:ext cx="4251960" cy="0"/>
          </a:xfrm>
          <a:prstGeom prst="line">
            <a:avLst/>
          </a:prstGeom>
          <a:noFill/>
          <a:ln w="25400">
            <a:solidFill>
              <a:srgbClr val="0F8B8D"/>
            </a:solidFill>
            <a:prstDash val="solid"/>
          </a:ln>
        </p:spPr>
      </p:sp>
      <p:sp>
        <p:nvSpPr>
          <p:cNvPr id="28" name="Shape 26"/>
          <p:cNvSpPr/>
          <p:nvPr/>
        </p:nvSpPr>
        <p:spPr>
          <a:xfrm>
            <a:off x="6720840" y="4462272"/>
            <a:ext cx="4251960" cy="0"/>
          </a:xfrm>
          <a:prstGeom prst="line">
            <a:avLst/>
          </a:prstGeom>
          <a:noFill/>
          <a:ln w="25400">
            <a:solidFill>
              <a:srgbClr val="C7000B"/>
            </a:solidFill>
            <a:prstDash val="solid"/>
          </a:ln>
        </p:spPr>
      </p:sp>
      <p:sp>
        <p:nvSpPr>
          <p:cNvPr id="29" name="Text 27"/>
          <p:cNvSpPr/>
          <p:nvPr/>
        </p:nvSpPr>
        <p:spPr>
          <a:xfrm>
            <a:off x="2331720" y="4663440"/>
            <a:ext cx="1645920" cy="118872"/>
          </a:xfrm>
          <a:prstGeom prst="rect">
            <a:avLst/>
          </a:prstGeom>
          <a:noFill/>
          <a:ln/>
        </p:spPr>
        <p:txBody>
          <a:bodyPr wrap="square" lIns="0" tIns="0" rIns="0" bIns="0" rtlCol="0" anchor="ctr"/>
          <a:lstStyle/>
          <a:p>
            <a:pPr algn="ctr" indent="0" marL="0">
              <a:buNone/>
            </a:pPr>
            <a:r>
              <a:rPr lang="en-US" sz="820" b="1" dirty="0">
                <a:solidFill>
                  <a:srgbClr val="0F8B8D"/>
                </a:solidFill>
                <a:latin typeface="Microsoft YaHei" pitchFamily="34" charset="0"/>
                <a:ea typeface="Microsoft YaHei" pitchFamily="34" charset="-122"/>
                <a:cs typeface="Microsoft YaHei" pitchFamily="34" charset="-120"/>
              </a:rPr>
              <a:t>2000 input tokens</a:t>
            </a:r>
            <a:endParaRPr lang="en-US" sz="820" dirty="0"/>
          </a:p>
        </p:txBody>
      </p:sp>
      <p:sp>
        <p:nvSpPr>
          <p:cNvPr id="30" name="Text 28"/>
          <p:cNvSpPr/>
          <p:nvPr/>
        </p:nvSpPr>
        <p:spPr>
          <a:xfrm>
            <a:off x="7909560" y="4663440"/>
            <a:ext cx="1645920" cy="118872"/>
          </a:xfrm>
          <a:prstGeom prst="rect">
            <a:avLst/>
          </a:prstGeom>
          <a:noFill/>
          <a:ln/>
        </p:spPr>
        <p:txBody>
          <a:bodyPr wrap="square" lIns="0" tIns="0" rIns="0" bIns="0" rtlCol="0" anchor="ctr"/>
          <a:lstStyle/>
          <a:p>
            <a:pPr algn="ctr" indent="0" marL="0">
              <a:buNone/>
            </a:pPr>
            <a:r>
              <a:rPr lang="en-US" sz="820" b="1" dirty="0">
                <a:solidFill>
                  <a:srgbClr val="C7000B"/>
                </a:solidFill>
                <a:latin typeface="Microsoft YaHei" pitchFamily="34" charset="0"/>
                <a:ea typeface="Microsoft YaHei" pitchFamily="34" charset="-122"/>
                <a:cs typeface="Microsoft YaHei" pitchFamily="34" charset="-120"/>
              </a:rPr>
              <a:t>300 output tokens</a:t>
            </a:r>
            <a:endParaRPr lang="en-US" sz="820" dirty="0"/>
          </a:p>
        </p:txBody>
      </p:sp>
      <p:sp>
        <p:nvSpPr>
          <p:cNvPr id="31" name="Shape 29"/>
          <p:cNvSpPr/>
          <p:nvPr/>
        </p:nvSpPr>
        <p:spPr>
          <a:xfrm>
            <a:off x="804672" y="5522976"/>
            <a:ext cx="10469880" cy="493776"/>
          </a:xfrm>
          <a:prstGeom prst="roundRect">
            <a:avLst>
              <a:gd name="adj" fmla="val 9259"/>
            </a:avLst>
          </a:prstGeom>
          <a:solidFill>
            <a:srgbClr val="FFFFFF"/>
          </a:solidFill>
          <a:ln w="9525">
            <a:solidFill>
              <a:srgbClr val="DCDCDC"/>
            </a:solidFill>
            <a:prstDash val="solid"/>
          </a:ln>
        </p:spPr>
      </p:sp>
      <p:sp>
        <p:nvSpPr>
          <p:cNvPr id="32" name="Shape 30"/>
          <p:cNvSpPr/>
          <p:nvPr/>
        </p:nvSpPr>
        <p:spPr>
          <a:xfrm>
            <a:off x="804672" y="5522976"/>
            <a:ext cx="91440" cy="493776"/>
          </a:xfrm>
          <a:prstGeom prst="rect">
            <a:avLst/>
          </a:prstGeom>
          <a:solidFill>
            <a:srgbClr val="C7000B"/>
          </a:solidFill>
          <a:ln w="12700">
            <a:solidFill>
              <a:srgbClr val="C7000B"/>
            </a:solidFill>
            <a:prstDash val="solid"/>
          </a:ln>
        </p:spPr>
      </p:sp>
      <p:sp>
        <p:nvSpPr>
          <p:cNvPr id="33" name="Text 31"/>
          <p:cNvSpPr/>
          <p:nvPr/>
        </p:nvSpPr>
        <p:spPr>
          <a:xfrm>
            <a:off x="1051560" y="5632704"/>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34" name="Text 32"/>
          <p:cNvSpPr/>
          <p:nvPr/>
        </p:nvSpPr>
        <p:spPr>
          <a:xfrm>
            <a:off x="1874520" y="5687568"/>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长输入主要压 Prefill；长输出主要压 Decode。</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07</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06 / METRICS</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推理性能看什么</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推理系统通常同时关注用户体验、系统吞吐和资源成本。</a:t>
            </a:r>
            <a:endParaRPr lang="en-US" sz="1080" dirty="0"/>
          </a:p>
        </p:txBody>
      </p:sp>
      <p:sp>
        <p:nvSpPr>
          <p:cNvPr id="11" name="Shape 9"/>
          <p:cNvSpPr/>
          <p:nvPr/>
        </p:nvSpPr>
        <p:spPr>
          <a:xfrm>
            <a:off x="749808" y="1901952"/>
            <a:ext cx="2359152" cy="1207008"/>
          </a:xfrm>
          <a:prstGeom prst="roundRect">
            <a:avLst>
              <a:gd name="adj" fmla="val 3409"/>
            </a:avLst>
          </a:prstGeom>
          <a:solidFill>
            <a:srgbClr val="FFF1F2"/>
          </a:solidFill>
          <a:ln w="9525">
            <a:solidFill>
              <a:srgbClr val="C7000B"/>
            </a:solidFill>
            <a:prstDash val="solid"/>
          </a:ln>
          <a:effectLst>
            <a:outerShdw sx="100000" sy="100000" kx="0" ky="0" algn="bl" rotWithShape="0" blurRad="12700" dist="50800" dir="2700000">
              <a:srgbClr val="777777">
                <a:alpha val="11000"/>
              </a:srgbClr>
            </a:outerShdw>
          </a:effectLst>
        </p:spPr>
      </p:sp>
      <p:sp>
        <p:nvSpPr>
          <p:cNvPr id="12" name="Text 10"/>
          <p:cNvSpPr/>
          <p:nvPr/>
        </p:nvSpPr>
        <p:spPr>
          <a:xfrm>
            <a:off x="896112" y="2103120"/>
            <a:ext cx="2057400" cy="164592"/>
          </a:xfrm>
          <a:prstGeom prst="rect">
            <a:avLst/>
          </a:prstGeom>
          <a:noFill/>
          <a:ln/>
        </p:spPr>
        <p:txBody>
          <a:bodyPr wrap="square" lIns="0" tIns="0" rIns="0" bIns="0" rtlCol="0" anchor="ctr"/>
          <a:lstStyle/>
          <a:p>
            <a:pPr indent="0" marL="0">
              <a:buNone/>
            </a:pPr>
            <a:r>
              <a:rPr lang="en-US" sz="1050" b="1" dirty="0">
                <a:solidFill>
                  <a:srgbClr val="C7000B"/>
                </a:solidFill>
                <a:latin typeface="Microsoft YaHei" pitchFamily="34" charset="0"/>
                <a:ea typeface="Microsoft YaHei" pitchFamily="34" charset="-122"/>
                <a:cs typeface="Microsoft YaHei" pitchFamily="34" charset="-120"/>
              </a:rPr>
              <a:t>TTFT</a:t>
            </a:r>
            <a:endParaRPr lang="en-US" sz="1050" dirty="0"/>
          </a:p>
        </p:txBody>
      </p:sp>
      <p:sp>
        <p:nvSpPr>
          <p:cNvPr id="13" name="Text 11"/>
          <p:cNvSpPr/>
          <p:nvPr/>
        </p:nvSpPr>
        <p:spPr>
          <a:xfrm>
            <a:off x="896112" y="2395728"/>
            <a:ext cx="2057400" cy="146304"/>
          </a:xfrm>
          <a:prstGeom prst="rect">
            <a:avLst/>
          </a:prstGeom>
          <a:noFill/>
          <a:ln/>
        </p:spPr>
        <p:txBody>
          <a:bodyPr wrap="square" lIns="0" tIns="0" rIns="0" bIns="0" rtlCol="0" anchor="ctr"/>
          <a:lstStyle/>
          <a:p>
            <a:pPr indent="0" marL="0">
              <a:buNone/>
            </a:pPr>
            <a:r>
              <a:rPr lang="en-US" sz="950" b="1" dirty="0">
                <a:solidFill>
                  <a:srgbClr val="111111"/>
                </a:solidFill>
                <a:latin typeface="Microsoft YaHei" pitchFamily="34" charset="0"/>
                <a:ea typeface="Microsoft YaHei" pitchFamily="34" charset="-122"/>
                <a:cs typeface="Microsoft YaHei" pitchFamily="34" charset="-120"/>
              </a:rPr>
              <a:t>首 token 时间</a:t>
            </a:r>
            <a:endParaRPr lang="en-US" sz="950" dirty="0"/>
          </a:p>
        </p:txBody>
      </p:sp>
      <p:sp>
        <p:nvSpPr>
          <p:cNvPr id="14" name="Text 12"/>
          <p:cNvSpPr/>
          <p:nvPr/>
        </p:nvSpPr>
        <p:spPr>
          <a:xfrm>
            <a:off x="896112" y="2697480"/>
            <a:ext cx="2057400" cy="201168"/>
          </a:xfrm>
          <a:prstGeom prst="rect">
            <a:avLst/>
          </a:prstGeom>
          <a:noFill/>
          <a:ln/>
        </p:spPr>
        <p:txBody>
          <a:bodyPr wrap="square" lIns="0" tIns="0" rIns="0" bIns="0" rtlCol="0" anchor="ctr">
            <a:normAutofit/>
          </a:bodyPr>
          <a:lstStyle/>
          <a:p>
            <a:pPr indent="0" marL="0">
              <a:buNone/>
            </a:pPr>
            <a:r>
              <a:rPr lang="en-US" sz="810" dirty="0">
                <a:solidFill>
                  <a:srgbClr val="666666"/>
                </a:solidFill>
                <a:latin typeface="Microsoft YaHei" pitchFamily="34" charset="0"/>
                <a:ea typeface="Microsoft YaHei" pitchFamily="34" charset="-122"/>
                <a:cs typeface="Microsoft YaHei" pitchFamily="34" charset="-120"/>
              </a:rPr>
              <a:t>用户多久看到第一个字</a:t>
            </a:r>
            <a:endParaRPr lang="en-US" sz="810" dirty="0"/>
          </a:p>
        </p:txBody>
      </p:sp>
      <p:sp>
        <p:nvSpPr>
          <p:cNvPr id="15" name="Shape 13"/>
          <p:cNvSpPr/>
          <p:nvPr/>
        </p:nvSpPr>
        <p:spPr>
          <a:xfrm>
            <a:off x="3538728" y="1901952"/>
            <a:ext cx="2359152" cy="1207008"/>
          </a:xfrm>
          <a:prstGeom prst="roundRect">
            <a:avLst>
              <a:gd name="adj" fmla="val 3409"/>
            </a:avLst>
          </a:prstGeom>
          <a:solidFill>
            <a:srgbClr val="FFFFFF"/>
          </a:solidFill>
          <a:ln w="9525">
            <a:solidFill>
              <a:srgbClr val="DCDCDC"/>
            </a:solidFill>
            <a:prstDash val="solid"/>
          </a:ln>
          <a:effectLst>
            <a:outerShdw sx="100000" sy="100000" kx="0" ky="0" algn="bl" rotWithShape="0" blurRad="12700" dist="50800" dir="2700000">
              <a:srgbClr val="777777">
                <a:alpha val="11000"/>
              </a:srgbClr>
            </a:outerShdw>
          </a:effectLst>
        </p:spPr>
      </p:sp>
      <p:sp>
        <p:nvSpPr>
          <p:cNvPr id="16" name="Text 14"/>
          <p:cNvSpPr/>
          <p:nvPr/>
        </p:nvSpPr>
        <p:spPr>
          <a:xfrm>
            <a:off x="3685032" y="2103120"/>
            <a:ext cx="2057400" cy="164592"/>
          </a:xfrm>
          <a:prstGeom prst="rect">
            <a:avLst/>
          </a:prstGeom>
          <a:noFill/>
          <a:ln/>
        </p:spPr>
        <p:txBody>
          <a:bodyPr wrap="square" lIns="0" tIns="0" rIns="0" bIns="0" rtlCol="0" anchor="ctr"/>
          <a:lstStyle/>
          <a:p>
            <a:pPr indent="0" marL="0">
              <a:buNone/>
            </a:pPr>
            <a:r>
              <a:rPr lang="en-US" sz="1050" b="1" dirty="0">
                <a:solidFill>
                  <a:srgbClr val="0F8B8D"/>
                </a:solidFill>
                <a:latin typeface="Microsoft YaHei" pitchFamily="34" charset="0"/>
                <a:ea typeface="Microsoft YaHei" pitchFamily="34" charset="-122"/>
                <a:cs typeface="Microsoft YaHei" pitchFamily="34" charset="-120"/>
              </a:rPr>
              <a:t>TPOT</a:t>
            </a:r>
            <a:endParaRPr lang="en-US" sz="1050" dirty="0"/>
          </a:p>
        </p:txBody>
      </p:sp>
      <p:sp>
        <p:nvSpPr>
          <p:cNvPr id="17" name="Text 15"/>
          <p:cNvSpPr/>
          <p:nvPr/>
        </p:nvSpPr>
        <p:spPr>
          <a:xfrm>
            <a:off x="3685032" y="2395728"/>
            <a:ext cx="2057400" cy="146304"/>
          </a:xfrm>
          <a:prstGeom prst="rect">
            <a:avLst/>
          </a:prstGeom>
          <a:noFill/>
          <a:ln/>
        </p:spPr>
        <p:txBody>
          <a:bodyPr wrap="square" lIns="0" tIns="0" rIns="0" bIns="0" rtlCol="0" anchor="ctr"/>
          <a:lstStyle/>
          <a:p>
            <a:pPr indent="0" marL="0">
              <a:buNone/>
            </a:pPr>
            <a:r>
              <a:rPr lang="en-US" sz="950" b="1" dirty="0">
                <a:solidFill>
                  <a:srgbClr val="111111"/>
                </a:solidFill>
                <a:latin typeface="Microsoft YaHei" pitchFamily="34" charset="0"/>
                <a:ea typeface="Microsoft YaHei" pitchFamily="34" charset="-122"/>
                <a:cs typeface="Microsoft YaHei" pitchFamily="34" charset="-120"/>
              </a:rPr>
              <a:t>单 token 时间</a:t>
            </a:r>
            <a:endParaRPr lang="en-US" sz="950" dirty="0"/>
          </a:p>
        </p:txBody>
      </p:sp>
      <p:sp>
        <p:nvSpPr>
          <p:cNvPr id="18" name="Text 16"/>
          <p:cNvSpPr/>
          <p:nvPr/>
        </p:nvSpPr>
        <p:spPr>
          <a:xfrm>
            <a:off x="3685032" y="2697480"/>
            <a:ext cx="2057400" cy="201168"/>
          </a:xfrm>
          <a:prstGeom prst="rect">
            <a:avLst/>
          </a:prstGeom>
          <a:noFill/>
          <a:ln/>
        </p:spPr>
        <p:txBody>
          <a:bodyPr wrap="square" lIns="0" tIns="0" rIns="0" bIns="0" rtlCol="0" anchor="ctr">
            <a:normAutofit/>
          </a:bodyPr>
          <a:lstStyle/>
          <a:p>
            <a:pPr indent="0" marL="0">
              <a:buNone/>
            </a:pPr>
            <a:r>
              <a:rPr lang="en-US" sz="810" dirty="0">
                <a:solidFill>
                  <a:srgbClr val="666666"/>
                </a:solidFill>
                <a:latin typeface="Microsoft YaHei" pitchFamily="34" charset="0"/>
                <a:ea typeface="Microsoft YaHei" pitchFamily="34" charset="-122"/>
                <a:cs typeface="Microsoft YaHei" pitchFamily="34" charset="-120"/>
              </a:rPr>
              <a:t>流式输出是否顺滑</a:t>
            </a:r>
            <a:endParaRPr lang="en-US" sz="810" dirty="0"/>
          </a:p>
        </p:txBody>
      </p:sp>
      <p:sp>
        <p:nvSpPr>
          <p:cNvPr id="19" name="Shape 17"/>
          <p:cNvSpPr/>
          <p:nvPr/>
        </p:nvSpPr>
        <p:spPr>
          <a:xfrm>
            <a:off x="6327648" y="1901952"/>
            <a:ext cx="2359152" cy="1207008"/>
          </a:xfrm>
          <a:prstGeom prst="roundRect">
            <a:avLst>
              <a:gd name="adj" fmla="val 3409"/>
            </a:avLst>
          </a:prstGeom>
          <a:solidFill>
            <a:srgbClr val="FFFFFF"/>
          </a:solidFill>
          <a:ln w="9525">
            <a:solidFill>
              <a:srgbClr val="DCDCDC"/>
            </a:solidFill>
            <a:prstDash val="solid"/>
          </a:ln>
          <a:effectLst>
            <a:outerShdw sx="100000" sy="100000" kx="0" ky="0" algn="bl" rotWithShape="0" blurRad="12700" dist="50800" dir="2700000">
              <a:srgbClr val="777777">
                <a:alpha val="11000"/>
              </a:srgbClr>
            </a:outerShdw>
          </a:effectLst>
        </p:spPr>
      </p:sp>
      <p:sp>
        <p:nvSpPr>
          <p:cNvPr id="20" name="Text 18"/>
          <p:cNvSpPr/>
          <p:nvPr/>
        </p:nvSpPr>
        <p:spPr>
          <a:xfrm>
            <a:off x="6473952" y="2103120"/>
            <a:ext cx="2057400" cy="164592"/>
          </a:xfrm>
          <a:prstGeom prst="rect">
            <a:avLst/>
          </a:prstGeom>
          <a:noFill/>
          <a:ln/>
        </p:spPr>
        <p:txBody>
          <a:bodyPr wrap="square" lIns="0" tIns="0" rIns="0" bIns="0" rtlCol="0" anchor="ctr"/>
          <a:lstStyle/>
          <a:p>
            <a:pPr indent="0" marL="0">
              <a:buNone/>
            </a:pPr>
            <a:r>
              <a:rPr lang="en-US" sz="1050" b="1" dirty="0">
                <a:solidFill>
                  <a:srgbClr val="385A7C"/>
                </a:solidFill>
                <a:latin typeface="Microsoft YaHei" pitchFamily="34" charset="0"/>
                <a:ea typeface="Microsoft YaHei" pitchFamily="34" charset="-122"/>
                <a:cs typeface="Microsoft YaHei" pitchFamily="34" charset="-120"/>
              </a:rPr>
              <a:t>Throughput</a:t>
            </a:r>
            <a:endParaRPr lang="en-US" sz="1050" dirty="0"/>
          </a:p>
        </p:txBody>
      </p:sp>
      <p:sp>
        <p:nvSpPr>
          <p:cNvPr id="21" name="Text 19"/>
          <p:cNvSpPr/>
          <p:nvPr/>
        </p:nvSpPr>
        <p:spPr>
          <a:xfrm>
            <a:off x="6473952" y="2395728"/>
            <a:ext cx="2057400" cy="146304"/>
          </a:xfrm>
          <a:prstGeom prst="rect">
            <a:avLst/>
          </a:prstGeom>
          <a:noFill/>
          <a:ln/>
        </p:spPr>
        <p:txBody>
          <a:bodyPr wrap="square" lIns="0" tIns="0" rIns="0" bIns="0" rtlCol="0" anchor="ctr"/>
          <a:lstStyle/>
          <a:p>
            <a:pPr indent="0" marL="0">
              <a:buNone/>
            </a:pPr>
            <a:r>
              <a:rPr lang="en-US" sz="950" b="1" dirty="0">
                <a:solidFill>
                  <a:srgbClr val="111111"/>
                </a:solidFill>
                <a:latin typeface="Microsoft YaHei" pitchFamily="34" charset="0"/>
                <a:ea typeface="Microsoft YaHei" pitchFamily="34" charset="-122"/>
                <a:cs typeface="Microsoft YaHei" pitchFamily="34" charset="-120"/>
              </a:rPr>
              <a:t>吞吐</a:t>
            </a:r>
            <a:endParaRPr lang="en-US" sz="950" dirty="0"/>
          </a:p>
        </p:txBody>
      </p:sp>
      <p:sp>
        <p:nvSpPr>
          <p:cNvPr id="22" name="Text 20"/>
          <p:cNvSpPr/>
          <p:nvPr/>
        </p:nvSpPr>
        <p:spPr>
          <a:xfrm>
            <a:off x="6473952" y="2697480"/>
            <a:ext cx="2057400" cy="201168"/>
          </a:xfrm>
          <a:prstGeom prst="rect">
            <a:avLst/>
          </a:prstGeom>
          <a:noFill/>
          <a:ln/>
        </p:spPr>
        <p:txBody>
          <a:bodyPr wrap="square" lIns="0" tIns="0" rIns="0" bIns="0" rtlCol="0" anchor="ctr">
            <a:normAutofit/>
          </a:bodyPr>
          <a:lstStyle/>
          <a:p>
            <a:pPr indent="0" marL="0">
              <a:buNone/>
            </a:pPr>
            <a:r>
              <a:rPr lang="en-US" sz="810" dirty="0">
                <a:solidFill>
                  <a:srgbClr val="666666"/>
                </a:solidFill>
                <a:latin typeface="Microsoft YaHei" pitchFamily="34" charset="0"/>
                <a:ea typeface="Microsoft YaHei" pitchFamily="34" charset="-122"/>
                <a:cs typeface="Microsoft YaHei" pitchFamily="34" charset="-120"/>
              </a:rPr>
              <a:t>单位时间能服务多少 token / 请求</a:t>
            </a:r>
            <a:endParaRPr lang="en-US" sz="810" dirty="0"/>
          </a:p>
        </p:txBody>
      </p:sp>
      <p:sp>
        <p:nvSpPr>
          <p:cNvPr id="23" name="Shape 21"/>
          <p:cNvSpPr/>
          <p:nvPr/>
        </p:nvSpPr>
        <p:spPr>
          <a:xfrm>
            <a:off x="9116568" y="1901952"/>
            <a:ext cx="2359152" cy="1207008"/>
          </a:xfrm>
          <a:prstGeom prst="roundRect">
            <a:avLst>
              <a:gd name="adj" fmla="val 3409"/>
            </a:avLst>
          </a:prstGeom>
          <a:solidFill>
            <a:srgbClr val="FFFFFF"/>
          </a:solidFill>
          <a:ln w="9525">
            <a:solidFill>
              <a:srgbClr val="DCDCDC"/>
            </a:solidFill>
            <a:prstDash val="solid"/>
          </a:ln>
          <a:effectLst>
            <a:outerShdw sx="100000" sy="100000" kx="0" ky="0" algn="bl" rotWithShape="0" blurRad="12700" dist="50800" dir="2700000">
              <a:srgbClr val="777777">
                <a:alpha val="11000"/>
              </a:srgbClr>
            </a:outerShdw>
          </a:effectLst>
        </p:spPr>
      </p:sp>
      <p:sp>
        <p:nvSpPr>
          <p:cNvPr id="24" name="Text 22"/>
          <p:cNvSpPr/>
          <p:nvPr/>
        </p:nvSpPr>
        <p:spPr>
          <a:xfrm>
            <a:off x="9262872" y="2103120"/>
            <a:ext cx="2057400" cy="164592"/>
          </a:xfrm>
          <a:prstGeom prst="rect">
            <a:avLst/>
          </a:prstGeom>
          <a:noFill/>
          <a:ln/>
        </p:spPr>
        <p:txBody>
          <a:bodyPr wrap="square" lIns="0" tIns="0" rIns="0" bIns="0" rtlCol="0" anchor="ctr"/>
          <a:lstStyle/>
          <a:p>
            <a:pPr indent="0" marL="0">
              <a:buNone/>
            </a:pPr>
            <a:r>
              <a:rPr lang="en-US" sz="1050" b="1" dirty="0">
                <a:solidFill>
                  <a:srgbClr val="B99020"/>
                </a:solidFill>
                <a:latin typeface="Microsoft YaHei" pitchFamily="34" charset="0"/>
                <a:ea typeface="Microsoft YaHei" pitchFamily="34" charset="-122"/>
                <a:cs typeface="Microsoft YaHei" pitchFamily="34" charset="-120"/>
              </a:rPr>
              <a:t>Memory / Cost</a:t>
            </a:r>
            <a:endParaRPr lang="en-US" sz="1050" dirty="0"/>
          </a:p>
        </p:txBody>
      </p:sp>
      <p:sp>
        <p:nvSpPr>
          <p:cNvPr id="25" name="Text 23"/>
          <p:cNvSpPr/>
          <p:nvPr/>
        </p:nvSpPr>
        <p:spPr>
          <a:xfrm>
            <a:off x="9262872" y="2395728"/>
            <a:ext cx="2057400" cy="146304"/>
          </a:xfrm>
          <a:prstGeom prst="rect">
            <a:avLst/>
          </a:prstGeom>
          <a:noFill/>
          <a:ln/>
        </p:spPr>
        <p:txBody>
          <a:bodyPr wrap="square" lIns="0" tIns="0" rIns="0" bIns="0" rtlCol="0" anchor="ctr"/>
          <a:lstStyle/>
          <a:p>
            <a:pPr indent="0" marL="0">
              <a:buNone/>
            </a:pPr>
            <a:r>
              <a:rPr lang="en-US" sz="950" b="1" dirty="0">
                <a:solidFill>
                  <a:srgbClr val="111111"/>
                </a:solidFill>
                <a:latin typeface="Microsoft YaHei" pitchFamily="34" charset="0"/>
                <a:ea typeface="Microsoft YaHei" pitchFamily="34" charset="-122"/>
                <a:cs typeface="Microsoft YaHei" pitchFamily="34" charset="-120"/>
              </a:rPr>
              <a:t>显存与成本</a:t>
            </a:r>
            <a:endParaRPr lang="en-US" sz="950" dirty="0"/>
          </a:p>
        </p:txBody>
      </p:sp>
      <p:sp>
        <p:nvSpPr>
          <p:cNvPr id="26" name="Text 24"/>
          <p:cNvSpPr/>
          <p:nvPr/>
        </p:nvSpPr>
        <p:spPr>
          <a:xfrm>
            <a:off x="9262872" y="2697480"/>
            <a:ext cx="2057400" cy="201168"/>
          </a:xfrm>
          <a:prstGeom prst="rect">
            <a:avLst/>
          </a:prstGeom>
          <a:noFill/>
          <a:ln/>
        </p:spPr>
        <p:txBody>
          <a:bodyPr wrap="square" lIns="0" tIns="0" rIns="0" bIns="0" rtlCol="0" anchor="ctr">
            <a:normAutofit/>
          </a:bodyPr>
          <a:lstStyle/>
          <a:p>
            <a:pPr indent="0" marL="0">
              <a:buNone/>
            </a:pPr>
            <a:r>
              <a:rPr lang="en-US" sz="810" dirty="0">
                <a:solidFill>
                  <a:srgbClr val="666666"/>
                </a:solidFill>
                <a:latin typeface="Microsoft YaHei" pitchFamily="34" charset="0"/>
                <a:ea typeface="Microsoft YaHei" pitchFamily="34" charset="-122"/>
                <a:cs typeface="Microsoft YaHei" pitchFamily="34" charset="-120"/>
              </a:rPr>
              <a:t>权重、KV Cache、并发共同决定</a:t>
            </a:r>
            <a:endParaRPr lang="en-US" sz="810" dirty="0"/>
          </a:p>
        </p:txBody>
      </p:sp>
      <p:sp>
        <p:nvSpPr>
          <p:cNvPr id="27" name="Shape 25"/>
          <p:cNvSpPr/>
          <p:nvPr/>
        </p:nvSpPr>
        <p:spPr>
          <a:xfrm>
            <a:off x="960120" y="4498848"/>
            <a:ext cx="9921240" cy="0"/>
          </a:xfrm>
          <a:prstGeom prst="line">
            <a:avLst/>
          </a:prstGeom>
          <a:noFill/>
          <a:ln w="27940">
            <a:solidFill>
              <a:srgbClr val="C7000B"/>
            </a:solidFill>
            <a:prstDash val="solid"/>
          </a:ln>
        </p:spPr>
      </p:sp>
      <p:sp>
        <p:nvSpPr>
          <p:cNvPr id="28" name="Shape 26"/>
          <p:cNvSpPr/>
          <p:nvPr/>
        </p:nvSpPr>
        <p:spPr>
          <a:xfrm>
            <a:off x="932688" y="4398264"/>
            <a:ext cx="201168" cy="201168"/>
          </a:xfrm>
          <a:prstGeom prst="ellipse">
            <a:avLst/>
          </a:prstGeom>
          <a:solidFill>
            <a:srgbClr val="FFFFFF"/>
          </a:solidFill>
          <a:ln w="15240">
            <a:solidFill>
              <a:srgbClr val="C7000B"/>
            </a:solidFill>
            <a:prstDash val="solid"/>
          </a:ln>
        </p:spPr>
      </p:sp>
      <p:sp>
        <p:nvSpPr>
          <p:cNvPr id="29" name="Text 27"/>
          <p:cNvSpPr/>
          <p:nvPr/>
        </p:nvSpPr>
        <p:spPr>
          <a:xfrm>
            <a:off x="521208" y="4754880"/>
            <a:ext cx="1005840" cy="109728"/>
          </a:xfrm>
          <a:prstGeom prst="rect">
            <a:avLst/>
          </a:prstGeom>
          <a:noFill/>
          <a:ln/>
        </p:spPr>
        <p:txBody>
          <a:bodyPr wrap="square" lIns="0" tIns="0" rIns="0" bIns="0" rtlCol="0" anchor="ctr"/>
          <a:lstStyle/>
          <a:p>
            <a:pPr algn="ctr" indent="0" marL="0">
              <a:buNone/>
            </a:pPr>
            <a:r>
              <a:rPr lang="en-US" sz="780" dirty="0">
                <a:solidFill>
                  <a:srgbClr val="666666"/>
                </a:solidFill>
                <a:latin typeface="Microsoft YaHei" pitchFamily="34" charset="0"/>
                <a:ea typeface="Microsoft YaHei" pitchFamily="34" charset="-122"/>
                <a:cs typeface="Microsoft YaHei" pitchFamily="34" charset="-120"/>
              </a:rPr>
              <a:t>请求进入</a:t>
            </a:r>
            <a:endParaRPr lang="en-US" sz="780" dirty="0"/>
          </a:p>
        </p:txBody>
      </p:sp>
      <p:sp>
        <p:nvSpPr>
          <p:cNvPr id="30" name="Shape 28"/>
          <p:cNvSpPr/>
          <p:nvPr/>
        </p:nvSpPr>
        <p:spPr>
          <a:xfrm>
            <a:off x="3182112" y="4398264"/>
            <a:ext cx="201168" cy="201168"/>
          </a:xfrm>
          <a:prstGeom prst="ellipse">
            <a:avLst/>
          </a:prstGeom>
          <a:solidFill>
            <a:srgbClr val="FFFFFF"/>
          </a:solidFill>
          <a:ln w="15240">
            <a:solidFill>
              <a:srgbClr val="C7000B"/>
            </a:solidFill>
            <a:prstDash val="solid"/>
          </a:ln>
        </p:spPr>
      </p:sp>
      <p:sp>
        <p:nvSpPr>
          <p:cNvPr id="31" name="Text 29"/>
          <p:cNvSpPr/>
          <p:nvPr/>
        </p:nvSpPr>
        <p:spPr>
          <a:xfrm>
            <a:off x="2770632" y="4754880"/>
            <a:ext cx="1005840" cy="109728"/>
          </a:xfrm>
          <a:prstGeom prst="rect">
            <a:avLst/>
          </a:prstGeom>
          <a:noFill/>
          <a:ln/>
        </p:spPr>
        <p:txBody>
          <a:bodyPr wrap="square" lIns="0" tIns="0" rIns="0" bIns="0" rtlCol="0" anchor="ctr"/>
          <a:lstStyle/>
          <a:p>
            <a:pPr algn="ctr" indent="0" marL="0">
              <a:buNone/>
            </a:pPr>
            <a:r>
              <a:rPr lang="en-US" sz="780" dirty="0">
                <a:solidFill>
                  <a:srgbClr val="666666"/>
                </a:solidFill>
                <a:latin typeface="Microsoft YaHei" pitchFamily="34" charset="0"/>
                <a:ea typeface="Microsoft YaHei" pitchFamily="34" charset="-122"/>
                <a:cs typeface="Microsoft YaHei" pitchFamily="34" charset="-120"/>
              </a:rPr>
              <a:t>排队 / Prefill</a:t>
            </a:r>
            <a:endParaRPr lang="en-US" sz="780" dirty="0"/>
          </a:p>
        </p:txBody>
      </p:sp>
      <p:sp>
        <p:nvSpPr>
          <p:cNvPr id="32" name="Shape 30"/>
          <p:cNvSpPr/>
          <p:nvPr/>
        </p:nvSpPr>
        <p:spPr>
          <a:xfrm>
            <a:off x="5266944" y="4398264"/>
            <a:ext cx="201168" cy="201168"/>
          </a:xfrm>
          <a:prstGeom prst="ellipse">
            <a:avLst/>
          </a:prstGeom>
          <a:solidFill>
            <a:srgbClr val="C7000B"/>
          </a:solidFill>
          <a:ln w="15240">
            <a:solidFill>
              <a:srgbClr val="C7000B"/>
            </a:solidFill>
            <a:prstDash val="solid"/>
          </a:ln>
        </p:spPr>
      </p:sp>
      <p:sp>
        <p:nvSpPr>
          <p:cNvPr id="33" name="Text 31"/>
          <p:cNvSpPr/>
          <p:nvPr/>
        </p:nvSpPr>
        <p:spPr>
          <a:xfrm>
            <a:off x="4855464" y="4754880"/>
            <a:ext cx="1005840" cy="109728"/>
          </a:xfrm>
          <a:prstGeom prst="rect">
            <a:avLst/>
          </a:prstGeom>
          <a:noFill/>
          <a:ln/>
        </p:spPr>
        <p:txBody>
          <a:bodyPr wrap="square" lIns="0" tIns="0" rIns="0" bIns="0" rtlCol="0" anchor="ctr"/>
          <a:lstStyle/>
          <a:p>
            <a:pPr algn="ctr" indent="0" marL="0">
              <a:buNone/>
            </a:pPr>
            <a:r>
              <a:rPr lang="en-US" sz="780" dirty="0">
                <a:solidFill>
                  <a:srgbClr val="666666"/>
                </a:solidFill>
                <a:latin typeface="Microsoft YaHei" pitchFamily="34" charset="0"/>
                <a:ea typeface="Microsoft YaHei" pitchFamily="34" charset="-122"/>
                <a:cs typeface="Microsoft YaHei" pitchFamily="34" charset="-120"/>
              </a:rPr>
              <a:t>首 token</a:t>
            </a:r>
            <a:endParaRPr lang="en-US" sz="780" dirty="0"/>
          </a:p>
        </p:txBody>
      </p:sp>
      <p:sp>
        <p:nvSpPr>
          <p:cNvPr id="34" name="Shape 32"/>
          <p:cNvSpPr/>
          <p:nvPr/>
        </p:nvSpPr>
        <p:spPr>
          <a:xfrm>
            <a:off x="7818120" y="4398264"/>
            <a:ext cx="201168" cy="201168"/>
          </a:xfrm>
          <a:prstGeom prst="ellipse">
            <a:avLst/>
          </a:prstGeom>
          <a:solidFill>
            <a:srgbClr val="FFFFFF"/>
          </a:solidFill>
          <a:ln w="15240">
            <a:solidFill>
              <a:srgbClr val="C7000B"/>
            </a:solidFill>
            <a:prstDash val="solid"/>
          </a:ln>
        </p:spPr>
      </p:sp>
      <p:sp>
        <p:nvSpPr>
          <p:cNvPr id="35" name="Text 33"/>
          <p:cNvSpPr/>
          <p:nvPr/>
        </p:nvSpPr>
        <p:spPr>
          <a:xfrm>
            <a:off x="7406640" y="4754880"/>
            <a:ext cx="1005840" cy="109728"/>
          </a:xfrm>
          <a:prstGeom prst="rect">
            <a:avLst/>
          </a:prstGeom>
          <a:noFill/>
          <a:ln/>
        </p:spPr>
        <p:txBody>
          <a:bodyPr wrap="square" lIns="0" tIns="0" rIns="0" bIns="0" rtlCol="0" anchor="ctr"/>
          <a:lstStyle/>
          <a:p>
            <a:pPr algn="ctr" indent="0" marL="0">
              <a:buNone/>
            </a:pPr>
            <a:r>
              <a:rPr lang="en-US" sz="780" dirty="0">
                <a:solidFill>
                  <a:srgbClr val="666666"/>
                </a:solidFill>
                <a:latin typeface="Microsoft YaHei" pitchFamily="34" charset="0"/>
                <a:ea typeface="Microsoft YaHei" pitchFamily="34" charset="-122"/>
                <a:cs typeface="Microsoft YaHei" pitchFamily="34" charset="-120"/>
              </a:rPr>
              <a:t>Decode 输出</a:t>
            </a:r>
            <a:endParaRPr lang="en-US" sz="780" dirty="0"/>
          </a:p>
        </p:txBody>
      </p:sp>
      <p:sp>
        <p:nvSpPr>
          <p:cNvPr id="36" name="Shape 34"/>
          <p:cNvSpPr/>
          <p:nvPr/>
        </p:nvSpPr>
        <p:spPr>
          <a:xfrm>
            <a:off x="10716768" y="4398264"/>
            <a:ext cx="201168" cy="201168"/>
          </a:xfrm>
          <a:prstGeom prst="ellipse">
            <a:avLst/>
          </a:prstGeom>
          <a:solidFill>
            <a:srgbClr val="FFFFFF"/>
          </a:solidFill>
          <a:ln w="15240">
            <a:solidFill>
              <a:srgbClr val="C7000B"/>
            </a:solidFill>
            <a:prstDash val="solid"/>
          </a:ln>
        </p:spPr>
      </p:sp>
      <p:sp>
        <p:nvSpPr>
          <p:cNvPr id="37" name="Text 35"/>
          <p:cNvSpPr/>
          <p:nvPr/>
        </p:nvSpPr>
        <p:spPr>
          <a:xfrm>
            <a:off x="10305288" y="4754880"/>
            <a:ext cx="1005840" cy="109728"/>
          </a:xfrm>
          <a:prstGeom prst="rect">
            <a:avLst/>
          </a:prstGeom>
          <a:noFill/>
          <a:ln/>
        </p:spPr>
        <p:txBody>
          <a:bodyPr wrap="square" lIns="0" tIns="0" rIns="0" bIns="0" rtlCol="0" anchor="ctr"/>
          <a:lstStyle/>
          <a:p>
            <a:pPr algn="ctr" indent="0" marL="0">
              <a:buNone/>
            </a:pPr>
            <a:r>
              <a:rPr lang="en-US" sz="780" dirty="0">
                <a:solidFill>
                  <a:srgbClr val="666666"/>
                </a:solidFill>
                <a:latin typeface="Microsoft YaHei" pitchFamily="34" charset="0"/>
                <a:ea typeface="Microsoft YaHei" pitchFamily="34" charset="-122"/>
                <a:cs typeface="Microsoft YaHei" pitchFamily="34" charset="-120"/>
              </a:rPr>
              <a:t>结束</a:t>
            </a:r>
            <a:endParaRPr lang="en-US" sz="780" dirty="0"/>
          </a:p>
        </p:txBody>
      </p:sp>
      <p:sp>
        <p:nvSpPr>
          <p:cNvPr id="38" name="Shape 36"/>
          <p:cNvSpPr/>
          <p:nvPr/>
        </p:nvSpPr>
        <p:spPr>
          <a:xfrm>
            <a:off x="804672" y="5522976"/>
            <a:ext cx="10469880" cy="493776"/>
          </a:xfrm>
          <a:prstGeom prst="roundRect">
            <a:avLst>
              <a:gd name="adj" fmla="val 9259"/>
            </a:avLst>
          </a:prstGeom>
          <a:solidFill>
            <a:srgbClr val="FFFFFF"/>
          </a:solidFill>
          <a:ln w="9525">
            <a:solidFill>
              <a:srgbClr val="DCDCDC"/>
            </a:solidFill>
            <a:prstDash val="solid"/>
          </a:ln>
        </p:spPr>
      </p:sp>
      <p:sp>
        <p:nvSpPr>
          <p:cNvPr id="39" name="Shape 37"/>
          <p:cNvSpPr/>
          <p:nvPr/>
        </p:nvSpPr>
        <p:spPr>
          <a:xfrm>
            <a:off x="804672" y="5522976"/>
            <a:ext cx="91440" cy="493776"/>
          </a:xfrm>
          <a:prstGeom prst="rect">
            <a:avLst/>
          </a:prstGeom>
          <a:solidFill>
            <a:srgbClr val="C7000B"/>
          </a:solidFill>
          <a:ln w="12700">
            <a:solidFill>
              <a:srgbClr val="C7000B"/>
            </a:solidFill>
            <a:prstDash val="solid"/>
          </a:ln>
        </p:spPr>
      </p:sp>
      <p:sp>
        <p:nvSpPr>
          <p:cNvPr id="40" name="Text 38"/>
          <p:cNvSpPr/>
          <p:nvPr/>
        </p:nvSpPr>
        <p:spPr>
          <a:xfrm>
            <a:off x="1051560" y="5632704"/>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41" name="Text 39"/>
          <p:cNvSpPr/>
          <p:nvPr/>
        </p:nvSpPr>
        <p:spPr>
          <a:xfrm>
            <a:off x="1874520" y="5687568"/>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TTFT 看启动体验，TPOT 看输出流畅度，Throughput 和显存看系统容量与成本。</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08</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07 / BOTTLENECKS</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推理为什么慢、为什么贵</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瓶颈不是单点问题：计算、显存、带宽、调度和网络会在不同场景轮流成为主因。</a:t>
            </a:r>
            <a:endParaRPr lang="en-US" sz="1080" dirty="0"/>
          </a:p>
        </p:txBody>
      </p:sp>
      <p:sp>
        <p:nvSpPr>
          <p:cNvPr id="11" name="Text 9"/>
          <p:cNvSpPr/>
          <p:nvPr/>
        </p:nvSpPr>
        <p:spPr>
          <a:xfrm>
            <a:off x="914400" y="1901952"/>
            <a:ext cx="594360" cy="128016"/>
          </a:xfrm>
          <a:prstGeom prst="rect">
            <a:avLst/>
          </a:prstGeom>
          <a:noFill/>
          <a:ln/>
        </p:spPr>
        <p:txBody>
          <a:bodyPr wrap="square" lIns="0" tIns="0" rIns="0" bIns="0" rtlCol="0" anchor="ctr"/>
          <a:lstStyle/>
          <a:p>
            <a:pPr indent="0" marL="0">
              <a:buNone/>
            </a:pPr>
            <a:r>
              <a:rPr lang="en-US" sz="950" b="1" dirty="0">
                <a:solidFill>
                  <a:srgbClr val="111111"/>
                </a:solidFill>
                <a:latin typeface="Microsoft YaHei" pitchFamily="34" charset="0"/>
                <a:ea typeface="Microsoft YaHei" pitchFamily="34" charset="-122"/>
                <a:cs typeface="Microsoft YaHei" pitchFamily="34" charset="-120"/>
              </a:rPr>
              <a:t>计算</a:t>
            </a:r>
            <a:endParaRPr lang="en-US" sz="950" dirty="0"/>
          </a:p>
        </p:txBody>
      </p:sp>
      <p:sp>
        <p:nvSpPr>
          <p:cNvPr id="12" name="Shape 10"/>
          <p:cNvSpPr/>
          <p:nvPr/>
        </p:nvSpPr>
        <p:spPr>
          <a:xfrm>
            <a:off x="1664208" y="1901952"/>
            <a:ext cx="5303520" cy="164592"/>
          </a:xfrm>
          <a:prstGeom prst="rect">
            <a:avLst/>
          </a:prstGeom>
          <a:solidFill>
            <a:srgbClr val="E4E4E4"/>
          </a:solidFill>
          <a:ln w="12700">
            <a:solidFill>
              <a:srgbClr val="E4E4E4"/>
            </a:solidFill>
            <a:prstDash val="solid"/>
          </a:ln>
        </p:spPr>
      </p:sp>
      <p:sp>
        <p:nvSpPr>
          <p:cNvPr id="13" name="Shape 11"/>
          <p:cNvSpPr/>
          <p:nvPr/>
        </p:nvSpPr>
        <p:spPr>
          <a:xfrm>
            <a:off x="1664208" y="1901952"/>
            <a:ext cx="4348886" cy="164592"/>
          </a:xfrm>
          <a:prstGeom prst="rect">
            <a:avLst/>
          </a:prstGeom>
          <a:solidFill>
            <a:srgbClr val="C7000B"/>
          </a:solidFill>
          <a:ln w="12700">
            <a:solidFill>
              <a:srgbClr val="C7000B"/>
            </a:solidFill>
            <a:prstDash val="solid"/>
          </a:ln>
        </p:spPr>
      </p:sp>
      <p:sp>
        <p:nvSpPr>
          <p:cNvPr id="14" name="Text 12"/>
          <p:cNvSpPr/>
          <p:nvPr/>
        </p:nvSpPr>
        <p:spPr>
          <a:xfrm>
            <a:off x="7269480" y="1828800"/>
            <a:ext cx="3474720" cy="210312"/>
          </a:xfrm>
          <a:prstGeom prst="rect">
            <a:avLst/>
          </a:prstGeom>
          <a:noFill/>
          <a:ln/>
        </p:spPr>
        <p:txBody>
          <a:bodyPr wrap="square" lIns="0" tIns="0" rIns="0" bIns="0" rtlCol="0" anchor="ctr">
            <a:normAutofit/>
          </a:bodyPr>
          <a:lstStyle/>
          <a:p>
            <a:pPr indent="0" marL="0">
              <a:buNone/>
            </a:pPr>
            <a:r>
              <a:rPr lang="en-US" sz="880" dirty="0">
                <a:solidFill>
                  <a:srgbClr val="666666"/>
                </a:solidFill>
                <a:latin typeface="Microsoft YaHei" pitchFamily="34" charset="0"/>
                <a:ea typeface="Microsoft YaHei" pitchFamily="34" charset="-122"/>
                <a:cs typeface="Microsoft YaHei" pitchFamily="34" charset="-120"/>
              </a:rPr>
              <a:t>Prefill / 矩阵乘法 / Attention</a:t>
            </a:r>
            <a:endParaRPr lang="en-US" sz="880" dirty="0"/>
          </a:p>
        </p:txBody>
      </p:sp>
      <p:sp>
        <p:nvSpPr>
          <p:cNvPr id="15" name="Text 13"/>
          <p:cNvSpPr/>
          <p:nvPr/>
        </p:nvSpPr>
        <p:spPr>
          <a:xfrm>
            <a:off x="914400" y="2514600"/>
            <a:ext cx="594360" cy="128016"/>
          </a:xfrm>
          <a:prstGeom prst="rect">
            <a:avLst/>
          </a:prstGeom>
          <a:noFill/>
          <a:ln/>
        </p:spPr>
        <p:txBody>
          <a:bodyPr wrap="square" lIns="0" tIns="0" rIns="0" bIns="0" rtlCol="0" anchor="ctr"/>
          <a:lstStyle/>
          <a:p>
            <a:pPr indent="0" marL="0">
              <a:buNone/>
            </a:pPr>
            <a:r>
              <a:rPr lang="en-US" sz="950" b="1" dirty="0">
                <a:solidFill>
                  <a:srgbClr val="111111"/>
                </a:solidFill>
                <a:latin typeface="Microsoft YaHei" pitchFamily="34" charset="0"/>
                <a:ea typeface="Microsoft YaHei" pitchFamily="34" charset="-122"/>
                <a:cs typeface="Microsoft YaHei" pitchFamily="34" charset="-120"/>
              </a:rPr>
              <a:t>显存</a:t>
            </a:r>
            <a:endParaRPr lang="en-US" sz="950" dirty="0"/>
          </a:p>
        </p:txBody>
      </p:sp>
      <p:sp>
        <p:nvSpPr>
          <p:cNvPr id="16" name="Shape 14"/>
          <p:cNvSpPr/>
          <p:nvPr/>
        </p:nvSpPr>
        <p:spPr>
          <a:xfrm>
            <a:off x="1664208" y="2514600"/>
            <a:ext cx="5303520" cy="164592"/>
          </a:xfrm>
          <a:prstGeom prst="rect">
            <a:avLst/>
          </a:prstGeom>
          <a:solidFill>
            <a:srgbClr val="E4E4E4"/>
          </a:solidFill>
          <a:ln w="12700">
            <a:solidFill>
              <a:srgbClr val="E4E4E4"/>
            </a:solidFill>
            <a:prstDash val="solid"/>
          </a:ln>
        </p:spPr>
      </p:sp>
      <p:sp>
        <p:nvSpPr>
          <p:cNvPr id="17" name="Shape 15"/>
          <p:cNvSpPr/>
          <p:nvPr/>
        </p:nvSpPr>
        <p:spPr>
          <a:xfrm>
            <a:off x="1664208" y="2514600"/>
            <a:ext cx="3606394" cy="164592"/>
          </a:xfrm>
          <a:prstGeom prst="rect">
            <a:avLst/>
          </a:prstGeom>
          <a:solidFill>
            <a:srgbClr val="B99020"/>
          </a:solidFill>
          <a:ln w="12700">
            <a:solidFill>
              <a:srgbClr val="B99020"/>
            </a:solidFill>
            <a:prstDash val="solid"/>
          </a:ln>
        </p:spPr>
      </p:sp>
      <p:sp>
        <p:nvSpPr>
          <p:cNvPr id="18" name="Text 16"/>
          <p:cNvSpPr/>
          <p:nvPr/>
        </p:nvSpPr>
        <p:spPr>
          <a:xfrm>
            <a:off x="7269480" y="2441448"/>
            <a:ext cx="3474720" cy="210312"/>
          </a:xfrm>
          <a:prstGeom prst="rect">
            <a:avLst/>
          </a:prstGeom>
          <a:noFill/>
          <a:ln/>
        </p:spPr>
        <p:txBody>
          <a:bodyPr wrap="square" lIns="0" tIns="0" rIns="0" bIns="0" rtlCol="0" anchor="ctr">
            <a:normAutofit/>
          </a:bodyPr>
          <a:lstStyle/>
          <a:p>
            <a:pPr indent="0" marL="0">
              <a:buNone/>
            </a:pPr>
            <a:r>
              <a:rPr lang="en-US" sz="880" dirty="0">
                <a:solidFill>
                  <a:srgbClr val="666666"/>
                </a:solidFill>
                <a:latin typeface="Microsoft YaHei" pitchFamily="34" charset="0"/>
                <a:ea typeface="Microsoft YaHei" pitchFamily="34" charset="-122"/>
                <a:cs typeface="Microsoft YaHei" pitchFamily="34" charset="-120"/>
              </a:rPr>
              <a:t>模型权重 / KV Cache / 并发</a:t>
            </a:r>
            <a:endParaRPr lang="en-US" sz="880" dirty="0"/>
          </a:p>
        </p:txBody>
      </p:sp>
      <p:sp>
        <p:nvSpPr>
          <p:cNvPr id="19" name="Text 17"/>
          <p:cNvSpPr/>
          <p:nvPr/>
        </p:nvSpPr>
        <p:spPr>
          <a:xfrm>
            <a:off x="914400" y="3127248"/>
            <a:ext cx="594360" cy="128016"/>
          </a:xfrm>
          <a:prstGeom prst="rect">
            <a:avLst/>
          </a:prstGeom>
          <a:noFill/>
          <a:ln/>
        </p:spPr>
        <p:txBody>
          <a:bodyPr wrap="square" lIns="0" tIns="0" rIns="0" bIns="0" rtlCol="0" anchor="ctr"/>
          <a:lstStyle/>
          <a:p>
            <a:pPr indent="0" marL="0">
              <a:buNone/>
            </a:pPr>
            <a:r>
              <a:rPr lang="en-US" sz="950" b="1" dirty="0">
                <a:solidFill>
                  <a:srgbClr val="111111"/>
                </a:solidFill>
                <a:latin typeface="Microsoft YaHei" pitchFamily="34" charset="0"/>
                <a:ea typeface="Microsoft YaHei" pitchFamily="34" charset="-122"/>
                <a:cs typeface="Microsoft YaHei" pitchFamily="34" charset="-120"/>
              </a:rPr>
              <a:t>带宽</a:t>
            </a:r>
            <a:endParaRPr lang="en-US" sz="950" dirty="0"/>
          </a:p>
        </p:txBody>
      </p:sp>
      <p:sp>
        <p:nvSpPr>
          <p:cNvPr id="20" name="Shape 18"/>
          <p:cNvSpPr/>
          <p:nvPr/>
        </p:nvSpPr>
        <p:spPr>
          <a:xfrm>
            <a:off x="1664208" y="3127248"/>
            <a:ext cx="5303520" cy="164592"/>
          </a:xfrm>
          <a:prstGeom prst="rect">
            <a:avLst/>
          </a:prstGeom>
          <a:solidFill>
            <a:srgbClr val="E4E4E4"/>
          </a:solidFill>
          <a:ln w="12700">
            <a:solidFill>
              <a:srgbClr val="E4E4E4"/>
            </a:solidFill>
            <a:prstDash val="solid"/>
          </a:ln>
        </p:spPr>
      </p:sp>
      <p:sp>
        <p:nvSpPr>
          <p:cNvPr id="21" name="Shape 19"/>
          <p:cNvSpPr/>
          <p:nvPr/>
        </p:nvSpPr>
        <p:spPr>
          <a:xfrm>
            <a:off x="1664208" y="3127248"/>
            <a:ext cx="3924605" cy="164592"/>
          </a:xfrm>
          <a:prstGeom prst="rect">
            <a:avLst/>
          </a:prstGeom>
          <a:solidFill>
            <a:srgbClr val="C7000B"/>
          </a:solidFill>
          <a:ln w="12700">
            <a:solidFill>
              <a:srgbClr val="C7000B"/>
            </a:solidFill>
            <a:prstDash val="solid"/>
          </a:ln>
        </p:spPr>
      </p:sp>
      <p:sp>
        <p:nvSpPr>
          <p:cNvPr id="22" name="Text 20"/>
          <p:cNvSpPr/>
          <p:nvPr/>
        </p:nvSpPr>
        <p:spPr>
          <a:xfrm>
            <a:off x="7269480" y="3054096"/>
            <a:ext cx="3474720" cy="210312"/>
          </a:xfrm>
          <a:prstGeom prst="rect">
            <a:avLst/>
          </a:prstGeom>
          <a:noFill/>
          <a:ln/>
        </p:spPr>
        <p:txBody>
          <a:bodyPr wrap="square" lIns="0" tIns="0" rIns="0" bIns="0" rtlCol="0" anchor="ctr">
            <a:normAutofit/>
          </a:bodyPr>
          <a:lstStyle/>
          <a:p>
            <a:pPr indent="0" marL="0">
              <a:buNone/>
            </a:pPr>
            <a:r>
              <a:rPr lang="en-US" sz="880" dirty="0">
                <a:solidFill>
                  <a:srgbClr val="666666"/>
                </a:solidFill>
                <a:latin typeface="Microsoft YaHei" pitchFamily="34" charset="0"/>
                <a:ea typeface="Microsoft YaHei" pitchFamily="34" charset="-122"/>
                <a:cs typeface="Microsoft YaHei" pitchFamily="34" charset="-120"/>
              </a:rPr>
              <a:t>Decode 反复读取权重和 KV</a:t>
            </a:r>
            <a:endParaRPr lang="en-US" sz="880" dirty="0"/>
          </a:p>
        </p:txBody>
      </p:sp>
      <p:sp>
        <p:nvSpPr>
          <p:cNvPr id="23" name="Text 21"/>
          <p:cNvSpPr/>
          <p:nvPr/>
        </p:nvSpPr>
        <p:spPr>
          <a:xfrm>
            <a:off x="914400" y="3739896"/>
            <a:ext cx="594360" cy="128016"/>
          </a:xfrm>
          <a:prstGeom prst="rect">
            <a:avLst/>
          </a:prstGeom>
          <a:noFill/>
          <a:ln/>
        </p:spPr>
        <p:txBody>
          <a:bodyPr wrap="square" lIns="0" tIns="0" rIns="0" bIns="0" rtlCol="0" anchor="ctr"/>
          <a:lstStyle/>
          <a:p>
            <a:pPr indent="0" marL="0">
              <a:buNone/>
            </a:pPr>
            <a:r>
              <a:rPr lang="en-US" sz="950" b="1" dirty="0">
                <a:solidFill>
                  <a:srgbClr val="111111"/>
                </a:solidFill>
                <a:latin typeface="Microsoft YaHei" pitchFamily="34" charset="0"/>
                <a:ea typeface="Microsoft YaHei" pitchFamily="34" charset="-122"/>
                <a:cs typeface="Microsoft YaHei" pitchFamily="34" charset="-120"/>
              </a:rPr>
              <a:t>调度</a:t>
            </a:r>
            <a:endParaRPr lang="en-US" sz="950" dirty="0"/>
          </a:p>
        </p:txBody>
      </p:sp>
      <p:sp>
        <p:nvSpPr>
          <p:cNvPr id="24" name="Shape 22"/>
          <p:cNvSpPr/>
          <p:nvPr/>
        </p:nvSpPr>
        <p:spPr>
          <a:xfrm>
            <a:off x="1664208" y="3739896"/>
            <a:ext cx="5303520" cy="164592"/>
          </a:xfrm>
          <a:prstGeom prst="rect">
            <a:avLst/>
          </a:prstGeom>
          <a:solidFill>
            <a:srgbClr val="E4E4E4"/>
          </a:solidFill>
          <a:ln w="12700">
            <a:solidFill>
              <a:srgbClr val="E4E4E4"/>
            </a:solidFill>
            <a:prstDash val="solid"/>
          </a:ln>
        </p:spPr>
      </p:sp>
      <p:sp>
        <p:nvSpPr>
          <p:cNvPr id="25" name="Shape 23"/>
          <p:cNvSpPr/>
          <p:nvPr/>
        </p:nvSpPr>
        <p:spPr>
          <a:xfrm>
            <a:off x="1664208" y="3739896"/>
            <a:ext cx="2916936" cy="164592"/>
          </a:xfrm>
          <a:prstGeom prst="rect">
            <a:avLst/>
          </a:prstGeom>
          <a:solidFill>
            <a:srgbClr val="385A7C"/>
          </a:solidFill>
          <a:ln w="12700">
            <a:solidFill>
              <a:srgbClr val="385A7C"/>
            </a:solidFill>
            <a:prstDash val="solid"/>
          </a:ln>
        </p:spPr>
      </p:sp>
      <p:sp>
        <p:nvSpPr>
          <p:cNvPr id="26" name="Text 24"/>
          <p:cNvSpPr/>
          <p:nvPr/>
        </p:nvSpPr>
        <p:spPr>
          <a:xfrm>
            <a:off x="7269480" y="3666744"/>
            <a:ext cx="3474720" cy="210312"/>
          </a:xfrm>
          <a:prstGeom prst="rect">
            <a:avLst/>
          </a:prstGeom>
          <a:noFill/>
          <a:ln/>
        </p:spPr>
        <p:txBody>
          <a:bodyPr wrap="square" lIns="0" tIns="0" rIns="0" bIns="0" rtlCol="0" anchor="ctr">
            <a:normAutofit/>
          </a:bodyPr>
          <a:lstStyle/>
          <a:p>
            <a:pPr indent="0" marL="0">
              <a:buNone/>
            </a:pPr>
            <a:r>
              <a:rPr lang="en-US" sz="880" dirty="0">
                <a:solidFill>
                  <a:srgbClr val="666666"/>
                </a:solidFill>
                <a:latin typeface="Microsoft YaHei" pitchFamily="34" charset="0"/>
                <a:ea typeface="Microsoft YaHei" pitchFamily="34" charset="-122"/>
                <a:cs typeface="Microsoft YaHei" pitchFamily="34" charset="-120"/>
              </a:rPr>
              <a:t>请求长短不一 / batch 不满</a:t>
            </a:r>
            <a:endParaRPr lang="en-US" sz="880" dirty="0"/>
          </a:p>
        </p:txBody>
      </p:sp>
      <p:sp>
        <p:nvSpPr>
          <p:cNvPr id="27" name="Text 25"/>
          <p:cNvSpPr/>
          <p:nvPr/>
        </p:nvSpPr>
        <p:spPr>
          <a:xfrm>
            <a:off x="914400" y="4352544"/>
            <a:ext cx="594360" cy="128016"/>
          </a:xfrm>
          <a:prstGeom prst="rect">
            <a:avLst/>
          </a:prstGeom>
          <a:noFill/>
          <a:ln/>
        </p:spPr>
        <p:txBody>
          <a:bodyPr wrap="square" lIns="0" tIns="0" rIns="0" bIns="0" rtlCol="0" anchor="ctr"/>
          <a:lstStyle/>
          <a:p>
            <a:pPr indent="0" marL="0">
              <a:buNone/>
            </a:pPr>
            <a:r>
              <a:rPr lang="en-US" sz="950" b="1" dirty="0">
                <a:solidFill>
                  <a:srgbClr val="111111"/>
                </a:solidFill>
                <a:latin typeface="Microsoft YaHei" pitchFamily="34" charset="0"/>
                <a:ea typeface="Microsoft YaHei" pitchFamily="34" charset="-122"/>
                <a:cs typeface="Microsoft YaHei" pitchFamily="34" charset="-120"/>
              </a:rPr>
              <a:t>网络</a:t>
            </a:r>
            <a:endParaRPr lang="en-US" sz="950" dirty="0"/>
          </a:p>
        </p:txBody>
      </p:sp>
      <p:sp>
        <p:nvSpPr>
          <p:cNvPr id="28" name="Shape 26"/>
          <p:cNvSpPr/>
          <p:nvPr/>
        </p:nvSpPr>
        <p:spPr>
          <a:xfrm>
            <a:off x="1664208" y="4352544"/>
            <a:ext cx="5303520" cy="164592"/>
          </a:xfrm>
          <a:prstGeom prst="rect">
            <a:avLst/>
          </a:prstGeom>
          <a:solidFill>
            <a:srgbClr val="E4E4E4"/>
          </a:solidFill>
          <a:ln w="12700">
            <a:solidFill>
              <a:srgbClr val="E4E4E4"/>
            </a:solidFill>
            <a:prstDash val="solid"/>
          </a:ln>
        </p:spPr>
      </p:sp>
      <p:sp>
        <p:nvSpPr>
          <p:cNvPr id="29" name="Shape 27"/>
          <p:cNvSpPr/>
          <p:nvPr/>
        </p:nvSpPr>
        <p:spPr>
          <a:xfrm>
            <a:off x="1664208" y="4352544"/>
            <a:ext cx="2333549" cy="164592"/>
          </a:xfrm>
          <a:prstGeom prst="rect">
            <a:avLst/>
          </a:prstGeom>
          <a:solidFill>
            <a:srgbClr val="0F8B8D"/>
          </a:solidFill>
          <a:ln w="12700">
            <a:solidFill>
              <a:srgbClr val="0F8B8D"/>
            </a:solidFill>
            <a:prstDash val="solid"/>
          </a:ln>
        </p:spPr>
      </p:sp>
      <p:sp>
        <p:nvSpPr>
          <p:cNvPr id="30" name="Text 28"/>
          <p:cNvSpPr/>
          <p:nvPr/>
        </p:nvSpPr>
        <p:spPr>
          <a:xfrm>
            <a:off x="7269480" y="4279392"/>
            <a:ext cx="3474720" cy="210312"/>
          </a:xfrm>
          <a:prstGeom prst="rect">
            <a:avLst/>
          </a:prstGeom>
          <a:noFill/>
          <a:ln/>
        </p:spPr>
        <p:txBody>
          <a:bodyPr wrap="square" lIns="0" tIns="0" rIns="0" bIns="0" rtlCol="0" anchor="ctr">
            <a:normAutofit/>
          </a:bodyPr>
          <a:lstStyle/>
          <a:p>
            <a:pPr indent="0" marL="0">
              <a:buNone/>
            </a:pPr>
            <a:r>
              <a:rPr lang="en-US" sz="880" dirty="0">
                <a:solidFill>
                  <a:srgbClr val="666666"/>
                </a:solidFill>
                <a:latin typeface="Microsoft YaHei" pitchFamily="34" charset="0"/>
                <a:ea typeface="Microsoft YaHei" pitchFamily="34" charset="-122"/>
                <a:cs typeface="Microsoft YaHei" pitchFamily="34" charset="-120"/>
              </a:rPr>
              <a:t>多机通信 / KV 传输</a:t>
            </a:r>
            <a:endParaRPr lang="en-US" sz="880" dirty="0"/>
          </a:p>
        </p:txBody>
      </p:sp>
      <p:sp>
        <p:nvSpPr>
          <p:cNvPr id="31" name="Shape 29"/>
          <p:cNvSpPr/>
          <p:nvPr/>
        </p:nvSpPr>
        <p:spPr>
          <a:xfrm>
            <a:off x="960120" y="4846320"/>
            <a:ext cx="9966960" cy="502920"/>
          </a:xfrm>
          <a:prstGeom prst="roundRect">
            <a:avLst>
              <a:gd name="adj" fmla="val 8182"/>
            </a:avLst>
          </a:prstGeom>
          <a:solidFill>
            <a:srgbClr val="FFFFFF"/>
          </a:solidFill>
          <a:ln w="9525">
            <a:solidFill>
              <a:srgbClr val="DCDCDC"/>
            </a:solidFill>
            <a:prstDash val="solid"/>
          </a:ln>
        </p:spPr>
      </p:sp>
      <p:sp>
        <p:nvSpPr>
          <p:cNvPr id="32" name="Text 30"/>
          <p:cNvSpPr/>
          <p:nvPr/>
        </p:nvSpPr>
        <p:spPr>
          <a:xfrm>
            <a:off x="1143000" y="5029200"/>
            <a:ext cx="9555480" cy="118872"/>
          </a:xfrm>
          <a:prstGeom prst="rect">
            <a:avLst/>
          </a:prstGeom>
          <a:noFill/>
          <a:ln/>
        </p:spPr>
        <p:txBody>
          <a:bodyPr wrap="square" lIns="0" tIns="0" rIns="0" bIns="0" rtlCol="0" anchor="ctr"/>
          <a:lstStyle/>
          <a:p>
            <a:pPr algn="ctr" indent="0" marL="0">
              <a:buNone/>
            </a:pPr>
            <a:r>
              <a:rPr lang="en-US" sz="1060" b="1" dirty="0">
                <a:solidFill>
                  <a:srgbClr val="111111"/>
                </a:solidFill>
                <a:latin typeface="Microsoft YaHei" pitchFamily="34" charset="0"/>
                <a:ea typeface="Microsoft YaHei" pitchFamily="34" charset="-122"/>
                <a:cs typeface="Microsoft YaHei" pitchFamily="34" charset="-120"/>
              </a:rPr>
              <a:t>定位方法：端到端耗时 = 排队 + Prefill + Decode + 网络 / 后处理</a:t>
            </a:r>
            <a:endParaRPr lang="en-US" sz="1060" dirty="0"/>
          </a:p>
        </p:txBody>
      </p:sp>
      <p:sp>
        <p:nvSpPr>
          <p:cNvPr id="33" name="Shape 31"/>
          <p:cNvSpPr/>
          <p:nvPr/>
        </p:nvSpPr>
        <p:spPr>
          <a:xfrm>
            <a:off x="804672" y="5522976"/>
            <a:ext cx="10469880" cy="493776"/>
          </a:xfrm>
          <a:prstGeom prst="roundRect">
            <a:avLst>
              <a:gd name="adj" fmla="val 9259"/>
            </a:avLst>
          </a:prstGeom>
          <a:solidFill>
            <a:srgbClr val="FFFFFF"/>
          </a:solidFill>
          <a:ln w="9525">
            <a:solidFill>
              <a:srgbClr val="DCDCDC"/>
            </a:solidFill>
            <a:prstDash val="solid"/>
          </a:ln>
        </p:spPr>
      </p:sp>
      <p:sp>
        <p:nvSpPr>
          <p:cNvPr id="34" name="Shape 32"/>
          <p:cNvSpPr/>
          <p:nvPr/>
        </p:nvSpPr>
        <p:spPr>
          <a:xfrm>
            <a:off x="804672" y="5522976"/>
            <a:ext cx="91440" cy="493776"/>
          </a:xfrm>
          <a:prstGeom prst="rect">
            <a:avLst/>
          </a:prstGeom>
          <a:solidFill>
            <a:srgbClr val="C7000B"/>
          </a:solidFill>
          <a:ln w="12700">
            <a:solidFill>
              <a:srgbClr val="C7000B"/>
            </a:solidFill>
            <a:prstDash val="solid"/>
          </a:ln>
        </p:spPr>
      </p:sp>
      <p:sp>
        <p:nvSpPr>
          <p:cNvPr id="35" name="Text 33"/>
          <p:cNvSpPr/>
          <p:nvPr/>
        </p:nvSpPr>
        <p:spPr>
          <a:xfrm>
            <a:off x="1051560" y="5632704"/>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36" name="Text 34"/>
          <p:cNvSpPr/>
          <p:nvPr/>
        </p:nvSpPr>
        <p:spPr>
          <a:xfrm>
            <a:off x="1874520" y="5687568"/>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端到端耗时可以拆成排队、Prefill、Decode、网络和后处理。</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09</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08 / KV CACHE</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KV Cache：用显存换 Decode 速度</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缓存历史 token 的 Key / Value，Decode 时不用重复计算已经看过的上下文。</a:t>
            </a:r>
            <a:endParaRPr lang="en-US" sz="1080" dirty="0"/>
          </a:p>
        </p:txBody>
      </p:sp>
      <p:sp>
        <p:nvSpPr>
          <p:cNvPr id="11" name="Shape 9"/>
          <p:cNvSpPr/>
          <p:nvPr/>
        </p:nvSpPr>
        <p:spPr>
          <a:xfrm>
            <a:off x="749808" y="1828800"/>
            <a:ext cx="4846320" cy="3246120"/>
          </a:xfrm>
          <a:prstGeom prst="roundRect">
            <a:avLst>
              <a:gd name="adj" fmla="val 1268"/>
            </a:avLst>
          </a:prstGeom>
          <a:solidFill>
            <a:srgbClr val="FFFFFF"/>
          </a:solidFill>
          <a:ln w="9525">
            <a:solidFill>
              <a:srgbClr val="DCDCDC"/>
            </a:solidFill>
            <a:prstDash val="solid"/>
          </a:ln>
          <a:effectLst>
            <a:outerShdw sx="100000" sy="100000" kx="0" ky="0" algn="bl" rotWithShape="0" blurRad="12700" dist="50800" dir="2700000">
              <a:srgbClr val="777777">
                <a:alpha val="11000"/>
              </a:srgbClr>
            </a:outerShdw>
          </a:effectLst>
        </p:spPr>
      </p:sp>
      <p:sp>
        <p:nvSpPr>
          <p:cNvPr id="12" name="Shape 10"/>
          <p:cNvSpPr/>
          <p:nvPr/>
        </p:nvSpPr>
        <p:spPr>
          <a:xfrm>
            <a:off x="6327648" y="1828800"/>
            <a:ext cx="4846320" cy="3246120"/>
          </a:xfrm>
          <a:prstGeom prst="roundRect">
            <a:avLst>
              <a:gd name="adj" fmla="val 1268"/>
            </a:avLst>
          </a:prstGeom>
          <a:solidFill>
            <a:srgbClr val="FFF1F2"/>
          </a:solidFill>
          <a:ln w="13970">
            <a:solidFill>
              <a:srgbClr val="C7000B"/>
            </a:solidFill>
            <a:prstDash val="solid"/>
          </a:ln>
          <a:effectLst>
            <a:outerShdw sx="100000" sy="100000" kx="0" ky="0" algn="bl" rotWithShape="0" blurRad="12700" dist="50800" dir="2700000">
              <a:srgbClr val="777777">
                <a:alpha val="11000"/>
              </a:srgbClr>
            </a:outerShdw>
          </a:effectLst>
        </p:spPr>
      </p:sp>
      <p:sp>
        <p:nvSpPr>
          <p:cNvPr id="13" name="Text 11"/>
          <p:cNvSpPr/>
          <p:nvPr/>
        </p:nvSpPr>
        <p:spPr>
          <a:xfrm>
            <a:off x="1051560" y="2084832"/>
            <a:ext cx="1920240" cy="201168"/>
          </a:xfrm>
          <a:prstGeom prst="rect">
            <a:avLst/>
          </a:prstGeom>
          <a:noFill/>
          <a:ln/>
        </p:spPr>
        <p:txBody>
          <a:bodyPr wrap="square" lIns="0" tIns="0" rIns="0" bIns="0" rtlCol="0" anchor="ctr"/>
          <a:lstStyle/>
          <a:p>
            <a:pPr indent="0" marL="0">
              <a:buNone/>
            </a:pPr>
            <a:r>
              <a:rPr lang="en-US" sz="1450" b="1" dirty="0">
                <a:solidFill>
                  <a:srgbClr val="666666"/>
                </a:solidFill>
                <a:latin typeface="Microsoft YaHei" pitchFamily="34" charset="0"/>
                <a:ea typeface="Microsoft YaHei" pitchFamily="34" charset="-122"/>
                <a:cs typeface="Microsoft YaHei" pitchFamily="34" charset="-120"/>
              </a:rPr>
              <a:t>没有 KV Cache</a:t>
            </a:r>
            <a:endParaRPr lang="en-US" sz="1450" dirty="0"/>
          </a:p>
        </p:txBody>
      </p:sp>
      <p:sp>
        <p:nvSpPr>
          <p:cNvPr id="14" name="Text 12"/>
          <p:cNvSpPr/>
          <p:nvPr/>
        </p:nvSpPr>
        <p:spPr>
          <a:xfrm>
            <a:off x="1051560" y="2505456"/>
            <a:ext cx="3383280" cy="182880"/>
          </a:xfrm>
          <a:prstGeom prst="rect">
            <a:avLst/>
          </a:prstGeom>
          <a:noFill/>
          <a:ln/>
        </p:spPr>
        <p:txBody>
          <a:bodyPr wrap="square" lIns="0" tIns="0" rIns="0" bIns="0" rtlCol="0" anchor="ctr"/>
          <a:lstStyle/>
          <a:p>
            <a:pPr indent="0" marL="0">
              <a:buNone/>
            </a:pPr>
            <a:r>
              <a:rPr lang="en-US" sz="1020" dirty="0">
                <a:solidFill>
                  <a:srgbClr val="666666"/>
                </a:solidFill>
                <a:latin typeface="Microsoft YaHei" pitchFamily="34" charset="0"/>
                <a:ea typeface="Microsoft YaHei" pitchFamily="34" charset="-122"/>
                <a:cs typeface="Microsoft YaHei" pitchFamily="34" charset="-120"/>
              </a:rPr>
              <a:t>历史上下文反复计算</a:t>
            </a:r>
            <a:endParaRPr lang="en-US" sz="1020" dirty="0"/>
          </a:p>
        </p:txBody>
      </p:sp>
      <p:sp>
        <p:nvSpPr>
          <p:cNvPr id="15" name="Shape 13"/>
          <p:cNvSpPr/>
          <p:nvPr/>
        </p:nvSpPr>
        <p:spPr>
          <a:xfrm>
            <a:off x="1078992" y="3273552"/>
            <a:ext cx="475488" cy="365760"/>
          </a:xfrm>
          <a:prstGeom prst="roundRect">
            <a:avLst>
              <a:gd name="adj" fmla="val 11250"/>
            </a:avLst>
          </a:prstGeom>
          <a:solidFill>
            <a:srgbClr val="EFEFEF"/>
          </a:solidFill>
          <a:ln w="9525">
            <a:solidFill>
              <a:srgbClr val="DCDCDC"/>
            </a:solidFill>
            <a:prstDash val="solid"/>
          </a:ln>
        </p:spPr>
      </p:sp>
      <p:sp>
        <p:nvSpPr>
          <p:cNvPr id="16" name="Text 14"/>
          <p:cNvSpPr/>
          <p:nvPr/>
        </p:nvSpPr>
        <p:spPr>
          <a:xfrm>
            <a:off x="1078992" y="3401568"/>
            <a:ext cx="475488" cy="82296"/>
          </a:xfrm>
          <a:prstGeom prst="rect">
            <a:avLst/>
          </a:prstGeom>
          <a:noFill/>
          <a:ln/>
        </p:spPr>
        <p:txBody>
          <a:bodyPr wrap="square" lIns="0" tIns="0" rIns="0" bIns="0" rtlCol="0" anchor="ctr"/>
          <a:lstStyle/>
          <a:p>
            <a:pPr algn="ctr" indent="0" marL="0">
              <a:buNone/>
            </a:pPr>
            <a:r>
              <a:rPr lang="en-US" sz="700" b="1" dirty="0">
                <a:solidFill>
                  <a:srgbClr val="666666"/>
                </a:solidFill>
                <a:latin typeface="Microsoft YaHei" pitchFamily="34" charset="0"/>
                <a:ea typeface="Microsoft YaHei" pitchFamily="34" charset="-122"/>
                <a:cs typeface="Microsoft YaHei" pitchFamily="34" charset="-120"/>
              </a:rPr>
              <a:t>T1</a:t>
            </a:r>
            <a:endParaRPr lang="en-US" sz="700" dirty="0"/>
          </a:p>
        </p:txBody>
      </p:sp>
      <p:sp>
        <p:nvSpPr>
          <p:cNvPr id="17" name="Shape 15"/>
          <p:cNvSpPr/>
          <p:nvPr/>
        </p:nvSpPr>
        <p:spPr>
          <a:xfrm>
            <a:off x="1737360" y="3273552"/>
            <a:ext cx="475488" cy="365760"/>
          </a:xfrm>
          <a:prstGeom prst="roundRect">
            <a:avLst>
              <a:gd name="adj" fmla="val 11250"/>
            </a:avLst>
          </a:prstGeom>
          <a:solidFill>
            <a:srgbClr val="EFEFEF"/>
          </a:solidFill>
          <a:ln w="9525">
            <a:solidFill>
              <a:srgbClr val="DCDCDC"/>
            </a:solidFill>
            <a:prstDash val="solid"/>
          </a:ln>
        </p:spPr>
      </p:sp>
      <p:sp>
        <p:nvSpPr>
          <p:cNvPr id="18" name="Text 16"/>
          <p:cNvSpPr/>
          <p:nvPr/>
        </p:nvSpPr>
        <p:spPr>
          <a:xfrm>
            <a:off x="1737360" y="3401568"/>
            <a:ext cx="475488" cy="82296"/>
          </a:xfrm>
          <a:prstGeom prst="rect">
            <a:avLst/>
          </a:prstGeom>
          <a:noFill/>
          <a:ln/>
        </p:spPr>
        <p:txBody>
          <a:bodyPr wrap="square" lIns="0" tIns="0" rIns="0" bIns="0" rtlCol="0" anchor="ctr"/>
          <a:lstStyle/>
          <a:p>
            <a:pPr algn="ctr" indent="0" marL="0">
              <a:buNone/>
            </a:pPr>
            <a:r>
              <a:rPr lang="en-US" sz="700" b="1" dirty="0">
                <a:solidFill>
                  <a:srgbClr val="666666"/>
                </a:solidFill>
                <a:latin typeface="Microsoft YaHei" pitchFamily="34" charset="0"/>
                <a:ea typeface="Microsoft YaHei" pitchFamily="34" charset="-122"/>
                <a:cs typeface="Microsoft YaHei" pitchFamily="34" charset="-120"/>
              </a:rPr>
              <a:t>T2</a:t>
            </a:r>
            <a:endParaRPr lang="en-US" sz="700" dirty="0"/>
          </a:p>
        </p:txBody>
      </p:sp>
      <p:sp>
        <p:nvSpPr>
          <p:cNvPr id="19" name="Shape 17"/>
          <p:cNvSpPr/>
          <p:nvPr/>
        </p:nvSpPr>
        <p:spPr>
          <a:xfrm>
            <a:off x="2395728" y="3273552"/>
            <a:ext cx="475488" cy="365760"/>
          </a:xfrm>
          <a:prstGeom prst="roundRect">
            <a:avLst>
              <a:gd name="adj" fmla="val 11250"/>
            </a:avLst>
          </a:prstGeom>
          <a:solidFill>
            <a:srgbClr val="EFEFEF"/>
          </a:solidFill>
          <a:ln w="9525">
            <a:solidFill>
              <a:srgbClr val="DCDCDC"/>
            </a:solidFill>
            <a:prstDash val="solid"/>
          </a:ln>
        </p:spPr>
      </p:sp>
      <p:sp>
        <p:nvSpPr>
          <p:cNvPr id="20" name="Text 18"/>
          <p:cNvSpPr/>
          <p:nvPr/>
        </p:nvSpPr>
        <p:spPr>
          <a:xfrm>
            <a:off x="2395728" y="3401568"/>
            <a:ext cx="475488" cy="82296"/>
          </a:xfrm>
          <a:prstGeom prst="rect">
            <a:avLst/>
          </a:prstGeom>
          <a:noFill/>
          <a:ln/>
        </p:spPr>
        <p:txBody>
          <a:bodyPr wrap="square" lIns="0" tIns="0" rIns="0" bIns="0" rtlCol="0" anchor="ctr"/>
          <a:lstStyle/>
          <a:p>
            <a:pPr algn="ctr" indent="0" marL="0">
              <a:buNone/>
            </a:pPr>
            <a:r>
              <a:rPr lang="en-US" sz="700" b="1" dirty="0">
                <a:solidFill>
                  <a:srgbClr val="666666"/>
                </a:solidFill>
                <a:latin typeface="Microsoft YaHei" pitchFamily="34" charset="0"/>
                <a:ea typeface="Microsoft YaHei" pitchFamily="34" charset="-122"/>
                <a:cs typeface="Microsoft YaHei" pitchFamily="34" charset="-120"/>
              </a:rPr>
              <a:t>T3</a:t>
            </a:r>
            <a:endParaRPr lang="en-US" sz="700" dirty="0"/>
          </a:p>
        </p:txBody>
      </p:sp>
      <p:sp>
        <p:nvSpPr>
          <p:cNvPr id="21" name="Shape 19"/>
          <p:cNvSpPr/>
          <p:nvPr/>
        </p:nvSpPr>
        <p:spPr>
          <a:xfrm>
            <a:off x="3054096" y="3273552"/>
            <a:ext cx="475488" cy="365760"/>
          </a:xfrm>
          <a:prstGeom prst="roundRect">
            <a:avLst>
              <a:gd name="adj" fmla="val 11250"/>
            </a:avLst>
          </a:prstGeom>
          <a:solidFill>
            <a:srgbClr val="EFEFEF"/>
          </a:solidFill>
          <a:ln w="9525">
            <a:solidFill>
              <a:srgbClr val="DCDCDC"/>
            </a:solidFill>
            <a:prstDash val="solid"/>
          </a:ln>
        </p:spPr>
      </p:sp>
      <p:sp>
        <p:nvSpPr>
          <p:cNvPr id="22" name="Text 20"/>
          <p:cNvSpPr/>
          <p:nvPr/>
        </p:nvSpPr>
        <p:spPr>
          <a:xfrm>
            <a:off x="3054096" y="3401568"/>
            <a:ext cx="475488" cy="82296"/>
          </a:xfrm>
          <a:prstGeom prst="rect">
            <a:avLst/>
          </a:prstGeom>
          <a:noFill/>
          <a:ln/>
        </p:spPr>
        <p:txBody>
          <a:bodyPr wrap="square" lIns="0" tIns="0" rIns="0" bIns="0" rtlCol="0" anchor="ctr"/>
          <a:lstStyle/>
          <a:p>
            <a:pPr algn="ctr" indent="0" marL="0">
              <a:buNone/>
            </a:pPr>
            <a:r>
              <a:rPr lang="en-US" sz="700" b="1" dirty="0">
                <a:solidFill>
                  <a:srgbClr val="666666"/>
                </a:solidFill>
                <a:latin typeface="Microsoft YaHei" pitchFamily="34" charset="0"/>
                <a:ea typeface="Microsoft YaHei" pitchFamily="34" charset="-122"/>
                <a:cs typeface="Microsoft YaHei" pitchFamily="34" charset="-120"/>
              </a:rPr>
              <a:t>T4</a:t>
            </a:r>
            <a:endParaRPr lang="en-US" sz="700" dirty="0"/>
          </a:p>
        </p:txBody>
      </p:sp>
      <p:sp>
        <p:nvSpPr>
          <p:cNvPr id="23" name="Shape 21"/>
          <p:cNvSpPr/>
          <p:nvPr/>
        </p:nvSpPr>
        <p:spPr>
          <a:xfrm>
            <a:off x="3712464" y="3273552"/>
            <a:ext cx="475488" cy="365760"/>
          </a:xfrm>
          <a:prstGeom prst="roundRect">
            <a:avLst>
              <a:gd name="adj" fmla="val 11250"/>
            </a:avLst>
          </a:prstGeom>
          <a:solidFill>
            <a:srgbClr val="111111"/>
          </a:solidFill>
          <a:ln w="9525">
            <a:solidFill>
              <a:srgbClr val="DCDCDC"/>
            </a:solidFill>
            <a:prstDash val="solid"/>
          </a:ln>
        </p:spPr>
      </p:sp>
      <p:sp>
        <p:nvSpPr>
          <p:cNvPr id="24" name="Text 22"/>
          <p:cNvSpPr/>
          <p:nvPr/>
        </p:nvSpPr>
        <p:spPr>
          <a:xfrm>
            <a:off x="3712464" y="3401568"/>
            <a:ext cx="475488" cy="82296"/>
          </a:xfrm>
          <a:prstGeom prst="rect">
            <a:avLst/>
          </a:prstGeom>
          <a:noFill/>
          <a:ln/>
        </p:spPr>
        <p:txBody>
          <a:bodyPr wrap="square" lIns="0" tIns="0" rIns="0" bIns="0" rtlCol="0" anchor="ct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New</a:t>
            </a:r>
            <a:endParaRPr lang="en-US" sz="700" dirty="0"/>
          </a:p>
        </p:txBody>
      </p:sp>
      <p:sp>
        <p:nvSpPr>
          <p:cNvPr id="25" name="Shape 23"/>
          <p:cNvSpPr/>
          <p:nvPr/>
        </p:nvSpPr>
        <p:spPr>
          <a:xfrm>
            <a:off x="987552" y="3913632"/>
            <a:ext cx="2743200" cy="384048"/>
          </a:xfrm>
          <a:prstGeom prst="bracePair">
            <a:avLst/>
          </a:prstGeom>
          <a:noFill/>
          <a:ln w="12700">
            <a:solidFill>
              <a:srgbClr val="666666"/>
            </a:solidFill>
            <a:prstDash val="solid"/>
          </a:ln>
        </p:spPr>
      </p:sp>
      <p:sp>
        <p:nvSpPr>
          <p:cNvPr id="26" name="Text 24"/>
          <p:cNvSpPr/>
          <p:nvPr/>
        </p:nvSpPr>
        <p:spPr>
          <a:xfrm>
            <a:off x="1810512" y="4407408"/>
            <a:ext cx="1005840" cy="109728"/>
          </a:xfrm>
          <a:prstGeom prst="rect">
            <a:avLst/>
          </a:prstGeom>
          <a:noFill/>
          <a:ln/>
        </p:spPr>
        <p:txBody>
          <a:bodyPr wrap="square" lIns="0" tIns="0" rIns="0" bIns="0" rtlCol="0" anchor="ctr"/>
          <a:lstStyle/>
          <a:p>
            <a:pPr algn="ctr" indent="0" marL="0">
              <a:buNone/>
            </a:pPr>
            <a:r>
              <a:rPr lang="en-US" sz="800" dirty="0">
                <a:solidFill>
                  <a:srgbClr val="666666"/>
                </a:solidFill>
                <a:latin typeface="Microsoft YaHei" pitchFamily="34" charset="0"/>
                <a:ea typeface="Microsoft YaHei" pitchFamily="34" charset="-122"/>
                <a:cs typeface="Microsoft YaHei" pitchFamily="34" charset="-120"/>
              </a:rPr>
              <a:t>重复计算</a:t>
            </a:r>
            <a:endParaRPr lang="en-US" sz="800" dirty="0"/>
          </a:p>
        </p:txBody>
      </p:sp>
      <p:sp>
        <p:nvSpPr>
          <p:cNvPr id="27" name="Text 25"/>
          <p:cNvSpPr/>
          <p:nvPr/>
        </p:nvSpPr>
        <p:spPr>
          <a:xfrm>
            <a:off x="6629400" y="2084832"/>
            <a:ext cx="1920240" cy="201168"/>
          </a:xfrm>
          <a:prstGeom prst="rect">
            <a:avLst/>
          </a:prstGeom>
          <a:noFill/>
          <a:ln/>
        </p:spPr>
        <p:txBody>
          <a:bodyPr wrap="square" lIns="0" tIns="0" rIns="0" bIns="0" rtlCol="0" anchor="ctr"/>
          <a:lstStyle/>
          <a:p>
            <a:pPr indent="0" marL="0">
              <a:buNone/>
            </a:pPr>
            <a:r>
              <a:rPr lang="en-US" sz="1450" b="1" dirty="0">
                <a:solidFill>
                  <a:srgbClr val="C7000B"/>
                </a:solidFill>
                <a:latin typeface="Microsoft YaHei" pitchFamily="34" charset="0"/>
                <a:ea typeface="Microsoft YaHei" pitchFamily="34" charset="-122"/>
                <a:cs typeface="Microsoft YaHei" pitchFamily="34" charset="-120"/>
              </a:rPr>
              <a:t>使用 KV Cache</a:t>
            </a:r>
            <a:endParaRPr lang="en-US" sz="1450" dirty="0"/>
          </a:p>
        </p:txBody>
      </p:sp>
      <p:sp>
        <p:nvSpPr>
          <p:cNvPr id="28" name="Text 26"/>
          <p:cNvSpPr/>
          <p:nvPr/>
        </p:nvSpPr>
        <p:spPr>
          <a:xfrm>
            <a:off x="6629400" y="2505456"/>
            <a:ext cx="3474720" cy="182880"/>
          </a:xfrm>
          <a:prstGeom prst="rect">
            <a:avLst/>
          </a:prstGeom>
          <a:noFill/>
          <a:ln/>
        </p:spPr>
        <p:txBody>
          <a:bodyPr wrap="square" lIns="0" tIns="0" rIns="0" bIns="0" rtlCol="0" anchor="ctr"/>
          <a:lstStyle/>
          <a:p>
            <a:pPr indent="0" marL="0">
              <a:buNone/>
            </a:pPr>
            <a:r>
              <a:rPr lang="en-US" sz="1020" dirty="0">
                <a:solidFill>
                  <a:srgbClr val="1F1F1F"/>
                </a:solidFill>
                <a:latin typeface="Microsoft YaHei" pitchFamily="34" charset="0"/>
                <a:ea typeface="Microsoft YaHei" pitchFamily="34" charset="-122"/>
                <a:cs typeface="Microsoft YaHei" pitchFamily="34" charset="-120"/>
              </a:rPr>
              <a:t>历史 K/V 直接读取，新 token 追加缓存</a:t>
            </a:r>
            <a:endParaRPr lang="en-US" sz="1020" dirty="0"/>
          </a:p>
        </p:txBody>
      </p:sp>
      <p:sp>
        <p:nvSpPr>
          <p:cNvPr id="29" name="Shape 27"/>
          <p:cNvSpPr/>
          <p:nvPr/>
        </p:nvSpPr>
        <p:spPr>
          <a:xfrm>
            <a:off x="6629400" y="3273552"/>
            <a:ext cx="457200" cy="365760"/>
          </a:xfrm>
          <a:prstGeom prst="roundRect">
            <a:avLst>
              <a:gd name="adj" fmla="val 11250"/>
            </a:avLst>
          </a:prstGeom>
          <a:solidFill>
            <a:srgbClr val="FFFFFF"/>
          </a:solidFill>
          <a:ln w="9525">
            <a:solidFill>
              <a:srgbClr val="C7000B"/>
            </a:solidFill>
            <a:prstDash val="solid"/>
          </a:ln>
        </p:spPr>
      </p:sp>
      <p:sp>
        <p:nvSpPr>
          <p:cNvPr id="30" name="Text 28"/>
          <p:cNvSpPr/>
          <p:nvPr/>
        </p:nvSpPr>
        <p:spPr>
          <a:xfrm>
            <a:off x="6629400" y="3401568"/>
            <a:ext cx="457200" cy="82296"/>
          </a:xfrm>
          <a:prstGeom prst="rect">
            <a:avLst/>
          </a:prstGeom>
          <a:noFill/>
          <a:ln/>
        </p:spPr>
        <p:txBody>
          <a:bodyPr wrap="square" lIns="0" tIns="0" rIns="0" bIns="0" rtlCol="0" anchor="ctr"/>
          <a:lstStyle/>
          <a:p>
            <a:pPr algn="ctr" indent="0" marL="0">
              <a:buNone/>
            </a:pPr>
            <a:r>
              <a:rPr lang="en-US" sz="670" b="1" dirty="0">
                <a:solidFill>
                  <a:srgbClr val="C7000B"/>
                </a:solidFill>
                <a:latin typeface="Microsoft YaHei" pitchFamily="34" charset="0"/>
                <a:ea typeface="Microsoft YaHei" pitchFamily="34" charset="-122"/>
                <a:cs typeface="Microsoft YaHei" pitchFamily="34" charset="-120"/>
              </a:rPr>
              <a:t>K/V</a:t>
            </a:r>
            <a:endParaRPr lang="en-US" sz="670" dirty="0"/>
          </a:p>
        </p:txBody>
      </p:sp>
      <p:sp>
        <p:nvSpPr>
          <p:cNvPr id="31" name="Shape 29"/>
          <p:cNvSpPr/>
          <p:nvPr/>
        </p:nvSpPr>
        <p:spPr>
          <a:xfrm>
            <a:off x="7251192" y="3273552"/>
            <a:ext cx="457200" cy="365760"/>
          </a:xfrm>
          <a:prstGeom prst="roundRect">
            <a:avLst>
              <a:gd name="adj" fmla="val 11250"/>
            </a:avLst>
          </a:prstGeom>
          <a:solidFill>
            <a:srgbClr val="FFFFFF"/>
          </a:solidFill>
          <a:ln w="9525">
            <a:solidFill>
              <a:srgbClr val="C7000B"/>
            </a:solidFill>
            <a:prstDash val="solid"/>
          </a:ln>
        </p:spPr>
      </p:sp>
      <p:sp>
        <p:nvSpPr>
          <p:cNvPr id="32" name="Text 30"/>
          <p:cNvSpPr/>
          <p:nvPr/>
        </p:nvSpPr>
        <p:spPr>
          <a:xfrm>
            <a:off x="7251192" y="3401568"/>
            <a:ext cx="457200" cy="82296"/>
          </a:xfrm>
          <a:prstGeom prst="rect">
            <a:avLst/>
          </a:prstGeom>
          <a:noFill/>
          <a:ln/>
        </p:spPr>
        <p:txBody>
          <a:bodyPr wrap="square" lIns="0" tIns="0" rIns="0" bIns="0" rtlCol="0" anchor="ctr"/>
          <a:lstStyle/>
          <a:p>
            <a:pPr algn="ctr" indent="0" marL="0">
              <a:buNone/>
            </a:pPr>
            <a:r>
              <a:rPr lang="en-US" sz="670" b="1" dirty="0">
                <a:solidFill>
                  <a:srgbClr val="C7000B"/>
                </a:solidFill>
                <a:latin typeface="Microsoft YaHei" pitchFamily="34" charset="0"/>
                <a:ea typeface="Microsoft YaHei" pitchFamily="34" charset="-122"/>
                <a:cs typeface="Microsoft YaHei" pitchFamily="34" charset="-120"/>
              </a:rPr>
              <a:t>K/V</a:t>
            </a:r>
            <a:endParaRPr lang="en-US" sz="670" dirty="0"/>
          </a:p>
        </p:txBody>
      </p:sp>
      <p:sp>
        <p:nvSpPr>
          <p:cNvPr id="33" name="Shape 31"/>
          <p:cNvSpPr/>
          <p:nvPr/>
        </p:nvSpPr>
        <p:spPr>
          <a:xfrm>
            <a:off x="7872984" y="3273552"/>
            <a:ext cx="457200" cy="365760"/>
          </a:xfrm>
          <a:prstGeom prst="roundRect">
            <a:avLst>
              <a:gd name="adj" fmla="val 11250"/>
            </a:avLst>
          </a:prstGeom>
          <a:solidFill>
            <a:srgbClr val="FFFFFF"/>
          </a:solidFill>
          <a:ln w="9525">
            <a:solidFill>
              <a:srgbClr val="C7000B"/>
            </a:solidFill>
            <a:prstDash val="solid"/>
          </a:ln>
        </p:spPr>
      </p:sp>
      <p:sp>
        <p:nvSpPr>
          <p:cNvPr id="34" name="Text 32"/>
          <p:cNvSpPr/>
          <p:nvPr/>
        </p:nvSpPr>
        <p:spPr>
          <a:xfrm>
            <a:off x="7872984" y="3401568"/>
            <a:ext cx="457200" cy="82296"/>
          </a:xfrm>
          <a:prstGeom prst="rect">
            <a:avLst/>
          </a:prstGeom>
          <a:noFill/>
          <a:ln/>
        </p:spPr>
        <p:txBody>
          <a:bodyPr wrap="square" lIns="0" tIns="0" rIns="0" bIns="0" rtlCol="0" anchor="ctr"/>
          <a:lstStyle/>
          <a:p>
            <a:pPr algn="ctr" indent="0" marL="0">
              <a:buNone/>
            </a:pPr>
            <a:r>
              <a:rPr lang="en-US" sz="670" b="1" dirty="0">
                <a:solidFill>
                  <a:srgbClr val="C7000B"/>
                </a:solidFill>
                <a:latin typeface="Microsoft YaHei" pitchFamily="34" charset="0"/>
                <a:ea typeface="Microsoft YaHei" pitchFamily="34" charset="-122"/>
                <a:cs typeface="Microsoft YaHei" pitchFamily="34" charset="-120"/>
              </a:rPr>
              <a:t>K/V</a:t>
            </a:r>
            <a:endParaRPr lang="en-US" sz="670" dirty="0"/>
          </a:p>
        </p:txBody>
      </p:sp>
      <p:sp>
        <p:nvSpPr>
          <p:cNvPr id="35" name="Shape 33"/>
          <p:cNvSpPr/>
          <p:nvPr/>
        </p:nvSpPr>
        <p:spPr>
          <a:xfrm>
            <a:off x="8494776" y="3273552"/>
            <a:ext cx="457200" cy="365760"/>
          </a:xfrm>
          <a:prstGeom prst="roundRect">
            <a:avLst>
              <a:gd name="adj" fmla="val 11250"/>
            </a:avLst>
          </a:prstGeom>
          <a:solidFill>
            <a:srgbClr val="FFFFFF"/>
          </a:solidFill>
          <a:ln w="9525">
            <a:solidFill>
              <a:srgbClr val="C7000B"/>
            </a:solidFill>
            <a:prstDash val="solid"/>
          </a:ln>
        </p:spPr>
      </p:sp>
      <p:sp>
        <p:nvSpPr>
          <p:cNvPr id="36" name="Text 34"/>
          <p:cNvSpPr/>
          <p:nvPr/>
        </p:nvSpPr>
        <p:spPr>
          <a:xfrm>
            <a:off x="8494776" y="3401568"/>
            <a:ext cx="457200" cy="82296"/>
          </a:xfrm>
          <a:prstGeom prst="rect">
            <a:avLst/>
          </a:prstGeom>
          <a:noFill/>
          <a:ln/>
        </p:spPr>
        <p:txBody>
          <a:bodyPr wrap="square" lIns="0" tIns="0" rIns="0" bIns="0" rtlCol="0" anchor="ctr"/>
          <a:lstStyle/>
          <a:p>
            <a:pPr algn="ctr" indent="0" marL="0">
              <a:buNone/>
            </a:pPr>
            <a:r>
              <a:rPr lang="en-US" sz="670" b="1" dirty="0">
                <a:solidFill>
                  <a:srgbClr val="C7000B"/>
                </a:solidFill>
                <a:latin typeface="Microsoft YaHei" pitchFamily="34" charset="0"/>
                <a:ea typeface="Microsoft YaHei" pitchFamily="34" charset="-122"/>
                <a:cs typeface="Microsoft YaHei" pitchFamily="34" charset="-120"/>
              </a:rPr>
              <a:t>K/V</a:t>
            </a:r>
            <a:endParaRPr lang="en-US" sz="670" dirty="0"/>
          </a:p>
        </p:txBody>
      </p:sp>
      <p:sp>
        <p:nvSpPr>
          <p:cNvPr id="37" name="Shape 35"/>
          <p:cNvSpPr/>
          <p:nvPr/>
        </p:nvSpPr>
        <p:spPr>
          <a:xfrm>
            <a:off x="9372600" y="3456432"/>
            <a:ext cx="484632" cy="0"/>
          </a:xfrm>
          <a:prstGeom prst="line">
            <a:avLst/>
          </a:prstGeom>
          <a:noFill/>
          <a:ln w="17780">
            <a:solidFill>
              <a:srgbClr val="C7000B"/>
            </a:solidFill>
            <a:prstDash val="solid"/>
            <a:headEnd type="none"/>
            <a:tailEnd type="triangle"/>
          </a:ln>
        </p:spPr>
      </p:sp>
      <p:sp>
        <p:nvSpPr>
          <p:cNvPr id="38" name="Shape 36"/>
          <p:cNvSpPr/>
          <p:nvPr/>
        </p:nvSpPr>
        <p:spPr>
          <a:xfrm>
            <a:off x="9966960" y="3273552"/>
            <a:ext cx="530352" cy="365760"/>
          </a:xfrm>
          <a:prstGeom prst="roundRect">
            <a:avLst>
              <a:gd name="adj" fmla="val 11250"/>
            </a:avLst>
          </a:prstGeom>
          <a:solidFill>
            <a:srgbClr val="111111"/>
          </a:solidFill>
          <a:ln w="9525">
            <a:solidFill>
              <a:srgbClr val="111111"/>
            </a:solidFill>
            <a:prstDash val="solid"/>
          </a:ln>
        </p:spPr>
      </p:sp>
      <p:sp>
        <p:nvSpPr>
          <p:cNvPr id="39" name="Text 37"/>
          <p:cNvSpPr/>
          <p:nvPr/>
        </p:nvSpPr>
        <p:spPr>
          <a:xfrm>
            <a:off x="9966960" y="3401568"/>
            <a:ext cx="530352" cy="82296"/>
          </a:xfrm>
          <a:prstGeom prst="rect">
            <a:avLst/>
          </a:prstGeom>
          <a:noFill/>
          <a:ln/>
        </p:spPr>
        <p:txBody>
          <a:bodyPr wrap="square" lIns="0" tIns="0" rIns="0" bIns="0" rtlCol="0" anchor="ctr"/>
          <a:lstStyle/>
          <a:p>
            <a:pPr algn="ctr" indent="0" marL="0">
              <a:buNone/>
            </a:pPr>
            <a:r>
              <a:rPr lang="en-US" sz="690" b="1" dirty="0">
                <a:solidFill>
                  <a:srgbClr val="FFFFFF"/>
                </a:solidFill>
                <a:latin typeface="Microsoft YaHei" pitchFamily="34" charset="0"/>
                <a:ea typeface="Microsoft YaHei" pitchFamily="34" charset="-122"/>
                <a:cs typeface="Microsoft YaHei" pitchFamily="34" charset="-120"/>
              </a:rPr>
              <a:t>New</a:t>
            </a:r>
            <a:endParaRPr lang="en-US" sz="690" dirty="0"/>
          </a:p>
        </p:txBody>
      </p:sp>
      <p:sp>
        <p:nvSpPr>
          <p:cNvPr id="40" name="Text 38"/>
          <p:cNvSpPr/>
          <p:nvPr/>
        </p:nvSpPr>
        <p:spPr>
          <a:xfrm>
            <a:off x="6629400" y="4407408"/>
            <a:ext cx="4069080" cy="146304"/>
          </a:xfrm>
          <a:prstGeom prst="rect">
            <a:avLst/>
          </a:prstGeom>
          <a:noFill/>
          <a:ln/>
        </p:spPr>
        <p:txBody>
          <a:bodyPr wrap="square" lIns="0" tIns="0" rIns="0" bIns="0" rtlCol="0" anchor="ctr">
            <a:normAutofit/>
          </a:bodyPr>
          <a:lstStyle/>
          <a:p>
            <a:pPr algn="ctr" indent="0" marL="0">
              <a:buNone/>
            </a:pPr>
            <a:r>
              <a:rPr lang="en-US" sz="850" b="1" dirty="0">
                <a:solidFill>
                  <a:srgbClr val="C7000B"/>
                </a:solidFill>
                <a:latin typeface="Microsoft YaHei" pitchFamily="34" charset="0"/>
                <a:ea typeface="Microsoft YaHei" pitchFamily="34" charset="-122"/>
                <a:cs typeface="Microsoft YaHei" pitchFamily="34" charset="-120"/>
              </a:rPr>
              <a:t>显存压力 ≈ 层数 × batch × 上下文长度 × hidden 维度 × 精度</a:t>
            </a:r>
            <a:endParaRPr lang="en-US" sz="850" dirty="0"/>
          </a:p>
        </p:txBody>
      </p:sp>
      <p:sp>
        <p:nvSpPr>
          <p:cNvPr id="41" name="Shape 39"/>
          <p:cNvSpPr/>
          <p:nvPr/>
        </p:nvSpPr>
        <p:spPr>
          <a:xfrm>
            <a:off x="804672" y="5522976"/>
            <a:ext cx="10469880" cy="493776"/>
          </a:xfrm>
          <a:prstGeom prst="roundRect">
            <a:avLst>
              <a:gd name="adj" fmla="val 9259"/>
            </a:avLst>
          </a:prstGeom>
          <a:solidFill>
            <a:srgbClr val="FFFFFF"/>
          </a:solidFill>
          <a:ln w="9525">
            <a:solidFill>
              <a:srgbClr val="DCDCDC"/>
            </a:solidFill>
            <a:prstDash val="solid"/>
          </a:ln>
        </p:spPr>
      </p:sp>
      <p:sp>
        <p:nvSpPr>
          <p:cNvPr id="42" name="Shape 40"/>
          <p:cNvSpPr/>
          <p:nvPr/>
        </p:nvSpPr>
        <p:spPr>
          <a:xfrm>
            <a:off x="804672" y="5522976"/>
            <a:ext cx="91440" cy="493776"/>
          </a:xfrm>
          <a:prstGeom prst="rect">
            <a:avLst/>
          </a:prstGeom>
          <a:solidFill>
            <a:srgbClr val="C7000B"/>
          </a:solidFill>
          <a:ln w="12700">
            <a:solidFill>
              <a:srgbClr val="C7000B"/>
            </a:solidFill>
            <a:prstDash val="solid"/>
          </a:ln>
        </p:spPr>
      </p:sp>
      <p:sp>
        <p:nvSpPr>
          <p:cNvPr id="43" name="Text 41"/>
          <p:cNvSpPr/>
          <p:nvPr/>
        </p:nvSpPr>
        <p:spPr>
          <a:xfrm>
            <a:off x="1051560" y="5632704"/>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44" name="Text 42"/>
          <p:cNvSpPr/>
          <p:nvPr/>
        </p:nvSpPr>
        <p:spPr>
          <a:xfrm>
            <a:off x="1874520" y="5687568"/>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KV Cache 解决重复计算，但会把长上下文和高并发转化为显存压力。</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10</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09 / BATCHING</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Batching：让 GPU 少空转</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把多个请求合并计算，提高吞吐；难点在于请求长度和阶段都不一样。</a:t>
            </a:r>
            <a:endParaRPr lang="en-US" sz="1080" dirty="0"/>
          </a:p>
        </p:txBody>
      </p:sp>
      <p:sp>
        <p:nvSpPr>
          <p:cNvPr id="11" name="Text 9"/>
          <p:cNvSpPr/>
          <p:nvPr/>
        </p:nvSpPr>
        <p:spPr>
          <a:xfrm>
            <a:off x="822960" y="1664208"/>
            <a:ext cx="6309360" cy="237744"/>
          </a:xfrm>
          <a:prstGeom prst="rect">
            <a:avLst/>
          </a:prstGeom>
          <a:noFill/>
          <a:ln/>
        </p:spPr>
        <p:txBody>
          <a:bodyPr wrap="square" lIns="0" tIns="0" rIns="0" bIns="0" rtlCol="0" anchor="ctr">
            <a:normAutofit/>
          </a:bodyPr>
          <a:lstStyle/>
          <a:p>
            <a:pPr indent="0" marL="0">
              <a:buNone/>
            </a:pPr>
            <a:r>
              <a:rPr lang="en-US" sz="1320" b="1" dirty="0">
                <a:solidFill>
                  <a:srgbClr val="C7000B"/>
                </a:solidFill>
                <a:latin typeface="Microsoft YaHei" pitchFamily="34" charset="0"/>
                <a:ea typeface="Microsoft YaHei" pitchFamily="34" charset="-122"/>
                <a:cs typeface="Microsoft YaHei" pitchFamily="34" charset="-120"/>
              </a:rPr>
              <a:t>Batching 的目标是让 GPU 更连续地处理请求。</a:t>
            </a:r>
            <a:endParaRPr lang="en-US" sz="1320" dirty="0"/>
          </a:p>
        </p:txBody>
      </p:sp>
      <p:sp>
        <p:nvSpPr>
          <p:cNvPr id="12" name="Text 10"/>
          <p:cNvSpPr/>
          <p:nvPr/>
        </p:nvSpPr>
        <p:spPr>
          <a:xfrm>
            <a:off x="868680" y="2212848"/>
            <a:ext cx="1097280" cy="137160"/>
          </a:xfrm>
          <a:prstGeom prst="rect">
            <a:avLst/>
          </a:prstGeom>
          <a:noFill/>
          <a:ln/>
        </p:spPr>
        <p:txBody>
          <a:bodyPr wrap="square" lIns="0" tIns="0" rIns="0" bIns="0" rtlCol="0" anchor="ctr"/>
          <a:lstStyle/>
          <a:p>
            <a:pPr indent="0" marL="0">
              <a:buNone/>
            </a:pPr>
            <a:r>
              <a:rPr lang="en-US" sz="950" b="1" dirty="0">
                <a:solidFill>
                  <a:srgbClr val="666666"/>
                </a:solidFill>
                <a:latin typeface="Microsoft YaHei" pitchFamily="34" charset="0"/>
                <a:ea typeface="Microsoft YaHei" pitchFamily="34" charset="-122"/>
                <a:cs typeface="Microsoft YaHei" pitchFamily="34" charset="-120"/>
              </a:rPr>
              <a:t>静态 batch</a:t>
            </a:r>
            <a:endParaRPr lang="en-US" sz="950" dirty="0"/>
          </a:p>
        </p:txBody>
      </p:sp>
      <p:sp>
        <p:nvSpPr>
          <p:cNvPr id="13" name="Text 11"/>
          <p:cNvSpPr/>
          <p:nvPr/>
        </p:nvSpPr>
        <p:spPr>
          <a:xfrm>
            <a:off x="6446520" y="2212848"/>
            <a:ext cx="1737360" cy="137160"/>
          </a:xfrm>
          <a:prstGeom prst="rect">
            <a:avLst/>
          </a:prstGeom>
          <a:noFill/>
          <a:ln/>
        </p:spPr>
        <p:txBody>
          <a:bodyPr wrap="square" lIns="0" tIns="0" rIns="0" bIns="0" rtlCol="0" anchor="ctr"/>
          <a:lstStyle/>
          <a:p>
            <a:pPr indent="0" marL="0">
              <a:buNone/>
            </a:pPr>
            <a:r>
              <a:rPr lang="en-US" sz="950" b="1" dirty="0">
                <a:solidFill>
                  <a:srgbClr val="C7000B"/>
                </a:solidFill>
                <a:latin typeface="Microsoft YaHei" pitchFamily="34" charset="0"/>
                <a:ea typeface="Microsoft YaHei" pitchFamily="34" charset="-122"/>
                <a:cs typeface="Microsoft YaHei" pitchFamily="34" charset="-120"/>
              </a:rPr>
              <a:t>Continuous batching</a:t>
            </a:r>
            <a:endParaRPr lang="en-US" sz="950" dirty="0"/>
          </a:p>
        </p:txBody>
      </p:sp>
      <p:sp>
        <p:nvSpPr>
          <p:cNvPr id="14" name="Shape 12"/>
          <p:cNvSpPr/>
          <p:nvPr/>
        </p:nvSpPr>
        <p:spPr>
          <a:xfrm>
            <a:off x="868680" y="2633472"/>
            <a:ext cx="393192" cy="228600"/>
          </a:xfrm>
          <a:prstGeom prst="rect">
            <a:avLst/>
          </a:prstGeom>
          <a:solidFill>
            <a:srgbClr val="D6D6D6"/>
          </a:solidFill>
          <a:ln w="6350">
            <a:solidFill>
              <a:srgbClr val="FFFFFF"/>
            </a:solidFill>
            <a:prstDash val="solid"/>
          </a:ln>
        </p:spPr>
      </p:sp>
      <p:sp>
        <p:nvSpPr>
          <p:cNvPr id="15" name="Shape 13"/>
          <p:cNvSpPr/>
          <p:nvPr/>
        </p:nvSpPr>
        <p:spPr>
          <a:xfrm>
            <a:off x="1371600" y="2633472"/>
            <a:ext cx="393192" cy="228600"/>
          </a:xfrm>
          <a:prstGeom prst="rect">
            <a:avLst/>
          </a:prstGeom>
          <a:solidFill>
            <a:srgbClr val="D6D6D6"/>
          </a:solidFill>
          <a:ln w="6350">
            <a:solidFill>
              <a:srgbClr val="FFFFFF"/>
            </a:solidFill>
            <a:prstDash val="solid"/>
          </a:ln>
        </p:spPr>
      </p:sp>
      <p:sp>
        <p:nvSpPr>
          <p:cNvPr id="16" name="Shape 14"/>
          <p:cNvSpPr/>
          <p:nvPr/>
        </p:nvSpPr>
        <p:spPr>
          <a:xfrm>
            <a:off x="1874520" y="2633472"/>
            <a:ext cx="393192" cy="228600"/>
          </a:xfrm>
          <a:prstGeom prst="rect">
            <a:avLst/>
          </a:prstGeom>
          <a:solidFill>
            <a:srgbClr val="D6D6D6"/>
          </a:solidFill>
          <a:ln w="6350">
            <a:solidFill>
              <a:srgbClr val="FFFFFF"/>
            </a:solidFill>
            <a:prstDash val="solid"/>
          </a:ln>
        </p:spPr>
      </p:sp>
      <p:sp>
        <p:nvSpPr>
          <p:cNvPr id="17" name="Shape 15"/>
          <p:cNvSpPr/>
          <p:nvPr/>
        </p:nvSpPr>
        <p:spPr>
          <a:xfrm>
            <a:off x="2377440" y="2633472"/>
            <a:ext cx="393192" cy="228600"/>
          </a:xfrm>
          <a:prstGeom prst="rect">
            <a:avLst/>
          </a:prstGeom>
          <a:solidFill>
            <a:srgbClr val="D6D6D6"/>
          </a:solidFill>
          <a:ln w="6350">
            <a:solidFill>
              <a:srgbClr val="FFFFFF"/>
            </a:solidFill>
            <a:prstDash val="solid"/>
          </a:ln>
        </p:spPr>
      </p:sp>
      <p:sp>
        <p:nvSpPr>
          <p:cNvPr id="18" name="Shape 16"/>
          <p:cNvSpPr/>
          <p:nvPr/>
        </p:nvSpPr>
        <p:spPr>
          <a:xfrm>
            <a:off x="2880360" y="2633472"/>
            <a:ext cx="393192" cy="228600"/>
          </a:xfrm>
          <a:prstGeom prst="rect">
            <a:avLst/>
          </a:prstGeom>
          <a:solidFill>
            <a:srgbClr val="D6D6D6"/>
          </a:solidFill>
          <a:ln w="6350">
            <a:solidFill>
              <a:srgbClr val="FFFFFF"/>
            </a:solidFill>
            <a:prstDash val="solid"/>
          </a:ln>
        </p:spPr>
      </p:sp>
      <p:sp>
        <p:nvSpPr>
          <p:cNvPr id="19" name="Shape 17"/>
          <p:cNvSpPr/>
          <p:nvPr/>
        </p:nvSpPr>
        <p:spPr>
          <a:xfrm>
            <a:off x="3383280" y="2633472"/>
            <a:ext cx="393192" cy="228600"/>
          </a:xfrm>
          <a:prstGeom prst="rect">
            <a:avLst/>
          </a:prstGeom>
          <a:solidFill>
            <a:srgbClr val="D6D6D6"/>
          </a:solidFill>
          <a:ln w="6350">
            <a:solidFill>
              <a:srgbClr val="FFFFFF"/>
            </a:solidFill>
            <a:prstDash val="solid"/>
          </a:ln>
        </p:spPr>
      </p:sp>
      <p:sp>
        <p:nvSpPr>
          <p:cNvPr id="20" name="Shape 18"/>
          <p:cNvSpPr/>
          <p:nvPr/>
        </p:nvSpPr>
        <p:spPr>
          <a:xfrm>
            <a:off x="868680" y="2980944"/>
            <a:ext cx="393192" cy="228600"/>
          </a:xfrm>
          <a:prstGeom prst="rect">
            <a:avLst/>
          </a:prstGeom>
          <a:solidFill>
            <a:srgbClr val="D6D6D6"/>
          </a:solidFill>
          <a:ln w="6350">
            <a:solidFill>
              <a:srgbClr val="FFFFFF"/>
            </a:solidFill>
            <a:prstDash val="solid"/>
          </a:ln>
        </p:spPr>
      </p:sp>
      <p:sp>
        <p:nvSpPr>
          <p:cNvPr id="21" name="Shape 19"/>
          <p:cNvSpPr/>
          <p:nvPr/>
        </p:nvSpPr>
        <p:spPr>
          <a:xfrm>
            <a:off x="1371600" y="2980944"/>
            <a:ext cx="393192" cy="228600"/>
          </a:xfrm>
          <a:prstGeom prst="rect">
            <a:avLst/>
          </a:prstGeom>
          <a:solidFill>
            <a:srgbClr val="D6D6D6"/>
          </a:solidFill>
          <a:ln w="6350">
            <a:solidFill>
              <a:srgbClr val="FFFFFF"/>
            </a:solidFill>
            <a:prstDash val="solid"/>
          </a:ln>
        </p:spPr>
      </p:sp>
      <p:sp>
        <p:nvSpPr>
          <p:cNvPr id="22" name="Shape 20"/>
          <p:cNvSpPr/>
          <p:nvPr/>
        </p:nvSpPr>
        <p:spPr>
          <a:xfrm>
            <a:off x="1874520" y="2980944"/>
            <a:ext cx="393192" cy="228600"/>
          </a:xfrm>
          <a:prstGeom prst="rect">
            <a:avLst/>
          </a:prstGeom>
          <a:solidFill>
            <a:srgbClr val="D6D6D6"/>
          </a:solidFill>
          <a:ln w="6350">
            <a:solidFill>
              <a:srgbClr val="FFFFFF"/>
            </a:solidFill>
            <a:prstDash val="solid"/>
          </a:ln>
        </p:spPr>
      </p:sp>
      <p:sp>
        <p:nvSpPr>
          <p:cNvPr id="23" name="Shape 21"/>
          <p:cNvSpPr/>
          <p:nvPr/>
        </p:nvSpPr>
        <p:spPr>
          <a:xfrm>
            <a:off x="2377440" y="2980944"/>
            <a:ext cx="393192" cy="228600"/>
          </a:xfrm>
          <a:prstGeom prst="rect">
            <a:avLst/>
          </a:prstGeom>
          <a:solidFill>
            <a:srgbClr val="F2F2F2"/>
          </a:solidFill>
          <a:ln w="6350">
            <a:solidFill>
              <a:srgbClr val="FFFFFF"/>
            </a:solidFill>
            <a:prstDash val="solid"/>
          </a:ln>
        </p:spPr>
      </p:sp>
      <p:sp>
        <p:nvSpPr>
          <p:cNvPr id="24" name="Shape 22"/>
          <p:cNvSpPr/>
          <p:nvPr/>
        </p:nvSpPr>
        <p:spPr>
          <a:xfrm>
            <a:off x="2880360" y="2980944"/>
            <a:ext cx="393192" cy="228600"/>
          </a:xfrm>
          <a:prstGeom prst="rect">
            <a:avLst/>
          </a:prstGeom>
          <a:solidFill>
            <a:srgbClr val="F2F2F2"/>
          </a:solidFill>
          <a:ln w="6350">
            <a:solidFill>
              <a:srgbClr val="FFFFFF"/>
            </a:solidFill>
            <a:prstDash val="solid"/>
          </a:ln>
        </p:spPr>
      </p:sp>
      <p:sp>
        <p:nvSpPr>
          <p:cNvPr id="25" name="Shape 23"/>
          <p:cNvSpPr/>
          <p:nvPr/>
        </p:nvSpPr>
        <p:spPr>
          <a:xfrm>
            <a:off x="3383280" y="2980944"/>
            <a:ext cx="393192" cy="228600"/>
          </a:xfrm>
          <a:prstGeom prst="rect">
            <a:avLst/>
          </a:prstGeom>
          <a:solidFill>
            <a:srgbClr val="F2F2F2"/>
          </a:solidFill>
          <a:ln w="6350">
            <a:solidFill>
              <a:srgbClr val="FFFFFF"/>
            </a:solidFill>
            <a:prstDash val="solid"/>
          </a:ln>
        </p:spPr>
      </p:sp>
      <p:sp>
        <p:nvSpPr>
          <p:cNvPr id="26" name="Shape 24"/>
          <p:cNvSpPr/>
          <p:nvPr/>
        </p:nvSpPr>
        <p:spPr>
          <a:xfrm>
            <a:off x="868680" y="3328416"/>
            <a:ext cx="393192" cy="228600"/>
          </a:xfrm>
          <a:prstGeom prst="rect">
            <a:avLst/>
          </a:prstGeom>
          <a:solidFill>
            <a:srgbClr val="D6D6D6"/>
          </a:solidFill>
          <a:ln w="6350">
            <a:solidFill>
              <a:srgbClr val="FFFFFF"/>
            </a:solidFill>
            <a:prstDash val="solid"/>
          </a:ln>
        </p:spPr>
      </p:sp>
      <p:sp>
        <p:nvSpPr>
          <p:cNvPr id="27" name="Shape 25"/>
          <p:cNvSpPr/>
          <p:nvPr/>
        </p:nvSpPr>
        <p:spPr>
          <a:xfrm>
            <a:off x="1371600" y="3328416"/>
            <a:ext cx="393192" cy="228600"/>
          </a:xfrm>
          <a:prstGeom prst="rect">
            <a:avLst/>
          </a:prstGeom>
          <a:solidFill>
            <a:srgbClr val="D6D6D6"/>
          </a:solidFill>
          <a:ln w="6350">
            <a:solidFill>
              <a:srgbClr val="FFFFFF"/>
            </a:solidFill>
            <a:prstDash val="solid"/>
          </a:ln>
        </p:spPr>
      </p:sp>
      <p:sp>
        <p:nvSpPr>
          <p:cNvPr id="28" name="Shape 26"/>
          <p:cNvSpPr/>
          <p:nvPr/>
        </p:nvSpPr>
        <p:spPr>
          <a:xfrm>
            <a:off x="1874520" y="3328416"/>
            <a:ext cx="393192" cy="228600"/>
          </a:xfrm>
          <a:prstGeom prst="rect">
            <a:avLst/>
          </a:prstGeom>
          <a:solidFill>
            <a:srgbClr val="D6D6D6"/>
          </a:solidFill>
          <a:ln w="6350">
            <a:solidFill>
              <a:srgbClr val="FFFFFF"/>
            </a:solidFill>
            <a:prstDash val="solid"/>
          </a:ln>
        </p:spPr>
      </p:sp>
      <p:sp>
        <p:nvSpPr>
          <p:cNvPr id="29" name="Shape 27"/>
          <p:cNvSpPr/>
          <p:nvPr/>
        </p:nvSpPr>
        <p:spPr>
          <a:xfrm>
            <a:off x="2377440" y="3328416"/>
            <a:ext cx="393192" cy="228600"/>
          </a:xfrm>
          <a:prstGeom prst="rect">
            <a:avLst/>
          </a:prstGeom>
          <a:solidFill>
            <a:srgbClr val="D6D6D6"/>
          </a:solidFill>
          <a:ln w="6350">
            <a:solidFill>
              <a:srgbClr val="FFFFFF"/>
            </a:solidFill>
            <a:prstDash val="solid"/>
          </a:ln>
        </p:spPr>
      </p:sp>
      <p:sp>
        <p:nvSpPr>
          <p:cNvPr id="30" name="Shape 28"/>
          <p:cNvSpPr/>
          <p:nvPr/>
        </p:nvSpPr>
        <p:spPr>
          <a:xfrm>
            <a:off x="2880360" y="3328416"/>
            <a:ext cx="393192" cy="228600"/>
          </a:xfrm>
          <a:prstGeom prst="rect">
            <a:avLst/>
          </a:prstGeom>
          <a:solidFill>
            <a:srgbClr val="D6D6D6"/>
          </a:solidFill>
          <a:ln w="6350">
            <a:solidFill>
              <a:srgbClr val="FFFFFF"/>
            </a:solidFill>
            <a:prstDash val="solid"/>
          </a:ln>
        </p:spPr>
      </p:sp>
      <p:sp>
        <p:nvSpPr>
          <p:cNvPr id="31" name="Shape 29"/>
          <p:cNvSpPr/>
          <p:nvPr/>
        </p:nvSpPr>
        <p:spPr>
          <a:xfrm>
            <a:off x="3383280" y="3328416"/>
            <a:ext cx="393192" cy="228600"/>
          </a:xfrm>
          <a:prstGeom prst="rect">
            <a:avLst/>
          </a:prstGeom>
          <a:solidFill>
            <a:srgbClr val="F2F2F2"/>
          </a:solidFill>
          <a:ln w="6350">
            <a:solidFill>
              <a:srgbClr val="FFFFFF"/>
            </a:solidFill>
            <a:prstDash val="solid"/>
          </a:ln>
        </p:spPr>
      </p:sp>
      <p:sp>
        <p:nvSpPr>
          <p:cNvPr id="32" name="Shape 30"/>
          <p:cNvSpPr/>
          <p:nvPr/>
        </p:nvSpPr>
        <p:spPr>
          <a:xfrm>
            <a:off x="868680" y="3675888"/>
            <a:ext cx="393192" cy="228600"/>
          </a:xfrm>
          <a:prstGeom prst="rect">
            <a:avLst/>
          </a:prstGeom>
          <a:solidFill>
            <a:srgbClr val="D6D6D6"/>
          </a:solidFill>
          <a:ln w="6350">
            <a:solidFill>
              <a:srgbClr val="FFFFFF"/>
            </a:solidFill>
            <a:prstDash val="solid"/>
          </a:ln>
        </p:spPr>
      </p:sp>
      <p:sp>
        <p:nvSpPr>
          <p:cNvPr id="33" name="Shape 31"/>
          <p:cNvSpPr/>
          <p:nvPr/>
        </p:nvSpPr>
        <p:spPr>
          <a:xfrm>
            <a:off x="1371600" y="3675888"/>
            <a:ext cx="393192" cy="228600"/>
          </a:xfrm>
          <a:prstGeom prst="rect">
            <a:avLst/>
          </a:prstGeom>
          <a:solidFill>
            <a:srgbClr val="D6D6D6"/>
          </a:solidFill>
          <a:ln w="6350">
            <a:solidFill>
              <a:srgbClr val="FFFFFF"/>
            </a:solidFill>
            <a:prstDash val="solid"/>
          </a:ln>
        </p:spPr>
      </p:sp>
      <p:sp>
        <p:nvSpPr>
          <p:cNvPr id="34" name="Shape 32"/>
          <p:cNvSpPr/>
          <p:nvPr/>
        </p:nvSpPr>
        <p:spPr>
          <a:xfrm>
            <a:off x="1874520" y="3675888"/>
            <a:ext cx="393192" cy="228600"/>
          </a:xfrm>
          <a:prstGeom prst="rect">
            <a:avLst/>
          </a:prstGeom>
          <a:solidFill>
            <a:srgbClr val="F2F2F2"/>
          </a:solidFill>
          <a:ln w="6350">
            <a:solidFill>
              <a:srgbClr val="FFFFFF"/>
            </a:solidFill>
            <a:prstDash val="solid"/>
          </a:ln>
        </p:spPr>
      </p:sp>
      <p:sp>
        <p:nvSpPr>
          <p:cNvPr id="35" name="Shape 33"/>
          <p:cNvSpPr/>
          <p:nvPr/>
        </p:nvSpPr>
        <p:spPr>
          <a:xfrm>
            <a:off x="2377440" y="3675888"/>
            <a:ext cx="393192" cy="228600"/>
          </a:xfrm>
          <a:prstGeom prst="rect">
            <a:avLst/>
          </a:prstGeom>
          <a:solidFill>
            <a:srgbClr val="F2F2F2"/>
          </a:solidFill>
          <a:ln w="6350">
            <a:solidFill>
              <a:srgbClr val="FFFFFF"/>
            </a:solidFill>
            <a:prstDash val="solid"/>
          </a:ln>
        </p:spPr>
      </p:sp>
      <p:sp>
        <p:nvSpPr>
          <p:cNvPr id="36" name="Shape 34"/>
          <p:cNvSpPr/>
          <p:nvPr/>
        </p:nvSpPr>
        <p:spPr>
          <a:xfrm>
            <a:off x="2880360" y="3675888"/>
            <a:ext cx="393192" cy="228600"/>
          </a:xfrm>
          <a:prstGeom prst="rect">
            <a:avLst/>
          </a:prstGeom>
          <a:solidFill>
            <a:srgbClr val="F2F2F2"/>
          </a:solidFill>
          <a:ln w="6350">
            <a:solidFill>
              <a:srgbClr val="FFFFFF"/>
            </a:solidFill>
            <a:prstDash val="solid"/>
          </a:ln>
        </p:spPr>
      </p:sp>
      <p:sp>
        <p:nvSpPr>
          <p:cNvPr id="37" name="Shape 35"/>
          <p:cNvSpPr/>
          <p:nvPr/>
        </p:nvSpPr>
        <p:spPr>
          <a:xfrm>
            <a:off x="3383280" y="3675888"/>
            <a:ext cx="393192" cy="228600"/>
          </a:xfrm>
          <a:prstGeom prst="rect">
            <a:avLst/>
          </a:prstGeom>
          <a:solidFill>
            <a:srgbClr val="F2F2F2"/>
          </a:solidFill>
          <a:ln w="6350">
            <a:solidFill>
              <a:srgbClr val="FFFFFF"/>
            </a:solidFill>
            <a:prstDash val="solid"/>
          </a:ln>
        </p:spPr>
      </p:sp>
      <p:sp>
        <p:nvSpPr>
          <p:cNvPr id="38" name="Text 36"/>
          <p:cNvSpPr/>
          <p:nvPr/>
        </p:nvSpPr>
        <p:spPr>
          <a:xfrm>
            <a:off x="2011680" y="4343400"/>
            <a:ext cx="914400" cy="91440"/>
          </a:xfrm>
          <a:prstGeom prst="rect">
            <a:avLst/>
          </a:prstGeom>
          <a:noFill/>
          <a:ln/>
        </p:spPr>
        <p:txBody>
          <a:bodyPr wrap="square" lIns="0" tIns="0" rIns="0" bIns="0" rtlCol="0" anchor="ctr"/>
          <a:lstStyle/>
          <a:p>
            <a:pPr algn="ctr" indent="0" marL="0">
              <a:buNone/>
            </a:pPr>
            <a:r>
              <a:rPr lang="en-US" sz="740" b="1" dirty="0">
                <a:solidFill>
                  <a:srgbClr val="666666"/>
                </a:solidFill>
                <a:latin typeface="Microsoft YaHei" pitchFamily="34" charset="0"/>
                <a:ea typeface="Microsoft YaHei" pitchFamily="34" charset="-122"/>
                <a:cs typeface="Microsoft YaHei" pitchFamily="34" charset="-120"/>
              </a:rPr>
              <a:t>padding 空算</a:t>
            </a:r>
            <a:endParaRPr lang="en-US" sz="740" dirty="0"/>
          </a:p>
        </p:txBody>
      </p:sp>
      <p:sp>
        <p:nvSpPr>
          <p:cNvPr id="39" name="Shape 37"/>
          <p:cNvSpPr/>
          <p:nvPr/>
        </p:nvSpPr>
        <p:spPr>
          <a:xfrm>
            <a:off x="6446520" y="2633472"/>
            <a:ext cx="393192" cy="228600"/>
          </a:xfrm>
          <a:prstGeom prst="rect">
            <a:avLst/>
          </a:prstGeom>
          <a:solidFill>
            <a:srgbClr val="385A7C"/>
          </a:solidFill>
          <a:ln w="6350">
            <a:solidFill>
              <a:srgbClr val="FFFFFF"/>
            </a:solidFill>
            <a:prstDash val="solid"/>
          </a:ln>
        </p:spPr>
      </p:sp>
      <p:sp>
        <p:nvSpPr>
          <p:cNvPr id="40" name="Shape 38"/>
          <p:cNvSpPr/>
          <p:nvPr/>
        </p:nvSpPr>
        <p:spPr>
          <a:xfrm>
            <a:off x="6949440" y="2633472"/>
            <a:ext cx="393192" cy="228600"/>
          </a:xfrm>
          <a:prstGeom prst="rect">
            <a:avLst/>
          </a:prstGeom>
          <a:solidFill>
            <a:srgbClr val="385A7C"/>
          </a:solidFill>
          <a:ln w="6350">
            <a:solidFill>
              <a:srgbClr val="FFFFFF"/>
            </a:solidFill>
            <a:prstDash val="solid"/>
          </a:ln>
        </p:spPr>
      </p:sp>
      <p:sp>
        <p:nvSpPr>
          <p:cNvPr id="41" name="Shape 39"/>
          <p:cNvSpPr/>
          <p:nvPr/>
        </p:nvSpPr>
        <p:spPr>
          <a:xfrm>
            <a:off x="7452360" y="2633472"/>
            <a:ext cx="393192" cy="228600"/>
          </a:xfrm>
          <a:prstGeom prst="rect">
            <a:avLst/>
          </a:prstGeom>
          <a:solidFill>
            <a:srgbClr val="385A7C"/>
          </a:solidFill>
          <a:ln w="6350">
            <a:solidFill>
              <a:srgbClr val="FFFFFF"/>
            </a:solidFill>
            <a:prstDash val="solid"/>
          </a:ln>
        </p:spPr>
      </p:sp>
      <p:sp>
        <p:nvSpPr>
          <p:cNvPr id="42" name="Shape 40"/>
          <p:cNvSpPr/>
          <p:nvPr/>
        </p:nvSpPr>
        <p:spPr>
          <a:xfrm>
            <a:off x="7955280" y="2633472"/>
            <a:ext cx="393192" cy="228600"/>
          </a:xfrm>
          <a:prstGeom prst="rect">
            <a:avLst/>
          </a:prstGeom>
          <a:solidFill>
            <a:srgbClr val="385A7C"/>
          </a:solidFill>
          <a:ln w="6350">
            <a:solidFill>
              <a:srgbClr val="FFFFFF"/>
            </a:solidFill>
            <a:prstDash val="solid"/>
          </a:ln>
        </p:spPr>
      </p:sp>
      <p:sp>
        <p:nvSpPr>
          <p:cNvPr id="43" name="Shape 41"/>
          <p:cNvSpPr/>
          <p:nvPr/>
        </p:nvSpPr>
        <p:spPr>
          <a:xfrm>
            <a:off x="8458200" y="2633472"/>
            <a:ext cx="393192" cy="228600"/>
          </a:xfrm>
          <a:prstGeom prst="rect">
            <a:avLst/>
          </a:prstGeom>
          <a:solidFill>
            <a:srgbClr val="385A7C"/>
          </a:solidFill>
          <a:ln w="6350">
            <a:solidFill>
              <a:srgbClr val="FFFFFF"/>
            </a:solidFill>
            <a:prstDash val="solid"/>
          </a:ln>
        </p:spPr>
      </p:sp>
      <p:sp>
        <p:nvSpPr>
          <p:cNvPr id="44" name="Shape 42"/>
          <p:cNvSpPr/>
          <p:nvPr/>
        </p:nvSpPr>
        <p:spPr>
          <a:xfrm>
            <a:off x="8961120" y="2633472"/>
            <a:ext cx="393192" cy="228600"/>
          </a:xfrm>
          <a:prstGeom prst="rect">
            <a:avLst/>
          </a:prstGeom>
          <a:solidFill>
            <a:srgbClr val="C7000B"/>
          </a:solidFill>
          <a:ln w="6350">
            <a:solidFill>
              <a:srgbClr val="FFFFFF"/>
            </a:solidFill>
            <a:prstDash val="solid"/>
          </a:ln>
        </p:spPr>
      </p:sp>
      <p:sp>
        <p:nvSpPr>
          <p:cNvPr id="45" name="Shape 43"/>
          <p:cNvSpPr/>
          <p:nvPr/>
        </p:nvSpPr>
        <p:spPr>
          <a:xfrm>
            <a:off x="6446520" y="2980944"/>
            <a:ext cx="393192" cy="228600"/>
          </a:xfrm>
          <a:prstGeom prst="rect">
            <a:avLst/>
          </a:prstGeom>
          <a:solidFill>
            <a:srgbClr val="385A7C"/>
          </a:solidFill>
          <a:ln w="6350">
            <a:solidFill>
              <a:srgbClr val="FFFFFF"/>
            </a:solidFill>
            <a:prstDash val="solid"/>
          </a:ln>
        </p:spPr>
      </p:sp>
      <p:sp>
        <p:nvSpPr>
          <p:cNvPr id="46" name="Shape 44"/>
          <p:cNvSpPr/>
          <p:nvPr/>
        </p:nvSpPr>
        <p:spPr>
          <a:xfrm>
            <a:off x="6949440" y="2980944"/>
            <a:ext cx="393192" cy="228600"/>
          </a:xfrm>
          <a:prstGeom prst="rect">
            <a:avLst/>
          </a:prstGeom>
          <a:solidFill>
            <a:srgbClr val="385A7C"/>
          </a:solidFill>
          <a:ln w="6350">
            <a:solidFill>
              <a:srgbClr val="FFFFFF"/>
            </a:solidFill>
            <a:prstDash val="solid"/>
          </a:ln>
        </p:spPr>
      </p:sp>
      <p:sp>
        <p:nvSpPr>
          <p:cNvPr id="47" name="Shape 45"/>
          <p:cNvSpPr/>
          <p:nvPr/>
        </p:nvSpPr>
        <p:spPr>
          <a:xfrm>
            <a:off x="7452360" y="2980944"/>
            <a:ext cx="393192" cy="228600"/>
          </a:xfrm>
          <a:prstGeom prst="rect">
            <a:avLst/>
          </a:prstGeom>
          <a:solidFill>
            <a:srgbClr val="385A7C"/>
          </a:solidFill>
          <a:ln w="6350">
            <a:solidFill>
              <a:srgbClr val="FFFFFF"/>
            </a:solidFill>
            <a:prstDash val="solid"/>
          </a:ln>
        </p:spPr>
      </p:sp>
      <p:sp>
        <p:nvSpPr>
          <p:cNvPr id="48" name="Shape 46"/>
          <p:cNvSpPr/>
          <p:nvPr/>
        </p:nvSpPr>
        <p:spPr>
          <a:xfrm>
            <a:off x="7955280" y="2980944"/>
            <a:ext cx="393192" cy="228600"/>
          </a:xfrm>
          <a:prstGeom prst="rect">
            <a:avLst/>
          </a:prstGeom>
          <a:solidFill>
            <a:srgbClr val="C7000B"/>
          </a:solidFill>
          <a:ln w="6350">
            <a:solidFill>
              <a:srgbClr val="FFFFFF"/>
            </a:solidFill>
            <a:prstDash val="solid"/>
          </a:ln>
        </p:spPr>
      </p:sp>
      <p:sp>
        <p:nvSpPr>
          <p:cNvPr id="49" name="Shape 47"/>
          <p:cNvSpPr/>
          <p:nvPr/>
        </p:nvSpPr>
        <p:spPr>
          <a:xfrm>
            <a:off x="8458200" y="2980944"/>
            <a:ext cx="393192" cy="228600"/>
          </a:xfrm>
          <a:prstGeom prst="rect">
            <a:avLst/>
          </a:prstGeom>
          <a:solidFill>
            <a:srgbClr val="F2F2F2"/>
          </a:solidFill>
          <a:ln w="6350">
            <a:solidFill>
              <a:srgbClr val="FFFFFF"/>
            </a:solidFill>
            <a:prstDash val="solid"/>
          </a:ln>
        </p:spPr>
      </p:sp>
      <p:sp>
        <p:nvSpPr>
          <p:cNvPr id="50" name="Shape 48"/>
          <p:cNvSpPr/>
          <p:nvPr/>
        </p:nvSpPr>
        <p:spPr>
          <a:xfrm>
            <a:off x="8961120" y="2980944"/>
            <a:ext cx="393192" cy="228600"/>
          </a:xfrm>
          <a:prstGeom prst="rect">
            <a:avLst/>
          </a:prstGeom>
          <a:solidFill>
            <a:srgbClr val="F2F2F2"/>
          </a:solidFill>
          <a:ln w="6350">
            <a:solidFill>
              <a:srgbClr val="FFFFFF"/>
            </a:solidFill>
            <a:prstDash val="solid"/>
          </a:ln>
        </p:spPr>
      </p:sp>
      <p:sp>
        <p:nvSpPr>
          <p:cNvPr id="51" name="Shape 49"/>
          <p:cNvSpPr/>
          <p:nvPr/>
        </p:nvSpPr>
        <p:spPr>
          <a:xfrm>
            <a:off x="6446520" y="3328416"/>
            <a:ext cx="393192" cy="228600"/>
          </a:xfrm>
          <a:prstGeom prst="rect">
            <a:avLst/>
          </a:prstGeom>
          <a:solidFill>
            <a:srgbClr val="385A7C"/>
          </a:solidFill>
          <a:ln w="6350">
            <a:solidFill>
              <a:srgbClr val="FFFFFF"/>
            </a:solidFill>
            <a:prstDash val="solid"/>
          </a:ln>
        </p:spPr>
      </p:sp>
      <p:sp>
        <p:nvSpPr>
          <p:cNvPr id="52" name="Shape 50"/>
          <p:cNvSpPr/>
          <p:nvPr/>
        </p:nvSpPr>
        <p:spPr>
          <a:xfrm>
            <a:off x="6949440" y="3328416"/>
            <a:ext cx="393192" cy="228600"/>
          </a:xfrm>
          <a:prstGeom prst="rect">
            <a:avLst/>
          </a:prstGeom>
          <a:solidFill>
            <a:srgbClr val="385A7C"/>
          </a:solidFill>
          <a:ln w="6350">
            <a:solidFill>
              <a:srgbClr val="FFFFFF"/>
            </a:solidFill>
            <a:prstDash val="solid"/>
          </a:ln>
        </p:spPr>
      </p:sp>
      <p:sp>
        <p:nvSpPr>
          <p:cNvPr id="53" name="Shape 51"/>
          <p:cNvSpPr/>
          <p:nvPr/>
        </p:nvSpPr>
        <p:spPr>
          <a:xfrm>
            <a:off x="7452360" y="3328416"/>
            <a:ext cx="393192" cy="228600"/>
          </a:xfrm>
          <a:prstGeom prst="rect">
            <a:avLst/>
          </a:prstGeom>
          <a:solidFill>
            <a:srgbClr val="385A7C"/>
          </a:solidFill>
          <a:ln w="6350">
            <a:solidFill>
              <a:srgbClr val="FFFFFF"/>
            </a:solidFill>
            <a:prstDash val="solid"/>
          </a:ln>
        </p:spPr>
      </p:sp>
      <p:sp>
        <p:nvSpPr>
          <p:cNvPr id="54" name="Shape 52"/>
          <p:cNvSpPr/>
          <p:nvPr/>
        </p:nvSpPr>
        <p:spPr>
          <a:xfrm>
            <a:off x="7955280" y="3328416"/>
            <a:ext cx="393192" cy="228600"/>
          </a:xfrm>
          <a:prstGeom prst="rect">
            <a:avLst/>
          </a:prstGeom>
          <a:solidFill>
            <a:srgbClr val="385A7C"/>
          </a:solidFill>
          <a:ln w="6350">
            <a:solidFill>
              <a:srgbClr val="FFFFFF"/>
            </a:solidFill>
            <a:prstDash val="solid"/>
          </a:ln>
        </p:spPr>
      </p:sp>
      <p:sp>
        <p:nvSpPr>
          <p:cNvPr id="55" name="Shape 53"/>
          <p:cNvSpPr/>
          <p:nvPr/>
        </p:nvSpPr>
        <p:spPr>
          <a:xfrm>
            <a:off x="8458200" y="3328416"/>
            <a:ext cx="393192" cy="228600"/>
          </a:xfrm>
          <a:prstGeom prst="rect">
            <a:avLst/>
          </a:prstGeom>
          <a:solidFill>
            <a:srgbClr val="C7000B"/>
          </a:solidFill>
          <a:ln w="6350">
            <a:solidFill>
              <a:srgbClr val="FFFFFF"/>
            </a:solidFill>
            <a:prstDash val="solid"/>
          </a:ln>
        </p:spPr>
      </p:sp>
      <p:sp>
        <p:nvSpPr>
          <p:cNvPr id="56" name="Shape 54"/>
          <p:cNvSpPr/>
          <p:nvPr/>
        </p:nvSpPr>
        <p:spPr>
          <a:xfrm>
            <a:off x="8961120" y="3328416"/>
            <a:ext cx="393192" cy="228600"/>
          </a:xfrm>
          <a:prstGeom prst="rect">
            <a:avLst/>
          </a:prstGeom>
          <a:solidFill>
            <a:srgbClr val="F2F2F2"/>
          </a:solidFill>
          <a:ln w="6350">
            <a:solidFill>
              <a:srgbClr val="FFFFFF"/>
            </a:solidFill>
            <a:prstDash val="solid"/>
          </a:ln>
        </p:spPr>
      </p:sp>
      <p:sp>
        <p:nvSpPr>
          <p:cNvPr id="57" name="Shape 55"/>
          <p:cNvSpPr/>
          <p:nvPr/>
        </p:nvSpPr>
        <p:spPr>
          <a:xfrm>
            <a:off x="6446520" y="3675888"/>
            <a:ext cx="393192" cy="228600"/>
          </a:xfrm>
          <a:prstGeom prst="rect">
            <a:avLst/>
          </a:prstGeom>
          <a:solidFill>
            <a:srgbClr val="385A7C"/>
          </a:solidFill>
          <a:ln w="6350">
            <a:solidFill>
              <a:srgbClr val="FFFFFF"/>
            </a:solidFill>
            <a:prstDash val="solid"/>
          </a:ln>
        </p:spPr>
      </p:sp>
      <p:sp>
        <p:nvSpPr>
          <p:cNvPr id="58" name="Shape 56"/>
          <p:cNvSpPr/>
          <p:nvPr/>
        </p:nvSpPr>
        <p:spPr>
          <a:xfrm>
            <a:off x="6949440" y="3675888"/>
            <a:ext cx="393192" cy="228600"/>
          </a:xfrm>
          <a:prstGeom prst="rect">
            <a:avLst/>
          </a:prstGeom>
          <a:solidFill>
            <a:srgbClr val="385A7C"/>
          </a:solidFill>
          <a:ln w="6350">
            <a:solidFill>
              <a:srgbClr val="FFFFFF"/>
            </a:solidFill>
            <a:prstDash val="solid"/>
          </a:ln>
        </p:spPr>
      </p:sp>
      <p:sp>
        <p:nvSpPr>
          <p:cNvPr id="59" name="Shape 57"/>
          <p:cNvSpPr/>
          <p:nvPr/>
        </p:nvSpPr>
        <p:spPr>
          <a:xfrm>
            <a:off x="7452360" y="3675888"/>
            <a:ext cx="393192" cy="228600"/>
          </a:xfrm>
          <a:prstGeom prst="rect">
            <a:avLst/>
          </a:prstGeom>
          <a:solidFill>
            <a:srgbClr val="C7000B"/>
          </a:solidFill>
          <a:ln w="6350">
            <a:solidFill>
              <a:srgbClr val="FFFFFF"/>
            </a:solidFill>
            <a:prstDash val="solid"/>
          </a:ln>
        </p:spPr>
      </p:sp>
      <p:sp>
        <p:nvSpPr>
          <p:cNvPr id="60" name="Shape 58"/>
          <p:cNvSpPr/>
          <p:nvPr/>
        </p:nvSpPr>
        <p:spPr>
          <a:xfrm>
            <a:off x="7955280" y="3675888"/>
            <a:ext cx="393192" cy="228600"/>
          </a:xfrm>
          <a:prstGeom prst="rect">
            <a:avLst/>
          </a:prstGeom>
          <a:solidFill>
            <a:srgbClr val="F2F2F2"/>
          </a:solidFill>
          <a:ln w="6350">
            <a:solidFill>
              <a:srgbClr val="FFFFFF"/>
            </a:solidFill>
            <a:prstDash val="solid"/>
          </a:ln>
        </p:spPr>
      </p:sp>
      <p:sp>
        <p:nvSpPr>
          <p:cNvPr id="61" name="Shape 59"/>
          <p:cNvSpPr/>
          <p:nvPr/>
        </p:nvSpPr>
        <p:spPr>
          <a:xfrm>
            <a:off x="8458200" y="3675888"/>
            <a:ext cx="393192" cy="228600"/>
          </a:xfrm>
          <a:prstGeom prst="rect">
            <a:avLst/>
          </a:prstGeom>
          <a:solidFill>
            <a:srgbClr val="F2F2F2"/>
          </a:solidFill>
          <a:ln w="6350">
            <a:solidFill>
              <a:srgbClr val="FFFFFF"/>
            </a:solidFill>
            <a:prstDash val="solid"/>
          </a:ln>
        </p:spPr>
      </p:sp>
      <p:sp>
        <p:nvSpPr>
          <p:cNvPr id="62" name="Shape 60"/>
          <p:cNvSpPr/>
          <p:nvPr/>
        </p:nvSpPr>
        <p:spPr>
          <a:xfrm>
            <a:off x="8961120" y="3675888"/>
            <a:ext cx="393192" cy="228600"/>
          </a:xfrm>
          <a:prstGeom prst="rect">
            <a:avLst/>
          </a:prstGeom>
          <a:solidFill>
            <a:srgbClr val="F2F2F2"/>
          </a:solidFill>
          <a:ln w="6350">
            <a:solidFill>
              <a:srgbClr val="FFFFFF"/>
            </a:solidFill>
            <a:prstDash val="solid"/>
          </a:ln>
        </p:spPr>
      </p:sp>
      <p:sp>
        <p:nvSpPr>
          <p:cNvPr id="63" name="Text 61"/>
          <p:cNvSpPr/>
          <p:nvPr/>
        </p:nvSpPr>
        <p:spPr>
          <a:xfrm>
            <a:off x="7315200" y="4343400"/>
            <a:ext cx="1920240" cy="91440"/>
          </a:xfrm>
          <a:prstGeom prst="rect">
            <a:avLst/>
          </a:prstGeom>
          <a:noFill/>
          <a:ln/>
        </p:spPr>
        <p:txBody>
          <a:bodyPr wrap="square" lIns="0" tIns="0" rIns="0" bIns="0" rtlCol="0" anchor="ctr"/>
          <a:lstStyle/>
          <a:p>
            <a:pPr algn="ctr" indent="0" marL="0">
              <a:buNone/>
            </a:pPr>
            <a:r>
              <a:rPr lang="en-US" sz="740" b="1" dirty="0">
                <a:solidFill>
                  <a:srgbClr val="C7000B"/>
                </a:solidFill>
                <a:latin typeface="Microsoft YaHei" pitchFamily="34" charset="0"/>
                <a:ea typeface="Microsoft YaHei" pitchFamily="34" charset="-122"/>
                <a:cs typeface="Microsoft YaHei" pitchFamily="34" charset="-120"/>
              </a:rPr>
              <a:t>完成即移出，新请求补进</a:t>
            </a:r>
            <a:endParaRPr lang="en-US" sz="740" dirty="0"/>
          </a:p>
        </p:txBody>
      </p:sp>
      <p:sp>
        <p:nvSpPr>
          <p:cNvPr id="64" name="Shape 62"/>
          <p:cNvSpPr/>
          <p:nvPr/>
        </p:nvSpPr>
        <p:spPr>
          <a:xfrm>
            <a:off x="804672" y="4709160"/>
            <a:ext cx="2423160" cy="758952"/>
          </a:xfrm>
          <a:prstGeom prst="roundRect">
            <a:avLst>
              <a:gd name="adj" fmla="val 5422"/>
            </a:avLst>
          </a:prstGeom>
          <a:solidFill>
            <a:srgbClr val="FFF1F2"/>
          </a:solidFill>
          <a:ln w="9525">
            <a:solidFill>
              <a:srgbClr val="C7000B"/>
            </a:solidFill>
            <a:prstDash val="solid"/>
          </a:ln>
        </p:spPr>
      </p:sp>
      <p:sp>
        <p:nvSpPr>
          <p:cNvPr id="65" name="Text 63"/>
          <p:cNvSpPr/>
          <p:nvPr/>
        </p:nvSpPr>
        <p:spPr>
          <a:xfrm>
            <a:off x="950976" y="4864608"/>
            <a:ext cx="777240" cy="109728"/>
          </a:xfrm>
          <a:prstGeom prst="rect">
            <a:avLst/>
          </a:prstGeom>
          <a:noFill/>
          <a:ln/>
        </p:spPr>
        <p:txBody>
          <a:bodyPr wrap="square" lIns="0" tIns="0" rIns="0" bIns="0" rtlCol="0" anchor="ctr"/>
          <a:lstStyle/>
          <a:p>
            <a:pPr indent="0" marL="0">
              <a:buNone/>
            </a:pPr>
            <a:r>
              <a:rPr lang="en-US" sz="740" b="1" dirty="0">
                <a:solidFill>
                  <a:srgbClr val="C7000B"/>
                </a:solidFill>
                <a:latin typeface="Microsoft YaHei" pitchFamily="34" charset="0"/>
                <a:ea typeface="Microsoft YaHei" pitchFamily="34" charset="-122"/>
                <a:cs typeface="Microsoft YaHei" pitchFamily="34" charset="-120"/>
              </a:rPr>
              <a:t>解决什么</a:t>
            </a:r>
            <a:endParaRPr lang="en-US" sz="740" dirty="0"/>
          </a:p>
        </p:txBody>
      </p:sp>
      <p:sp>
        <p:nvSpPr>
          <p:cNvPr id="66" name="Text 64"/>
          <p:cNvSpPr/>
          <p:nvPr/>
        </p:nvSpPr>
        <p:spPr>
          <a:xfrm>
            <a:off x="95097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GPU 利用率低、吞吐不够</a:t>
            </a:r>
            <a:endParaRPr lang="en-US" sz="860" dirty="0"/>
          </a:p>
        </p:txBody>
      </p:sp>
      <p:sp>
        <p:nvSpPr>
          <p:cNvPr id="67" name="Shape 65"/>
          <p:cNvSpPr/>
          <p:nvPr/>
        </p:nvSpPr>
        <p:spPr>
          <a:xfrm>
            <a:off x="3593592" y="4709160"/>
            <a:ext cx="2423160" cy="758952"/>
          </a:xfrm>
          <a:prstGeom prst="roundRect">
            <a:avLst>
              <a:gd name="adj" fmla="val 5422"/>
            </a:avLst>
          </a:prstGeom>
          <a:solidFill>
            <a:srgbClr val="FFFFFF"/>
          </a:solidFill>
          <a:ln w="9525">
            <a:solidFill>
              <a:srgbClr val="DCDCDC"/>
            </a:solidFill>
            <a:prstDash val="solid"/>
          </a:ln>
        </p:spPr>
      </p:sp>
      <p:sp>
        <p:nvSpPr>
          <p:cNvPr id="68" name="Text 66"/>
          <p:cNvSpPr/>
          <p:nvPr/>
        </p:nvSpPr>
        <p:spPr>
          <a:xfrm>
            <a:off x="373989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怎么做</a:t>
            </a:r>
            <a:endParaRPr lang="en-US" sz="740" dirty="0"/>
          </a:p>
        </p:txBody>
      </p:sp>
      <p:sp>
        <p:nvSpPr>
          <p:cNvPr id="69" name="Text 67"/>
          <p:cNvSpPr/>
          <p:nvPr/>
        </p:nvSpPr>
        <p:spPr>
          <a:xfrm>
            <a:off x="373989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动态合并请求，完成的请求及时移出</a:t>
            </a:r>
            <a:endParaRPr lang="en-US" sz="860" dirty="0"/>
          </a:p>
        </p:txBody>
      </p:sp>
      <p:sp>
        <p:nvSpPr>
          <p:cNvPr id="70" name="Shape 68"/>
          <p:cNvSpPr/>
          <p:nvPr/>
        </p:nvSpPr>
        <p:spPr>
          <a:xfrm>
            <a:off x="6382512" y="4709160"/>
            <a:ext cx="2423160" cy="758952"/>
          </a:xfrm>
          <a:prstGeom prst="roundRect">
            <a:avLst>
              <a:gd name="adj" fmla="val 5422"/>
            </a:avLst>
          </a:prstGeom>
          <a:solidFill>
            <a:srgbClr val="FFFFFF"/>
          </a:solidFill>
          <a:ln w="9525">
            <a:solidFill>
              <a:srgbClr val="DCDCDC"/>
            </a:solidFill>
            <a:prstDash val="solid"/>
          </a:ln>
        </p:spPr>
      </p:sp>
      <p:sp>
        <p:nvSpPr>
          <p:cNvPr id="71" name="Text 69"/>
          <p:cNvSpPr/>
          <p:nvPr/>
        </p:nvSpPr>
        <p:spPr>
          <a:xfrm>
            <a:off x="652881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代价</a:t>
            </a:r>
            <a:endParaRPr lang="en-US" sz="740" dirty="0"/>
          </a:p>
        </p:txBody>
      </p:sp>
      <p:sp>
        <p:nvSpPr>
          <p:cNvPr id="72" name="Text 70"/>
          <p:cNvSpPr/>
          <p:nvPr/>
        </p:nvSpPr>
        <p:spPr>
          <a:xfrm>
            <a:off x="652881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调度更复杂，低延迟请求可能等待</a:t>
            </a:r>
            <a:endParaRPr lang="en-US" sz="860" dirty="0"/>
          </a:p>
        </p:txBody>
      </p:sp>
      <p:sp>
        <p:nvSpPr>
          <p:cNvPr id="73" name="Shape 71"/>
          <p:cNvSpPr/>
          <p:nvPr/>
        </p:nvSpPr>
        <p:spPr>
          <a:xfrm>
            <a:off x="9171432" y="4709160"/>
            <a:ext cx="2423160" cy="758952"/>
          </a:xfrm>
          <a:prstGeom prst="roundRect">
            <a:avLst>
              <a:gd name="adj" fmla="val 5422"/>
            </a:avLst>
          </a:prstGeom>
          <a:solidFill>
            <a:srgbClr val="FFFFFF"/>
          </a:solidFill>
          <a:ln w="9525">
            <a:solidFill>
              <a:srgbClr val="DCDCDC"/>
            </a:solidFill>
            <a:prstDash val="solid"/>
          </a:ln>
        </p:spPr>
      </p:sp>
      <p:sp>
        <p:nvSpPr>
          <p:cNvPr id="74" name="Text 72"/>
          <p:cNvSpPr/>
          <p:nvPr/>
        </p:nvSpPr>
        <p:spPr>
          <a:xfrm>
            <a:off x="931773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适用场景</a:t>
            </a:r>
            <a:endParaRPr lang="en-US" sz="740" dirty="0"/>
          </a:p>
        </p:txBody>
      </p:sp>
      <p:sp>
        <p:nvSpPr>
          <p:cNvPr id="75" name="Text 73"/>
          <p:cNvSpPr/>
          <p:nvPr/>
        </p:nvSpPr>
        <p:spPr>
          <a:xfrm>
            <a:off x="931773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高并发在线服务、批处理生成</a:t>
            </a:r>
            <a:endParaRPr lang="en-US" sz="860" dirty="0"/>
          </a:p>
        </p:txBody>
      </p:sp>
      <p:sp>
        <p:nvSpPr>
          <p:cNvPr id="76" name="Shape 74"/>
          <p:cNvSpPr/>
          <p:nvPr/>
        </p:nvSpPr>
        <p:spPr>
          <a:xfrm>
            <a:off x="804672" y="5650992"/>
            <a:ext cx="10469880" cy="493776"/>
          </a:xfrm>
          <a:prstGeom prst="roundRect">
            <a:avLst>
              <a:gd name="adj" fmla="val 9259"/>
            </a:avLst>
          </a:prstGeom>
          <a:solidFill>
            <a:srgbClr val="FFFFFF"/>
          </a:solidFill>
          <a:ln w="9525">
            <a:solidFill>
              <a:srgbClr val="DCDCDC"/>
            </a:solidFill>
            <a:prstDash val="solid"/>
          </a:ln>
        </p:spPr>
      </p:sp>
      <p:sp>
        <p:nvSpPr>
          <p:cNvPr id="77" name="Shape 75"/>
          <p:cNvSpPr/>
          <p:nvPr/>
        </p:nvSpPr>
        <p:spPr>
          <a:xfrm>
            <a:off x="804672" y="5650992"/>
            <a:ext cx="91440" cy="493776"/>
          </a:xfrm>
          <a:prstGeom prst="rect">
            <a:avLst/>
          </a:prstGeom>
          <a:solidFill>
            <a:srgbClr val="C7000B"/>
          </a:solidFill>
          <a:ln w="12700">
            <a:solidFill>
              <a:srgbClr val="C7000B"/>
            </a:solidFill>
            <a:prstDash val="solid"/>
          </a:ln>
        </p:spPr>
      </p:sp>
      <p:sp>
        <p:nvSpPr>
          <p:cNvPr id="78" name="Text 76"/>
          <p:cNvSpPr/>
          <p:nvPr/>
        </p:nvSpPr>
        <p:spPr>
          <a:xfrm>
            <a:off x="1051560" y="5760720"/>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79" name="Text 77"/>
          <p:cNvSpPr/>
          <p:nvPr/>
        </p:nvSpPr>
        <p:spPr>
          <a:xfrm>
            <a:off x="1874520" y="5815584"/>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Batching 通常提升吞吐，同时会带来单请求延迟权衡。</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11</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10 / QUANTIZATION</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量化：降低显存和计算成本</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把权重或 KV Cache 用更低位宽表示，用精度换成本与速度。</a:t>
            </a:r>
            <a:endParaRPr lang="en-US" sz="1080" dirty="0"/>
          </a:p>
        </p:txBody>
      </p:sp>
      <p:sp>
        <p:nvSpPr>
          <p:cNvPr id="11" name="Text 9"/>
          <p:cNvSpPr/>
          <p:nvPr/>
        </p:nvSpPr>
        <p:spPr>
          <a:xfrm>
            <a:off x="822960" y="1664208"/>
            <a:ext cx="6309360" cy="237744"/>
          </a:xfrm>
          <a:prstGeom prst="rect">
            <a:avLst/>
          </a:prstGeom>
          <a:noFill/>
          <a:ln/>
        </p:spPr>
        <p:txBody>
          <a:bodyPr wrap="square" lIns="0" tIns="0" rIns="0" bIns="0" rtlCol="0" anchor="ctr">
            <a:normAutofit/>
          </a:bodyPr>
          <a:lstStyle/>
          <a:p>
            <a:pPr indent="0" marL="0">
              <a:buNone/>
            </a:pPr>
            <a:r>
              <a:rPr lang="en-US" sz="1320" b="1" dirty="0">
                <a:solidFill>
                  <a:srgbClr val="C7000B"/>
                </a:solidFill>
                <a:latin typeface="Microsoft YaHei" pitchFamily="34" charset="0"/>
                <a:ea typeface="Microsoft YaHei" pitchFamily="34" charset="-122"/>
                <a:cs typeface="Microsoft YaHei" pitchFamily="34" charset="-120"/>
              </a:rPr>
              <a:t>量化不是免费加速，而是精度、速度和成本之间的取舍。</a:t>
            </a:r>
            <a:endParaRPr lang="en-US" sz="1320" dirty="0"/>
          </a:p>
        </p:txBody>
      </p:sp>
      <p:sp>
        <p:nvSpPr>
          <p:cNvPr id="12" name="Text 10"/>
          <p:cNvSpPr/>
          <p:nvPr/>
        </p:nvSpPr>
        <p:spPr>
          <a:xfrm>
            <a:off x="1005840" y="2340864"/>
            <a:ext cx="1097280" cy="109728"/>
          </a:xfrm>
          <a:prstGeom prst="rect">
            <a:avLst/>
          </a:prstGeom>
          <a:noFill/>
          <a:ln/>
        </p:spPr>
        <p:txBody>
          <a:bodyPr wrap="square" lIns="0" tIns="0" rIns="0" bIns="0" rtlCol="0" anchor="ctr"/>
          <a:lstStyle/>
          <a:p>
            <a:pPr indent="0" marL="0">
              <a:buNone/>
            </a:pPr>
            <a:r>
              <a:rPr lang="en-US" sz="880" b="1" dirty="0">
                <a:solidFill>
                  <a:srgbClr val="385A7C"/>
                </a:solidFill>
                <a:latin typeface="Microsoft YaHei" pitchFamily="34" charset="0"/>
                <a:ea typeface="Microsoft YaHei" pitchFamily="34" charset="-122"/>
                <a:cs typeface="Microsoft YaHei" pitchFamily="34" charset="-120"/>
              </a:rPr>
              <a:t>FP16/BF16</a:t>
            </a:r>
            <a:endParaRPr lang="en-US" sz="880" dirty="0"/>
          </a:p>
        </p:txBody>
      </p:sp>
      <p:sp>
        <p:nvSpPr>
          <p:cNvPr id="13" name="Shape 11"/>
          <p:cNvSpPr/>
          <p:nvPr/>
        </p:nvSpPr>
        <p:spPr>
          <a:xfrm>
            <a:off x="2331720" y="2368296"/>
            <a:ext cx="4343400" cy="164592"/>
          </a:xfrm>
          <a:prstGeom prst="rect">
            <a:avLst/>
          </a:prstGeom>
          <a:solidFill>
            <a:srgbClr val="E3E3E3"/>
          </a:solidFill>
          <a:ln w="12700">
            <a:solidFill>
              <a:srgbClr val="E3E3E3"/>
            </a:solidFill>
            <a:prstDash val="solid"/>
          </a:ln>
        </p:spPr>
      </p:sp>
      <p:sp>
        <p:nvSpPr>
          <p:cNvPr id="14" name="Shape 12"/>
          <p:cNvSpPr/>
          <p:nvPr/>
        </p:nvSpPr>
        <p:spPr>
          <a:xfrm>
            <a:off x="2331720" y="2368296"/>
            <a:ext cx="4343400" cy="164592"/>
          </a:xfrm>
          <a:prstGeom prst="rect">
            <a:avLst/>
          </a:prstGeom>
          <a:solidFill>
            <a:srgbClr val="385A7C"/>
          </a:solidFill>
          <a:ln w="12700">
            <a:solidFill>
              <a:srgbClr val="385A7C"/>
            </a:solidFill>
            <a:prstDash val="solid"/>
          </a:ln>
        </p:spPr>
      </p:sp>
      <p:sp>
        <p:nvSpPr>
          <p:cNvPr id="15" name="Text 13"/>
          <p:cNvSpPr/>
          <p:nvPr/>
        </p:nvSpPr>
        <p:spPr>
          <a:xfrm>
            <a:off x="6903720" y="2322576"/>
            <a:ext cx="1051560" cy="128016"/>
          </a:xfrm>
          <a:prstGeom prst="rect">
            <a:avLst/>
          </a:prstGeom>
          <a:noFill/>
          <a:ln/>
        </p:spPr>
        <p:txBody>
          <a:bodyPr wrap="square" lIns="0" tIns="0" rIns="0" bIns="0" rtlCol="0" anchor="ctr"/>
          <a:lstStyle/>
          <a:p>
            <a:pPr indent="0" marL="0">
              <a:buNone/>
            </a:pPr>
            <a:r>
              <a:rPr lang="en-US" sz="800" dirty="0">
                <a:solidFill>
                  <a:srgbClr val="666666"/>
                </a:solidFill>
                <a:latin typeface="Microsoft YaHei" pitchFamily="34" charset="0"/>
                <a:ea typeface="Microsoft YaHei" pitchFamily="34" charset="-122"/>
                <a:cs typeface="Microsoft YaHei" pitchFamily="34" charset="-120"/>
              </a:rPr>
              <a:t>精度稳</a:t>
            </a:r>
            <a:endParaRPr lang="en-US" sz="800" dirty="0"/>
          </a:p>
        </p:txBody>
      </p:sp>
      <p:sp>
        <p:nvSpPr>
          <p:cNvPr id="16" name="Text 14"/>
          <p:cNvSpPr/>
          <p:nvPr/>
        </p:nvSpPr>
        <p:spPr>
          <a:xfrm>
            <a:off x="1005840" y="2999232"/>
            <a:ext cx="1097280" cy="109728"/>
          </a:xfrm>
          <a:prstGeom prst="rect">
            <a:avLst/>
          </a:prstGeom>
          <a:noFill/>
          <a:ln/>
        </p:spPr>
        <p:txBody>
          <a:bodyPr wrap="square" lIns="0" tIns="0" rIns="0" bIns="0" rtlCol="0" anchor="ctr"/>
          <a:lstStyle/>
          <a:p>
            <a:pPr indent="0" marL="0">
              <a:buNone/>
            </a:pPr>
            <a:r>
              <a:rPr lang="en-US" sz="880" b="1" dirty="0">
                <a:solidFill>
                  <a:srgbClr val="0F8B8D"/>
                </a:solidFill>
                <a:latin typeface="Microsoft YaHei" pitchFamily="34" charset="0"/>
                <a:ea typeface="Microsoft YaHei" pitchFamily="34" charset="-122"/>
                <a:cs typeface="Microsoft YaHei" pitchFamily="34" charset="-120"/>
              </a:rPr>
              <a:t>INT8</a:t>
            </a:r>
            <a:endParaRPr lang="en-US" sz="880" dirty="0"/>
          </a:p>
        </p:txBody>
      </p:sp>
      <p:sp>
        <p:nvSpPr>
          <p:cNvPr id="17" name="Shape 15"/>
          <p:cNvSpPr/>
          <p:nvPr/>
        </p:nvSpPr>
        <p:spPr>
          <a:xfrm>
            <a:off x="2331720" y="3026664"/>
            <a:ext cx="4343400" cy="164592"/>
          </a:xfrm>
          <a:prstGeom prst="rect">
            <a:avLst/>
          </a:prstGeom>
          <a:solidFill>
            <a:srgbClr val="E3E3E3"/>
          </a:solidFill>
          <a:ln w="12700">
            <a:solidFill>
              <a:srgbClr val="E3E3E3"/>
            </a:solidFill>
            <a:prstDash val="solid"/>
          </a:ln>
        </p:spPr>
      </p:sp>
      <p:sp>
        <p:nvSpPr>
          <p:cNvPr id="18" name="Shape 16"/>
          <p:cNvSpPr/>
          <p:nvPr/>
        </p:nvSpPr>
        <p:spPr>
          <a:xfrm>
            <a:off x="2331720" y="3026664"/>
            <a:ext cx="2432304" cy="164592"/>
          </a:xfrm>
          <a:prstGeom prst="rect">
            <a:avLst/>
          </a:prstGeom>
          <a:solidFill>
            <a:srgbClr val="0F8B8D"/>
          </a:solidFill>
          <a:ln w="12700">
            <a:solidFill>
              <a:srgbClr val="0F8B8D"/>
            </a:solidFill>
            <a:prstDash val="solid"/>
          </a:ln>
        </p:spPr>
      </p:sp>
      <p:sp>
        <p:nvSpPr>
          <p:cNvPr id="19" name="Text 17"/>
          <p:cNvSpPr/>
          <p:nvPr/>
        </p:nvSpPr>
        <p:spPr>
          <a:xfrm>
            <a:off x="6903720" y="2980944"/>
            <a:ext cx="1051560" cy="128016"/>
          </a:xfrm>
          <a:prstGeom prst="rect">
            <a:avLst/>
          </a:prstGeom>
          <a:noFill/>
          <a:ln/>
        </p:spPr>
        <p:txBody>
          <a:bodyPr wrap="square" lIns="0" tIns="0" rIns="0" bIns="0" rtlCol="0" anchor="ctr"/>
          <a:lstStyle/>
          <a:p>
            <a:pPr indent="0" marL="0">
              <a:buNone/>
            </a:pPr>
            <a:r>
              <a:rPr lang="en-US" sz="800" dirty="0">
                <a:solidFill>
                  <a:srgbClr val="666666"/>
                </a:solidFill>
                <a:latin typeface="Microsoft YaHei" pitchFamily="34" charset="0"/>
                <a:ea typeface="Microsoft YaHei" pitchFamily="34" charset="-122"/>
                <a:cs typeface="Microsoft YaHei" pitchFamily="34" charset="-120"/>
              </a:rPr>
              <a:t>常见折中</a:t>
            </a:r>
            <a:endParaRPr lang="en-US" sz="800" dirty="0"/>
          </a:p>
        </p:txBody>
      </p:sp>
      <p:sp>
        <p:nvSpPr>
          <p:cNvPr id="20" name="Text 18"/>
          <p:cNvSpPr/>
          <p:nvPr/>
        </p:nvSpPr>
        <p:spPr>
          <a:xfrm>
            <a:off x="1005840" y="3657600"/>
            <a:ext cx="1097280" cy="109728"/>
          </a:xfrm>
          <a:prstGeom prst="rect">
            <a:avLst/>
          </a:prstGeom>
          <a:noFill/>
          <a:ln/>
        </p:spPr>
        <p:txBody>
          <a:bodyPr wrap="square" lIns="0" tIns="0" rIns="0" bIns="0" rtlCol="0" anchor="ctr"/>
          <a:lstStyle/>
          <a:p>
            <a:pPr indent="0" marL="0">
              <a:buNone/>
            </a:pPr>
            <a:r>
              <a:rPr lang="en-US" sz="880" b="1" dirty="0">
                <a:solidFill>
                  <a:srgbClr val="C7000B"/>
                </a:solidFill>
                <a:latin typeface="Microsoft YaHei" pitchFamily="34" charset="0"/>
                <a:ea typeface="Microsoft YaHei" pitchFamily="34" charset="-122"/>
                <a:cs typeface="Microsoft YaHei" pitchFamily="34" charset="-120"/>
              </a:rPr>
              <a:t>INT4</a:t>
            </a:r>
            <a:endParaRPr lang="en-US" sz="880" dirty="0"/>
          </a:p>
        </p:txBody>
      </p:sp>
      <p:sp>
        <p:nvSpPr>
          <p:cNvPr id="21" name="Shape 19"/>
          <p:cNvSpPr/>
          <p:nvPr/>
        </p:nvSpPr>
        <p:spPr>
          <a:xfrm>
            <a:off x="2331720" y="3685032"/>
            <a:ext cx="4343400" cy="164592"/>
          </a:xfrm>
          <a:prstGeom prst="rect">
            <a:avLst/>
          </a:prstGeom>
          <a:solidFill>
            <a:srgbClr val="E3E3E3"/>
          </a:solidFill>
          <a:ln w="12700">
            <a:solidFill>
              <a:srgbClr val="E3E3E3"/>
            </a:solidFill>
            <a:prstDash val="solid"/>
          </a:ln>
        </p:spPr>
      </p:sp>
      <p:sp>
        <p:nvSpPr>
          <p:cNvPr id="22" name="Shape 20"/>
          <p:cNvSpPr/>
          <p:nvPr/>
        </p:nvSpPr>
        <p:spPr>
          <a:xfrm>
            <a:off x="2331720" y="3685032"/>
            <a:ext cx="1389888" cy="164592"/>
          </a:xfrm>
          <a:prstGeom prst="rect">
            <a:avLst/>
          </a:prstGeom>
          <a:solidFill>
            <a:srgbClr val="C7000B"/>
          </a:solidFill>
          <a:ln w="12700">
            <a:solidFill>
              <a:srgbClr val="C7000B"/>
            </a:solidFill>
            <a:prstDash val="solid"/>
          </a:ln>
        </p:spPr>
      </p:sp>
      <p:sp>
        <p:nvSpPr>
          <p:cNvPr id="23" name="Text 21"/>
          <p:cNvSpPr/>
          <p:nvPr/>
        </p:nvSpPr>
        <p:spPr>
          <a:xfrm>
            <a:off x="6903720" y="3639312"/>
            <a:ext cx="1051560" cy="128016"/>
          </a:xfrm>
          <a:prstGeom prst="rect">
            <a:avLst/>
          </a:prstGeom>
          <a:noFill/>
          <a:ln/>
        </p:spPr>
        <p:txBody>
          <a:bodyPr wrap="square" lIns="0" tIns="0" rIns="0" bIns="0" rtlCol="0" anchor="ctr"/>
          <a:lstStyle/>
          <a:p>
            <a:pPr indent="0" marL="0">
              <a:buNone/>
            </a:pPr>
            <a:r>
              <a:rPr lang="en-US" sz="800" dirty="0">
                <a:solidFill>
                  <a:srgbClr val="666666"/>
                </a:solidFill>
                <a:latin typeface="Microsoft YaHei" pitchFamily="34" charset="0"/>
                <a:ea typeface="Microsoft YaHei" pitchFamily="34" charset="-122"/>
                <a:cs typeface="Microsoft YaHei" pitchFamily="34" charset="-120"/>
              </a:rPr>
              <a:t>更省显存</a:t>
            </a:r>
            <a:endParaRPr lang="en-US" sz="800" dirty="0"/>
          </a:p>
        </p:txBody>
      </p:sp>
      <p:sp>
        <p:nvSpPr>
          <p:cNvPr id="24" name="Shape 22"/>
          <p:cNvSpPr/>
          <p:nvPr/>
        </p:nvSpPr>
        <p:spPr>
          <a:xfrm>
            <a:off x="8732520" y="2212848"/>
            <a:ext cx="1554480" cy="1234440"/>
          </a:xfrm>
          <a:prstGeom prst="roundRect">
            <a:avLst>
              <a:gd name="adj" fmla="val 3333"/>
            </a:avLst>
          </a:prstGeom>
          <a:solidFill>
            <a:srgbClr val="FFF1F2"/>
          </a:solidFill>
          <a:ln w="9525">
            <a:solidFill>
              <a:srgbClr val="C7000B"/>
            </a:solidFill>
            <a:prstDash val="solid"/>
          </a:ln>
        </p:spPr>
      </p:sp>
      <p:sp>
        <p:nvSpPr>
          <p:cNvPr id="25" name="Text 23"/>
          <p:cNvSpPr/>
          <p:nvPr/>
        </p:nvSpPr>
        <p:spPr>
          <a:xfrm>
            <a:off x="9006840" y="2487168"/>
            <a:ext cx="1005840" cy="411480"/>
          </a:xfrm>
          <a:prstGeom prst="rect">
            <a:avLst/>
          </a:prstGeom>
          <a:noFill/>
          <a:ln/>
        </p:spPr>
        <p:txBody>
          <a:bodyPr wrap="square" lIns="0" tIns="0" rIns="0" bIns="0" rtlCol="0" anchor="ctr"/>
          <a:lstStyle/>
          <a:p>
            <a:pPr algn="ctr" indent="0" marL="0">
              <a:buNone/>
            </a:pPr>
            <a:r>
              <a:rPr lang="en-US" sz="1050" b="1" dirty="0">
                <a:solidFill>
                  <a:srgbClr val="C7000B"/>
                </a:solidFill>
                <a:latin typeface="Microsoft YaHei" pitchFamily="34" charset="0"/>
                <a:ea typeface="Microsoft YaHei" pitchFamily="34" charset="-122"/>
                <a:cs typeface="Microsoft YaHei" pitchFamily="34" charset="-120"/>
              </a:rPr>
              <a:t>权重</a:t>
            </a:r>
            <a:endParaRPr lang="en-US" sz="1050" dirty="0"/>
          </a:p>
          <a:p>
            <a:pPr algn="ctr" indent="0" marL="0">
              <a:buNone/>
            </a:pPr>
            <a:r>
              <a:rPr lang="en-US" sz="1050" b="1" dirty="0">
                <a:solidFill>
                  <a:srgbClr val="C7000B"/>
                </a:solidFill>
                <a:latin typeface="Microsoft YaHei" pitchFamily="34" charset="0"/>
                <a:ea typeface="Microsoft YaHei" pitchFamily="34" charset="-122"/>
                <a:cs typeface="Microsoft YaHei" pitchFamily="34" charset="-120"/>
              </a:rPr>
              <a:t>KV Cache</a:t>
            </a:r>
            <a:endParaRPr lang="en-US" sz="1050" dirty="0"/>
          </a:p>
          <a:p>
            <a:pPr algn="ctr" indent="0" marL="0">
              <a:buNone/>
            </a:pPr>
            <a:r>
              <a:rPr lang="en-US" sz="1050" b="1" dirty="0">
                <a:solidFill>
                  <a:srgbClr val="C7000B"/>
                </a:solidFill>
                <a:latin typeface="Microsoft YaHei" pitchFamily="34" charset="0"/>
                <a:ea typeface="Microsoft YaHei" pitchFamily="34" charset="-122"/>
                <a:cs typeface="Microsoft YaHei" pitchFamily="34" charset="-120"/>
              </a:rPr>
              <a:t>激活</a:t>
            </a:r>
            <a:endParaRPr lang="en-US" sz="1050" dirty="0"/>
          </a:p>
        </p:txBody>
      </p:sp>
      <p:sp>
        <p:nvSpPr>
          <p:cNvPr id="26" name="Shape 24"/>
          <p:cNvSpPr/>
          <p:nvPr/>
        </p:nvSpPr>
        <p:spPr>
          <a:xfrm>
            <a:off x="804672" y="4709160"/>
            <a:ext cx="2423160" cy="758952"/>
          </a:xfrm>
          <a:prstGeom prst="roundRect">
            <a:avLst>
              <a:gd name="adj" fmla="val 5422"/>
            </a:avLst>
          </a:prstGeom>
          <a:solidFill>
            <a:srgbClr val="FFF1F2"/>
          </a:solidFill>
          <a:ln w="9525">
            <a:solidFill>
              <a:srgbClr val="C7000B"/>
            </a:solidFill>
            <a:prstDash val="solid"/>
          </a:ln>
        </p:spPr>
      </p:sp>
      <p:sp>
        <p:nvSpPr>
          <p:cNvPr id="27" name="Text 25"/>
          <p:cNvSpPr/>
          <p:nvPr/>
        </p:nvSpPr>
        <p:spPr>
          <a:xfrm>
            <a:off x="950976" y="4864608"/>
            <a:ext cx="777240" cy="109728"/>
          </a:xfrm>
          <a:prstGeom prst="rect">
            <a:avLst/>
          </a:prstGeom>
          <a:noFill/>
          <a:ln/>
        </p:spPr>
        <p:txBody>
          <a:bodyPr wrap="square" lIns="0" tIns="0" rIns="0" bIns="0" rtlCol="0" anchor="ctr"/>
          <a:lstStyle/>
          <a:p>
            <a:pPr indent="0" marL="0">
              <a:buNone/>
            </a:pPr>
            <a:r>
              <a:rPr lang="en-US" sz="740" b="1" dirty="0">
                <a:solidFill>
                  <a:srgbClr val="C7000B"/>
                </a:solidFill>
                <a:latin typeface="Microsoft YaHei" pitchFamily="34" charset="0"/>
                <a:ea typeface="Microsoft YaHei" pitchFamily="34" charset="-122"/>
                <a:cs typeface="Microsoft YaHei" pitchFamily="34" charset="-120"/>
              </a:rPr>
              <a:t>解决什么</a:t>
            </a:r>
            <a:endParaRPr lang="en-US" sz="740" dirty="0"/>
          </a:p>
        </p:txBody>
      </p:sp>
      <p:sp>
        <p:nvSpPr>
          <p:cNvPr id="28" name="Text 26"/>
          <p:cNvSpPr/>
          <p:nvPr/>
        </p:nvSpPr>
        <p:spPr>
          <a:xfrm>
            <a:off x="95097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显存压力、推理成本高</a:t>
            </a:r>
            <a:endParaRPr lang="en-US" sz="860" dirty="0"/>
          </a:p>
        </p:txBody>
      </p:sp>
      <p:sp>
        <p:nvSpPr>
          <p:cNvPr id="29" name="Shape 27"/>
          <p:cNvSpPr/>
          <p:nvPr/>
        </p:nvSpPr>
        <p:spPr>
          <a:xfrm>
            <a:off x="3593592" y="4709160"/>
            <a:ext cx="2423160" cy="758952"/>
          </a:xfrm>
          <a:prstGeom prst="roundRect">
            <a:avLst>
              <a:gd name="adj" fmla="val 5422"/>
            </a:avLst>
          </a:prstGeom>
          <a:solidFill>
            <a:srgbClr val="FFFFFF"/>
          </a:solidFill>
          <a:ln w="9525">
            <a:solidFill>
              <a:srgbClr val="DCDCDC"/>
            </a:solidFill>
            <a:prstDash val="solid"/>
          </a:ln>
        </p:spPr>
      </p:sp>
      <p:sp>
        <p:nvSpPr>
          <p:cNvPr id="30" name="Text 28"/>
          <p:cNvSpPr/>
          <p:nvPr/>
        </p:nvSpPr>
        <p:spPr>
          <a:xfrm>
            <a:off x="373989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怎么做</a:t>
            </a:r>
            <a:endParaRPr lang="en-US" sz="740" dirty="0"/>
          </a:p>
        </p:txBody>
      </p:sp>
      <p:sp>
        <p:nvSpPr>
          <p:cNvPr id="31" name="Text 29"/>
          <p:cNvSpPr/>
          <p:nvPr/>
        </p:nvSpPr>
        <p:spPr>
          <a:xfrm>
            <a:off x="373989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降低权重或 KV Cache 的位宽</a:t>
            </a:r>
            <a:endParaRPr lang="en-US" sz="860" dirty="0"/>
          </a:p>
        </p:txBody>
      </p:sp>
      <p:sp>
        <p:nvSpPr>
          <p:cNvPr id="32" name="Shape 30"/>
          <p:cNvSpPr/>
          <p:nvPr/>
        </p:nvSpPr>
        <p:spPr>
          <a:xfrm>
            <a:off x="6382512" y="4709160"/>
            <a:ext cx="2423160" cy="758952"/>
          </a:xfrm>
          <a:prstGeom prst="roundRect">
            <a:avLst>
              <a:gd name="adj" fmla="val 5422"/>
            </a:avLst>
          </a:prstGeom>
          <a:solidFill>
            <a:srgbClr val="FFFFFF"/>
          </a:solidFill>
          <a:ln w="9525">
            <a:solidFill>
              <a:srgbClr val="DCDCDC"/>
            </a:solidFill>
            <a:prstDash val="solid"/>
          </a:ln>
        </p:spPr>
      </p:sp>
      <p:sp>
        <p:nvSpPr>
          <p:cNvPr id="33" name="Text 31"/>
          <p:cNvSpPr/>
          <p:nvPr/>
        </p:nvSpPr>
        <p:spPr>
          <a:xfrm>
            <a:off x="652881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代价</a:t>
            </a:r>
            <a:endParaRPr lang="en-US" sz="740" dirty="0"/>
          </a:p>
        </p:txBody>
      </p:sp>
      <p:sp>
        <p:nvSpPr>
          <p:cNvPr id="34" name="Text 32"/>
          <p:cNvSpPr/>
          <p:nvPr/>
        </p:nvSpPr>
        <p:spPr>
          <a:xfrm>
            <a:off x="652881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可能损失精度，也依赖硬件 kernel</a:t>
            </a:r>
            <a:endParaRPr lang="en-US" sz="860" dirty="0"/>
          </a:p>
        </p:txBody>
      </p:sp>
      <p:sp>
        <p:nvSpPr>
          <p:cNvPr id="35" name="Shape 33"/>
          <p:cNvSpPr/>
          <p:nvPr/>
        </p:nvSpPr>
        <p:spPr>
          <a:xfrm>
            <a:off x="9171432" y="4709160"/>
            <a:ext cx="2423160" cy="758952"/>
          </a:xfrm>
          <a:prstGeom prst="roundRect">
            <a:avLst>
              <a:gd name="adj" fmla="val 5422"/>
            </a:avLst>
          </a:prstGeom>
          <a:solidFill>
            <a:srgbClr val="FFFFFF"/>
          </a:solidFill>
          <a:ln w="9525">
            <a:solidFill>
              <a:srgbClr val="DCDCDC"/>
            </a:solidFill>
            <a:prstDash val="solid"/>
          </a:ln>
        </p:spPr>
      </p:sp>
      <p:sp>
        <p:nvSpPr>
          <p:cNvPr id="36" name="Text 34"/>
          <p:cNvSpPr/>
          <p:nvPr/>
        </p:nvSpPr>
        <p:spPr>
          <a:xfrm>
            <a:off x="931773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适用场景</a:t>
            </a:r>
            <a:endParaRPr lang="en-US" sz="740" dirty="0"/>
          </a:p>
        </p:txBody>
      </p:sp>
      <p:sp>
        <p:nvSpPr>
          <p:cNvPr id="37" name="Text 35"/>
          <p:cNvSpPr/>
          <p:nvPr/>
        </p:nvSpPr>
        <p:spPr>
          <a:xfrm>
            <a:off x="931773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成本敏感、吞吐优先、可接受轻微精度损失</a:t>
            </a:r>
            <a:endParaRPr lang="en-US" sz="860" dirty="0"/>
          </a:p>
        </p:txBody>
      </p:sp>
      <p:sp>
        <p:nvSpPr>
          <p:cNvPr id="38" name="Shape 36"/>
          <p:cNvSpPr/>
          <p:nvPr/>
        </p:nvSpPr>
        <p:spPr>
          <a:xfrm>
            <a:off x="804672" y="5650992"/>
            <a:ext cx="10469880" cy="493776"/>
          </a:xfrm>
          <a:prstGeom prst="roundRect">
            <a:avLst>
              <a:gd name="adj" fmla="val 9259"/>
            </a:avLst>
          </a:prstGeom>
          <a:solidFill>
            <a:srgbClr val="FFFFFF"/>
          </a:solidFill>
          <a:ln w="9525">
            <a:solidFill>
              <a:srgbClr val="DCDCDC"/>
            </a:solidFill>
            <a:prstDash val="solid"/>
          </a:ln>
        </p:spPr>
      </p:sp>
      <p:sp>
        <p:nvSpPr>
          <p:cNvPr id="39" name="Shape 37"/>
          <p:cNvSpPr/>
          <p:nvPr/>
        </p:nvSpPr>
        <p:spPr>
          <a:xfrm>
            <a:off x="804672" y="5650992"/>
            <a:ext cx="91440" cy="493776"/>
          </a:xfrm>
          <a:prstGeom prst="rect">
            <a:avLst/>
          </a:prstGeom>
          <a:solidFill>
            <a:srgbClr val="C7000B"/>
          </a:solidFill>
          <a:ln w="12700">
            <a:solidFill>
              <a:srgbClr val="C7000B"/>
            </a:solidFill>
            <a:prstDash val="solid"/>
          </a:ln>
        </p:spPr>
      </p:sp>
      <p:sp>
        <p:nvSpPr>
          <p:cNvPr id="40" name="Text 38"/>
          <p:cNvSpPr/>
          <p:nvPr/>
        </p:nvSpPr>
        <p:spPr>
          <a:xfrm>
            <a:off x="1051560" y="5760720"/>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41" name="Text 39"/>
          <p:cNvSpPr/>
          <p:nvPr/>
        </p:nvSpPr>
        <p:spPr>
          <a:xfrm>
            <a:off x="1874520" y="5815584"/>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量化收益需要结合业务数据验证效果损失。</a:t>
            </a:r>
            <a:endParaRPr lang="en-US" sz="10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12</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11 / INFERENCE ENGINES</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推理框架：把优化工程化</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推理框架把调度、缓存、算子和分布式能力集成到一套服务化系统里。</a:t>
            </a:r>
            <a:endParaRPr lang="en-US" sz="1080" dirty="0"/>
          </a:p>
        </p:txBody>
      </p:sp>
      <p:sp>
        <p:nvSpPr>
          <p:cNvPr id="11" name="Text 9"/>
          <p:cNvSpPr/>
          <p:nvPr/>
        </p:nvSpPr>
        <p:spPr>
          <a:xfrm>
            <a:off x="822960" y="1664208"/>
            <a:ext cx="6309360" cy="237744"/>
          </a:xfrm>
          <a:prstGeom prst="rect">
            <a:avLst/>
          </a:prstGeom>
          <a:noFill/>
          <a:ln/>
        </p:spPr>
        <p:txBody>
          <a:bodyPr wrap="square" lIns="0" tIns="0" rIns="0" bIns="0" rtlCol="0" anchor="ctr">
            <a:normAutofit/>
          </a:bodyPr>
          <a:lstStyle/>
          <a:p>
            <a:pPr indent="0" marL="0">
              <a:buNone/>
            </a:pPr>
            <a:r>
              <a:rPr lang="en-US" sz="1320" b="1" dirty="0">
                <a:solidFill>
                  <a:srgbClr val="C7000B"/>
                </a:solidFill>
                <a:latin typeface="Microsoft YaHei" pitchFamily="34" charset="0"/>
                <a:ea typeface="Microsoft YaHei" pitchFamily="34" charset="-122"/>
                <a:cs typeface="Microsoft YaHei" pitchFamily="34" charset="-120"/>
              </a:rPr>
              <a:t>推理框架把单点优化变成可复用的系统能力。</a:t>
            </a:r>
            <a:endParaRPr lang="en-US" sz="1320" dirty="0"/>
          </a:p>
        </p:txBody>
      </p:sp>
      <p:sp>
        <p:nvSpPr>
          <p:cNvPr id="12" name="Shape 10"/>
          <p:cNvSpPr/>
          <p:nvPr/>
        </p:nvSpPr>
        <p:spPr>
          <a:xfrm>
            <a:off x="4617720" y="2487168"/>
            <a:ext cx="2176272" cy="914400"/>
          </a:xfrm>
          <a:prstGeom prst="roundRect">
            <a:avLst>
              <a:gd name="adj" fmla="val 4500"/>
            </a:avLst>
          </a:prstGeom>
          <a:solidFill>
            <a:srgbClr val="111111"/>
          </a:solidFill>
          <a:ln w="9525">
            <a:solidFill>
              <a:srgbClr val="111111"/>
            </a:solidFill>
            <a:prstDash val="solid"/>
          </a:ln>
        </p:spPr>
      </p:sp>
      <p:sp>
        <p:nvSpPr>
          <p:cNvPr id="13" name="Text 11"/>
          <p:cNvSpPr/>
          <p:nvPr/>
        </p:nvSpPr>
        <p:spPr>
          <a:xfrm>
            <a:off x="4956048" y="2724912"/>
            <a:ext cx="1481328" cy="274320"/>
          </a:xfrm>
          <a:prstGeom prst="rect">
            <a:avLst/>
          </a:prstGeom>
          <a:noFill/>
          <a:ln/>
        </p:spPr>
        <p:txBody>
          <a:bodyPr wrap="square" lIns="0" tIns="0" rIns="0" bIns="0" rtlCol="0" anchor="ctr"/>
          <a:lstStyle/>
          <a:p>
            <a:pPr algn="ctr" indent="0" marL="0">
              <a:buNone/>
            </a:pPr>
            <a:r>
              <a:rPr lang="en-US" sz="1350" b="1" dirty="0">
                <a:solidFill>
                  <a:srgbClr val="FFFFFF"/>
                </a:solidFill>
                <a:latin typeface="Microsoft YaHei" pitchFamily="34" charset="0"/>
                <a:ea typeface="Microsoft YaHei" pitchFamily="34" charset="-122"/>
                <a:cs typeface="Microsoft YaHei" pitchFamily="34" charset="-120"/>
              </a:rPr>
              <a:t>Inference</a:t>
            </a:r>
            <a:endParaRPr lang="en-US" sz="1350" dirty="0"/>
          </a:p>
          <a:p>
            <a:pPr algn="ctr" indent="0" marL="0">
              <a:buNone/>
            </a:pPr>
            <a:r>
              <a:rPr lang="en-US" sz="1350" b="1" dirty="0">
                <a:solidFill>
                  <a:srgbClr val="FFFFFF"/>
                </a:solidFill>
                <a:latin typeface="Microsoft YaHei" pitchFamily="34" charset="0"/>
                <a:ea typeface="Microsoft YaHei" pitchFamily="34" charset="-122"/>
                <a:cs typeface="Microsoft YaHei" pitchFamily="34" charset="-120"/>
              </a:rPr>
              <a:t>Engine</a:t>
            </a:r>
            <a:endParaRPr lang="en-US" sz="1350" dirty="0"/>
          </a:p>
        </p:txBody>
      </p:sp>
      <p:sp>
        <p:nvSpPr>
          <p:cNvPr id="14" name="Shape 12"/>
          <p:cNvSpPr/>
          <p:nvPr/>
        </p:nvSpPr>
        <p:spPr>
          <a:xfrm>
            <a:off x="914400" y="2084832"/>
            <a:ext cx="2468880" cy="786384"/>
          </a:xfrm>
          <a:prstGeom prst="roundRect">
            <a:avLst>
              <a:gd name="adj" fmla="val 5233"/>
            </a:avLst>
          </a:prstGeom>
          <a:solidFill>
            <a:srgbClr val="FFF1F2"/>
          </a:solidFill>
          <a:ln w="13335">
            <a:solidFill>
              <a:srgbClr val="C7000B"/>
            </a:solidFill>
            <a:prstDash val="solid"/>
          </a:ln>
        </p:spPr>
      </p:sp>
      <p:sp>
        <p:nvSpPr>
          <p:cNvPr id="15" name="Shape 13"/>
          <p:cNvSpPr/>
          <p:nvPr/>
        </p:nvSpPr>
        <p:spPr>
          <a:xfrm>
            <a:off x="914400" y="2084832"/>
            <a:ext cx="73152" cy="786384"/>
          </a:xfrm>
          <a:prstGeom prst="rect">
            <a:avLst/>
          </a:prstGeom>
          <a:solidFill>
            <a:srgbClr val="C7000B"/>
          </a:solidFill>
          <a:ln w="12700">
            <a:solidFill>
              <a:srgbClr val="C7000B"/>
            </a:solidFill>
            <a:prstDash val="solid"/>
          </a:ln>
        </p:spPr>
      </p:sp>
      <p:sp>
        <p:nvSpPr>
          <p:cNvPr id="16" name="Text 14"/>
          <p:cNvSpPr/>
          <p:nvPr/>
        </p:nvSpPr>
        <p:spPr>
          <a:xfrm>
            <a:off x="1115568" y="2212848"/>
            <a:ext cx="2176272"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调度</a:t>
            </a:r>
            <a:endParaRPr lang="en-US" sz="1080" dirty="0"/>
          </a:p>
        </p:txBody>
      </p:sp>
      <p:sp>
        <p:nvSpPr>
          <p:cNvPr id="17" name="Text 15"/>
          <p:cNvSpPr/>
          <p:nvPr/>
        </p:nvSpPr>
        <p:spPr>
          <a:xfrm>
            <a:off x="1115568" y="2468880"/>
            <a:ext cx="2176272" cy="347472"/>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动态 batch / 优先级</a:t>
            </a:r>
            <a:endParaRPr lang="en-US" sz="830" dirty="0"/>
          </a:p>
        </p:txBody>
      </p:sp>
      <p:sp>
        <p:nvSpPr>
          <p:cNvPr id="18" name="Shape 16"/>
          <p:cNvSpPr/>
          <p:nvPr/>
        </p:nvSpPr>
        <p:spPr>
          <a:xfrm>
            <a:off x="3383280" y="2478024"/>
            <a:ext cx="1188720" cy="265176"/>
          </a:xfrm>
          <a:prstGeom prst="line">
            <a:avLst/>
          </a:prstGeom>
          <a:noFill/>
          <a:ln w="12700">
            <a:solidFill>
              <a:srgbClr val="C7000B"/>
            </a:solidFill>
            <a:prstDash val="solid"/>
            <a:headEnd type="none"/>
            <a:tailEnd type="triangle"/>
          </a:ln>
        </p:spPr>
      </p:sp>
      <p:sp>
        <p:nvSpPr>
          <p:cNvPr id="19" name="Shape 17"/>
          <p:cNvSpPr/>
          <p:nvPr/>
        </p:nvSpPr>
        <p:spPr>
          <a:xfrm>
            <a:off x="8092440" y="2084832"/>
            <a:ext cx="2468880" cy="786384"/>
          </a:xfrm>
          <a:prstGeom prst="roundRect">
            <a:avLst>
              <a:gd name="adj" fmla="val 5233"/>
            </a:avLst>
          </a:prstGeom>
          <a:solidFill>
            <a:srgbClr val="FFFFFF"/>
          </a:solidFill>
          <a:ln w="13335">
            <a:solidFill>
              <a:srgbClr val="0F8B8D"/>
            </a:solidFill>
            <a:prstDash val="solid"/>
          </a:ln>
        </p:spPr>
      </p:sp>
      <p:sp>
        <p:nvSpPr>
          <p:cNvPr id="20" name="Shape 18"/>
          <p:cNvSpPr/>
          <p:nvPr/>
        </p:nvSpPr>
        <p:spPr>
          <a:xfrm>
            <a:off x="8092440" y="2084832"/>
            <a:ext cx="73152" cy="786384"/>
          </a:xfrm>
          <a:prstGeom prst="rect">
            <a:avLst/>
          </a:prstGeom>
          <a:solidFill>
            <a:srgbClr val="0F8B8D"/>
          </a:solidFill>
          <a:ln w="12700">
            <a:solidFill>
              <a:srgbClr val="0F8B8D"/>
            </a:solidFill>
            <a:prstDash val="solid"/>
          </a:ln>
        </p:spPr>
      </p:sp>
      <p:sp>
        <p:nvSpPr>
          <p:cNvPr id="21" name="Text 19"/>
          <p:cNvSpPr/>
          <p:nvPr/>
        </p:nvSpPr>
        <p:spPr>
          <a:xfrm>
            <a:off x="8293608" y="2212848"/>
            <a:ext cx="2176272"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KV 管理</a:t>
            </a:r>
            <a:endParaRPr lang="en-US" sz="1080" dirty="0"/>
          </a:p>
        </p:txBody>
      </p:sp>
      <p:sp>
        <p:nvSpPr>
          <p:cNvPr id="22" name="Text 20"/>
          <p:cNvSpPr/>
          <p:nvPr/>
        </p:nvSpPr>
        <p:spPr>
          <a:xfrm>
            <a:off x="8293608" y="2468880"/>
            <a:ext cx="2176272" cy="347472"/>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PagedAttention / prefix cache</a:t>
            </a:r>
            <a:endParaRPr lang="en-US" sz="830" dirty="0"/>
          </a:p>
        </p:txBody>
      </p:sp>
      <p:sp>
        <p:nvSpPr>
          <p:cNvPr id="23" name="Shape 21"/>
          <p:cNvSpPr/>
          <p:nvPr/>
        </p:nvSpPr>
        <p:spPr>
          <a:xfrm>
            <a:off x="8092440" y="2478024"/>
            <a:ext cx="-1252728" cy="265176"/>
          </a:xfrm>
          <a:prstGeom prst="line">
            <a:avLst/>
          </a:prstGeom>
          <a:noFill/>
          <a:ln w="12700">
            <a:solidFill>
              <a:srgbClr val="0F8B8D"/>
            </a:solidFill>
            <a:prstDash val="solid"/>
            <a:headEnd type="none"/>
            <a:tailEnd type="triangle"/>
          </a:ln>
        </p:spPr>
      </p:sp>
      <p:sp>
        <p:nvSpPr>
          <p:cNvPr id="24" name="Shape 22"/>
          <p:cNvSpPr/>
          <p:nvPr/>
        </p:nvSpPr>
        <p:spPr>
          <a:xfrm>
            <a:off x="914400" y="3675888"/>
            <a:ext cx="2468880" cy="786384"/>
          </a:xfrm>
          <a:prstGeom prst="roundRect">
            <a:avLst>
              <a:gd name="adj" fmla="val 5233"/>
            </a:avLst>
          </a:prstGeom>
          <a:solidFill>
            <a:srgbClr val="FFFFFF"/>
          </a:solidFill>
          <a:ln w="13335">
            <a:solidFill>
              <a:srgbClr val="385A7C"/>
            </a:solidFill>
            <a:prstDash val="solid"/>
          </a:ln>
        </p:spPr>
      </p:sp>
      <p:sp>
        <p:nvSpPr>
          <p:cNvPr id="25" name="Shape 23"/>
          <p:cNvSpPr/>
          <p:nvPr/>
        </p:nvSpPr>
        <p:spPr>
          <a:xfrm>
            <a:off x="914400" y="3675888"/>
            <a:ext cx="73152" cy="786384"/>
          </a:xfrm>
          <a:prstGeom prst="rect">
            <a:avLst/>
          </a:prstGeom>
          <a:solidFill>
            <a:srgbClr val="385A7C"/>
          </a:solidFill>
          <a:ln w="12700">
            <a:solidFill>
              <a:srgbClr val="385A7C"/>
            </a:solidFill>
            <a:prstDash val="solid"/>
          </a:ln>
        </p:spPr>
      </p:sp>
      <p:sp>
        <p:nvSpPr>
          <p:cNvPr id="26" name="Text 24"/>
          <p:cNvSpPr/>
          <p:nvPr/>
        </p:nvSpPr>
        <p:spPr>
          <a:xfrm>
            <a:off x="1115568" y="3803904"/>
            <a:ext cx="2176272"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算子优化</a:t>
            </a:r>
            <a:endParaRPr lang="en-US" sz="1080" dirty="0"/>
          </a:p>
        </p:txBody>
      </p:sp>
      <p:sp>
        <p:nvSpPr>
          <p:cNvPr id="27" name="Text 25"/>
          <p:cNvSpPr/>
          <p:nvPr/>
        </p:nvSpPr>
        <p:spPr>
          <a:xfrm>
            <a:off x="1115568" y="4059936"/>
            <a:ext cx="2176272" cy="347472"/>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FlashAttention / fused kernel</a:t>
            </a:r>
            <a:endParaRPr lang="en-US" sz="830" dirty="0"/>
          </a:p>
        </p:txBody>
      </p:sp>
      <p:sp>
        <p:nvSpPr>
          <p:cNvPr id="28" name="Shape 26"/>
          <p:cNvSpPr/>
          <p:nvPr/>
        </p:nvSpPr>
        <p:spPr>
          <a:xfrm>
            <a:off x="3383280" y="4069080"/>
            <a:ext cx="1188720" cy="-914400"/>
          </a:xfrm>
          <a:prstGeom prst="line">
            <a:avLst/>
          </a:prstGeom>
          <a:noFill/>
          <a:ln w="12700">
            <a:solidFill>
              <a:srgbClr val="385A7C"/>
            </a:solidFill>
            <a:prstDash val="solid"/>
            <a:headEnd type="none"/>
            <a:tailEnd type="triangle"/>
          </a:ln>
        </p:spPr>
      </p:sp>
      <p:sp>
        <p:nvSpPr>
          <p:cNvPr id="29" name="Shape 27"/>
          <p:cNvSpPr/>
          <p:nvPr/>
        </p:nvSpPr>
        <p:spPr>
          <a:xfrm>
            <a:off x="8092440" y="3675888"/>
            <a:ext cx="2468880" cy="786384"/>
          </a:xfrm>
          <a:prstGeom prst="roundRect">
            <a:avLst>
              <a:gd name="adj" fmla="val 5233"/>
            </a:avLst>
          </a:prstGeom>
          <a:solidFill>
            <a:srgbClr val="FFFFFF"/>
          </a:solidFill>
          <a:ln w="13335">
            <a:solidFill>
              <a:srgbClr val="B99020"/>
            </a:solidFill>
            <a:prstDash val="solid"/>
          </a:ln>
        </p:spPr>
      </p:sp>
      <p:sp>
        <p:nvSpPr>
          <p:cNvPr id="30" name="Shape 28"/>
          <p:cNvSpPr/>
          <p:nvPr/>
        </p:nvSpPr>
        <p:spPr>
          <a:xfrm>
            <a:off x="8092440" y="3675888"/>
            <a:ext cx="73152" cy="786384"/>
          </a:xfrm>
          <a:prstGeom prst="rect">
            <a:avLst/>
          </a:prstGeom>
          <a:solidFill>
            <a:srgbClr val="B99020"/>
          </a:solidFill>
          <a:ln w="12700">
            <a:solidFill>
              <a:srgbClr val="B99020"/>
            </a:solidFill>
            <a:prstDash val="solid"/>
          </a:ln>
        </p:spPr>
      </p:sp>
      <p:sp>
        <p:nvSpPr>
          <p:cNvPr id="31" name="Text 29"/>
          <p:cNvSpPr/>
          <p:nvPr/>
        </p:nvSpPr>
        <p:spPr>
          <a:xfrm>
            <a:off x="8293608" y="3803904"/>
            <a:ext cx="2176272"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分布式</a:t>
            </a:r>
            <a:endParaRPr lang="en-US" sz="1080" dirty="0"/>
          </a:p>
        </p:txBody>
      </p:sp>
      <p:sp>
        <p:nvSpPr>
          <p:cNvPr id="32" name="Text 30"/>
          <p:cNvSpPr/>
          <p:nvPr/>
        </p:nvSpPr>
        <p:spPr>
          <a:xfrm>
            <a:off x="8293608" y="4059936"/>
            <a:ext cx="2176272" cy="347472"/>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TP / PP / DP / 路由</a:t>
            </a:r>
            <a:endParaRPr lang="en-US" sz="830" dirty="0"/>
          </a:p>
        </p:txBody>
      </p:sp>
      <p:sp>
        <p:nvSpPr>
          <p:cNvPr id="33" name="Shape 31"/>
          <p:cNvSpPr/>
          <p:nvPr/>
        </p:nvSpPr>
        <p:spPr>
          <a:xfrm>
            <a:off x="8092440" y="4069080"/>
            <a:ext cx="-1252728" cy="-914400"/>
          </a:xfrm>
          <a:prstGeom prst="line">
            <a:avLst/>
          </a:prstGeom>
          <a:noFill/>
          <a:ln w="12700">
            <a:solidFill>
              <a:srgbClr val="B99020"/>
            </a:solidFill>
            <a:prstDash val="solid"/>
            <a:headEnd type="none"/>
            <a:tailEnd type="triangle"/>
          </a:ln>
        </p:spPr>
      </p:sp>
      <p:sp>
        <p:nvSpPr>
          <p:cNvPr id="34" name="Shape 32"/>
          <p:cNvSpPr/>
          <p:nvPr/>
        </p:nvSpPr>
        <p:spPr>
          <a:xfrm>
            <a:off x="3337560" y="4315968"/>
            <a:ext cx="1024128" cy="292608"/>
          </a:xfrm>
          <a:prstGeom prst="roundRect">
            <a:avLst>
              <a:gd name="adj" fmla="val 25000"/>
            </a:avLst>
          </a:prstGeom>
          <a:solidFill>
            <a:srgbClr val="FFFFFF"/>
          </a:solidFill>
          <a:ln w="11430">
            <a:solidFill>
              <a:srgbClr val="C7000B"/>
            </a:solidFill>
            <a:prstDash val="solid"/>
          </a:ln>
        </p:spPr>
      </p:sp>
      <p:sp>
        <p:nvSpPr>
          <p:cNvPr id="35" name="Text 33"/>
          <p:cNvSpPr/>
          <p:nvPr/>
        </p:nvSpPr>
        <p:spPr>
          <a:xfrm>
            <a:off x="3410712" y="4398264"/>
            <a:ext cx="877824" cy="91440"/>
          </a:xfrm>
          <a:prstGeom prst="rect">
            <a:avLst/>
          </a:prstGeom>
          <a:noFill/>
          <a:ln/>
        </p:spPr>
        <p:txBody>
          <a:bodyPr wrap="square" lIns="0" tIns="0" rIns="0" bIns="0" rtlCol="0" anchor="ctr">
            <a:normAutofit/>
          </a:bodyPr>
          <a:lstStyle/>
          <a:p>
            <a:pPr algn="ctr" indent="0" marL="0">
              <a:buNone/>
            </a:pPr>
            <a:r>
              <a:rPr lang="en-US" sz="780" b="1" dirty="0">
                <a:solidFill>
                  <a:srgbClr val="C7000B"/>
                </a:solidFill>
                <a:latin typeface="Microsoft YaHei" pitchFamily="34" charset="0"/>
                <a:ea typeface="Microsoft YaHei" pitchFamily="34" charset="-122"/>
                <a:cs typeface="Microsoft YaHei" pitchFamily="34" charset="-120"/>
              </a:rPr>
              <a:t>vLLM</a:t>
            </a:r>
            <a:endParaRPr lang="en-US" sz="780" dirty="0"/>
          </a:p>
        </p:txBody>
      </p:sp>
      <p:sp>
        <p:nvSpPr>
          <p:cNvPr id="36" name="Shape 34"/>
          <p:cNvSpPr/>
          <p:nvPr/>
        </p:nvSpPr>
        <p:spPr>
          <a:xfrm>
            <a:off x="4572000" y="4315968"/>
            <a:ext cx="1024128" cy="292608"/>
          </a:xfrm>
          <a:prstGeom prst="roundRect">
            <a:avLst>
              <a:gd name="adj" fmla="val 25000"/>
            </a:avLst>
          </a:prstGeom>
          <a:solidFill>
            <a:srgbClr val="FFFFFF"/>
          </a:solidFill>
          <a:ln w="11430">
            <a:solidFill>
              <a:srgbClr val="385A7C"/>
            </a:solidFill>
            <a:prstDash val="solid"/>
          </a:ln>
        </p:spPr>
      </p:sp>
      <p:sp>
        <p:nvSpPr>
          <p:cNvPr id="37" name="Text 35"/>
          <p:cNvSpPr/>
          <p:nvPr/>
        </p:nvSpPr>
        <p:spPr>
          <a:xfrm>
            <a:off x="4645152" y="4398264"/>
            <a:ext cx="877824" cy="91440"/>
          </a:xfrm>
          <a:prstGeom prst="rect">
            <a:avLst/>
          </a:prstGeom>
          <a:noFill/>
          <a:ln/>
        </p:spPr>
        <p:txBody>
          <a:bodyPr wrap="square" lIns="0" tIns="0" rIns="0" bIns="0" rtlCol="0" anchor="ctr">
            <a:normAutofit/>
          </a:bodyPr>
          <a:lstStyle/>
          <a:p>
            <a:pPr algn="ctr" indent="0" marL="0">
              <a:buNone/>
            </a:pPr>
            <a:r>
              <a:rPr lang="en-US" sz="780" b="1" dirty="0">
                <a:solidFill>
                  <a:srgbClr val="385A7C"/>
                </a:solidFill>
                <a:latin typeface="Microsoft YaHei" pitchFamily="34" charset="0"/>
                <a:ea typeface="Microsoft YaHei" pitchFamily="34" charset="-122"/>
                <a:cs typeface="Microsoft YaHei" pitchFamily="34" charset="-120"/>
              </a:rPr>
              <a:t>TensorRT-LLM</a:t>
            </a:r>
            <a:endParaRPr lang="en-US" sz="780" dirty="0"/>
          </a:p>
        </p:txBody>
      </p:sp>
      <p:sp>
        <p:nvSpPr>
          <p:cNvPr id="38" name="Shape 36"/>
          <p:cNvSpPr/>
          <p:nvPr/>
        </p:nvSpPr>
        <p:spPr>
          <a:xfrm>
            <a:off x="5806440" y="4315968"/>
            <a:ext cx="1024128" cy="292608"/>
          </a:xfrm>
          <a:prstGeom prst="roundRect">
            <a:avLst>
              <a:gd name="adj" fmla="val 25000"/>
            </a:avLst>
          </a:prstGeom>
          <a:solidFill>
            <a:srgbClr val="FFFFFF"/>
          </a:solidFill>
          <a:ln w="11430">
            <a:solidFill>
              <a:srgbClr val="385A7C"/>
            </a:solidFill>
            <a:prstDash val="solid"/>
          </a:ln>
        </p:spPr>
      </p:sp>
      <p:sp>
        <p:nvSpPr>
          <p:cNvPr id="39" name="Text 37"/>
          <p:cNvSpPr/>
          <p:nvPr/>
        </p:nvSpPr>
        <p:spPr>
          <a:xfrm>
            <a:off x="5879592" y="4398264"/>
            <a:ext cx="877824" cy="91440"/>
          </a:xfrm>
          <a:prstGeom prst="rect">
            <a:avLst/>
          </a:prstGeom>
          <a:noFill/>
          <a:ln/>
        </p:spPr>
        <p:txBody>
          <a:bodyPr wrap="square" lIns="0" tIns="0" rIns="0" bIns="0" rtlCol="0" anchor="ctr">
            <a:normAutofit/>
          </a:bodyPr>
          <a:lstStyle/>
          <a:p>
            <a:pPr algn="ctr" indent="0" marL="0">
              <a:buNone/>
            </a:pPr>
            <a:r>
              <a:rPr lang="en-US" sz="780" b="1" dirty="0">
                <a:solidFill>
                  <a:srgbClr val="385A7C"/>
                </a:solidFill>
                <a:latin typeface="Microsoft YaHei" pitchFamily="34" charset="0"/>
                <a:ea typeface="Microsoft YaHei" pitchFamily="34" charset="-122"/>
                <a:cs typeface="Microsoft YaHei" pitchFamily="34" charset="-120"/>
              </a:rPr>
              <a:t>SGLang</a:t>
            </a:r>
            <a:endParaRPr lang="en-US" sz="780" dirty="0"/>
          </a:p>
        </p:txBody>
      </p:sp>
      <p:sp>
        <p:nvSpPr>
          <p:cNvPr id="40" name="Shape 38"/>
          <p:cNvSpPr/>
          <p:nvPr/>
        </p:nvSpPr>
        <p:spPr>
          <a:xfrm>
            <a:off x="7040880" y="4315968"/>
            <a:ext cx="1024128" cy="292608"/>
          </a:xfrm>
          <a:prstGeom prst="roundRect">
            <a:avLst>
              <a:gd name="adj" fmla="val 25000"/>
            </a:avLst>
          </a:prstGeom>
          <a:solidFill>
            <a:srgbClr val="FFFFFF"/>
          </a:solidFill>
          <a:ln w="11430">
            <a:solidFill>
              <a:srgbClr val="385A7C"/>
            </a:solidFill>
            <a:prstDash val="solid"/>
          </a:ln>
        </p:spPr>
      </p:sp>
      <p:sp>
        <p:nvSpPr>
          <p:cNvPr id="41" name="Text 39"/>
          <p:cNvSpPr/>
          <p:nvPr/>
        </p:nvSpPr>
        <p:spPr>
          <a:xfrm>
            <a:off x="7114032" y="4398264"/>
            <a:ext cx="877824" cy="91440"/>
          </a:xfrm>
          <a:prstGeom prst="rect">
            <a:avLst/>
          </a:prstGeom>
          <a:noFill/>
          <a:ln/>
        </p:spPr>
        <p:txBody>
          <a:bodyPr wrap="square" lIns="0" tIns="0" rIns="0" bIns="0" rtlCol="0" anchor="ctr">
            <a:normAutofit/>
          </a:bodyPr>
          <a:lstStyle/>
          <a:p>
            <a:pPr algn="ctr" indent="0" marL="0">
              <a:buNone/>
            </a:pPr>
            <a:r>
              <a:rPr lang="en-US" sz="780" b="1" dirty="0">
                <a:solidFill>
                  <a:srgbClr val="385A7C"/>
                </a:solidFill>
                <a:latin typeface="Microsoft YaHei" pitchFamily="34" charset="0"/>
                <a:ea typeface="Microsoft YaHei" pitchFamily="34" charset="-122"/>
                <a:cs typeface="Microsoft YaHei" pitchFamily="34" charset="-120"/>
              </a:rPr>
              <a:t>TGI</a:t>
            </a:r>
            <a:endParaRPr lang="en-US" sz="780" dirty="0"/>
          </a:p>
        </p:txBody>
      </p:sp>
      <p:sp>
        <p:nvSpPr>
          <p:cNvPr id="42" name="Shape 40"/>
          <p:cNvSpPr/>
          <p:nvPr/>
        </p:nvSpPr>
        <p:spPr>
          <a:xfrm>
            <a:off x="804672" y="4709160"/>
            <a:ext cx="2423160" cy="758952"/>
          </a:xfrm>
          <a:prstGeom prst="roundRect">
            <a:avLst>
              <a:gd name="adj" fmla="val 5422"/>
            </a:avLst>
          </a:prstGeom>
          <a:solidFill>
            <a:srgbClr val="FFF1F2"/>
          </a:solidFill>
          <a:ln w="9525">
            <a:solidFill>
              <a:srgbClr val="C7000B"/>
            </a:solidFill>
            <a:prstDash val="solid"/>
          </a:ln>
        </p:spPr>
      </p:sp>
      <p:sp>
        <p:nvSpPr>
          <p:cNvPr id="43" name="Text 41"/>
          <p:cNvSpPr/>
          <p:nvPr/>
        </p:nvSpPr>
        <p:spPr>
          <a:xfrm>
            <a:off x="950976" y="4864608"/>
            <a:ext cx="777240" cy="109728"/>
          </a:xfrm>
          <a:prstGeom prst="rect">
            <a:avLst/>
          </a:prstGeom>
          <a:noFill/>
          <a:ln/>
        </p:spPr>
        <p:txBody>
          <a:bodyPr wrap="square" lIns="0" tIns="0" rIns="0" bIns="0" rtlCol="0" anchor="ctr"/>
          <a:lstStyle/>
          <a:p>
            <a:pPr indent="0" marL="0">
              <a:buNone/>
            </a:pPr>
            <a:r>
              <a:rPr lang="en-US" sz="740" b="1" dirty="0">
                <a:solidFill>
                  <a:srgbClr val="C7000B"/>
                </a:solidFill>
                <a:latin typeface="Microsoft YaHei" pitchFamily="34" charset="0"/>
                <a:ea typeface="Microsoft YaHei" pitchFamily="34" charset="-122"/>
                <a:cs typeface="Microsoft YaHei" pitchFamily="34" charset="-120"/>
              </a:rPr>
              <a:t>解决什么</a:t>
            </a:r>
            <a:endParaRPr lang="en-US" sz="740" dirty="0"/>
          </a:p>
        </p:txBody>
      </p:sp>
      <p:sp>
        <p:nvSpPr>
          <p:cNvPr id="44" name="Text 42"/>
          <p:cNvSpPr/>
          <p:nvPr/>
        </p:nvSpPr>
        <p:spPr>
          <a:xfrm>
            <a:off x="95097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手写优化难维护</a:t>
            </a:r>
            <a:endParaRPr lang="en-US" sz="860" dirty="0"/>
          </a:p>
        </p:txBody>
      </p:sp>
      <p:sp>
        <p:nvSpPr>
          <p:cNvPr id="45" name="Shape 43"/>
          <p:cNvSpPr/>
          <p:nvPr/>
        </p:nvSpPr>
        <p:spPr>
          <a:xfrm>
            <a:off x="3593592" y="4709160"/>
            <a:ext cx="2423160" cy="758952"/>
          </a:xfrm>
          <a:prstGeom prst="roundRect">
            <a:avLst>
              <a:gd name="adj" fmla="val 5422"/>
            </a:avLst>
          </a:prstGeom>
          <a:solidFill>
            <a:srgbClr val="FFFFFF"/>
          </a:solidFill>
          <a:ln w="9525">
            <a:solidFill>
              <a:srgbClr val="DCDCDC"/>
            </a:solidFill>
            <a:prstDash val="solid"/>
          </a:ln>
        </p:spPr>
      </p:sp>
      <p:sp>
        <p:nvSpPr>
          <p:cNvPr id="46" name="Text 44"/>
          <p:cNvSpPr/>
          <p:nvPr/>
        </p:nvSpPr>
        <p:spPr>
          <a:xfrm>
            <a:off x="373989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怎么做</a:t>
            </a:r>
            <a:endParaRPr lang="en-US" sz="740" dirty="0"/>
          </a:p>
        </p:txBody>
      </p:sp>
      <p:sp>
        <p:nvSpPr>
          <p:cNvPr id="47" name="Text 45"/>
          <p:cNvSpPr/>
          <p:nvPr/>
        </p:nvSpPr>
        <p:spPr>
          <a:xfrm>
            <a:off x="373989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把调度、KV、kernel、分布式集成</a:t>
            </a:r>
            <a:endParaRPr lang="en-US" sz="860" dirty="0"/>
          </a:p>
        </p:txBody>
      </p:sp>
      <p:sp>
        <p:nvSpPr>
          <p:cNvPr id="48" name="Shape 46"/>
          <p:cNvSpPr/>
          <p:nvPr/>
        </p:nvSpPr>
        <p:spPr>
          <a:xfrm>
            <a:off x="6382512" y="4709160"/>
            <a:ext cx="2423160" cy="758952"/>
          </a:xfrm>
          <a:prstGeom prst="roundRect">
            <a:avLst>
              <a:gd name="adj" fmla="val 5422"/>
            </a:avLst>
          </a:prstGeom>
          <a:solidFill>
            <a:srgbClr val="FFFFFF"/>
          </a:solidFill>
          <a:ln w="9525">
            <a:solidFill>
              <a:srgbClr val="DCDCDC"/>
            </a:solidFill>
            <a:prstDash val="solid"/>
          </a:ln>
        </p:spPr>
      </p:sp>
      <p:sp>
        <p:nvSpPr>
          <p:cNvPr id="49" name="Text 47"/>
          <p:cNvSpPr/>
          <p:nvPr/>
        </p:nvSpPr>
        <p:spPr>
          <a:xfrm>
            <a:off x="652881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代价</a:t>
            </a:r>
            <a:endParaRPr lang="en-US" sz="740" dirty="0"/>
          </a:p>
        </p:txBody>
      </p:sp>
      <p:sp>
        <p:nvSpPr>
          <p:cNvPr id="50" name="Text 48"/>
          <p:cNvSpPr/>
          <p:nvPr/>
        </p:nvSpPr>
        <p:spPr>
          <a:xfrm>
            <a:off x="652881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选型受模型、硬件和运维能力限制</a:t>
            </a:r>
            <a:endParaRPr lang="en-US" sz="860" dirty="0"/>
          </a:p>
        </p:txBody>
      </p:sp>
      <p:sp>
        <p:nvSpPr>
          <p:cNvPr id="51" name="Shape 49"/>
          <p:cNvSpPr/>
          <p:nvPr/>
        </p:nvSpPr>
        <p:spPr>
          <a:xfrm>
            <a:off x="9171432" y="4709160"/>
            <a:ext cx="2423160" cy="758952"/>
          </a:xfrm>
          <a:prstGeom prst="roundRect">
            <a:avLst>
              <a:gd name="adj" fmla="val 5422"/>
            </a:avLst>
          </a:prstGeom>
          <a:solidFill>
            <a:srgbClr val="FFFFFF"/>
          </a:solidFill>
          <a:ln w="9525">
            <a:solidFill>
              <a:srgbClr val="DCDCDC"/>
            </a:solidFill>
            <a:prstDash val="solid"/>
          </a:ln>
        </p:spPr>
      </p:sp>
      <p:sp>
        <p:nvSpPr>
          <p:cNvPr id="52" name="Text 50"/>
          <p:cNvSpPr/>
          <p:nvPr/>
        </p:nvSpPr>
        <p:spPr>
          <a:xfrm>
            <a:off x="931773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适用场景</a:t>
            </a:r>
            <a:endParaRPr lang="en-US" sz="740" dirty="0"/>
          </a:p>
        </p:txBody>
      </p:sp>
      <p:sp>
        <p:nvSpPr>
          <p:cNvPr id="53" name="Text 51"/>
          <p:cNvSpPr/>
          <p:nvPr/>
        </p:nvSpPr>
        <p:spPr>
          <a:xfrm>
            <a:off x="931773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生产级推理服务、复杂并发场景</a:t>
            </a:r>
            <a:endParaRPr lang="en-US" sz="860" dirty="0"/>
          </a:p>
        </p:txBody>
      </p:sp>
      <p:sp>
        <p:nvSpPr>
          <p:cNvPr id="54" name="Shape 52"/>
          <p:cNvSpPr/>
          <p:nvPr/>
        </p:nvSpPr>
        <p:spPr>
          <a:xfrm>
            <a:off x="804672" y="5650992"/>
            <a:ext cx="10469880" cy="493776"/>
          </a:xfrm>
          <a:prstGeom prst="roundRect">
            <a:avLst>
              <a:gd name="adj" fmla="val 9259"/>
            </a:avLst>
          </a:prstGeom>
          <a:solidFill>
            <a:srgbClr val="FFFFFF"/>
          </a:solidFill>
          <a:ln w="9525">
            <a:solidFill>
              <a:srgbClr val="DCDCDC"/>
            </a:solidFill>
            <a:prstDash val="solid"/>
          </a:ln>
        </p:spPr>
      </p:sp>
      <p:sp>
        <p:nvSpPr>
          <p:cNvPr id="55" name="Shape 53"/>
          <p:cNvSpPr/>
          <p:nvPr/>
        </p:nvSpPr>
        <p:spPr>
          <a:xfrm>
            <a:off x="804672" y="5650992"/>
            <a:ext cx="91440" cy="493776"/>
          </a:xfrm>
          <a:prstGeom prst="rect">
            <a:avLst/>
          </a:prstGeom>
          <a:solidFill>
            <a:srgbClr val="C7000B"/>
          </a:solidFill>
          <a:ln w="12700">
            <a:solidFill>
              <a:srgbClr val="C7000B"/>
            </a:solidFill>
            <a:prstDash val="solid"/>
          </a:ln>
        </p:spPr>
      </p:sp>
      <p:sp>
        <p:nvSpPr>
          <p:cNvPr id="56" name="Text 54"/>
          <p:cNvSpPr/>
          <p:nvPr/>
        </p:nvSpPr>
        <p:spPr>
          <a:xfrm>
            <a:off x="1051560" y="5760720"/>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57" name="Text 55"/>
          <p:cNvSpPr/>
          <p:nvPr/>
        </p:nvSpPr>
        <p:spPr>
          <a:xfrm>
            <a:off x="1874520" y="5815584"/>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推理框架选型通常同时看业务目标、模型支持、硬件栈和运维成本。</a:t>
            </a:r>
            <a:endParaRPr lang="en-US" sz="10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13</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12 / MULTI-GPU</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多卡/多机部署：解决放不下和跑不快</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单卡显存和吞吐有限，多卡多机通过并行拆分模型或请求，但通信会成为新成本。</a:t>
            </a:r>
            <a:endParaRPr lang="en-US" sz="1080" dirty="0"/>
          </a:p>
        </p:txBody>
      </p:sp>
      <p:sp>
        <p:nvSpPr>
          <p:cNvPr id="11" name="Text 9"/>
          <p:cNvSpPr/>
          <p:nvPr/>
        </p:nvSpPr>
        <p:spPr>
          <a:xfrm>
            <a:off x="822960" y="1664208"/>
            <a:ext cx="6309360" cy="237744"/>
          </a:xfrm>
          <a:prstGeom prst="rect">
            <a:avLst/>
          </a:prstGeom>
          <a:noFill/>
          <a:ln/>
        </p:spPr>
        <p:txBody>
          <a:bodyPr wrap="square" lIns="0" tIns="0" rIns="0" bIns="0" rtlCol="0" anchor="ctr">
            <a:normAutofit/>
          </a:bodyPr>
          <a:lstStyle/>
          <a:p>
            <a:pPr indent="0" marL="0">
              <a:buNone/>
            </a:pPr>
            <a:r>
              <a:rPr lang="en-US" sz="1320" b="1" dirty="0">
                <a:solidFill>
                  <a:srgbClr val="C7000B"/>
                </a:solidFill>
                <a:latin typeface="Microsoft YaHei" pitchFamily="34" charset="0"/>
                <a:ea typeface="Microsoft YaHei" pitchFamily="34" charset="-122"/>
                <a:cs typeface="Microsoft YaHei" pitchFamily="34" charset="-120"/>
              </a:rPr>
              <a:t>多卡多机会提升容量，也会把通信开销带进推理链路。</a:t>
            </a:r>
            <a:endParaRPr lang="en-US" sz="1320" dirty="0"/>
          </a:p>
        </p:txBody>
      </p:sp>
      <p:sp>
        <p:nvSpPr>
          <p:cNvPr id="12" name="Shape 10"/>
          <p:cNvSpPr/>
          <p:nvPr/>
        </p:nvSpPr>
        <p:spPr>
          <a:xfrm>
            <a:off x="868680" y="2212848"/>
            <a:ext cx="2606040" cy="530352"/>
          </a:xfrm>
          <a:prstGeom prst="roundRect">
            <a:avLst>
              <a:gd name="adj" fmla="val 7759"/>
            </a:avLst>
          </a:prstGeom>
          <a:solidFill>
            <a:srgbClr val="FFFFFF"/>
          </a:solidFill>
          <a:ln w="13335">
            <a:solidFill>
              <a:srgbClr val="C7000B"/>
            </a:solidFill>
            <a:prstDash val="solid"/>
          </a:ln>
        </p:spPr>
      </p:sp>
      <p:sp>
        <p:nvSpPr>
          <p:cNvPr id="13" name="Shape 11"/>
          <p:cNvSpPr/>
          <p:nvPr/>
        </p:nvSpPr>
        <p:spPr>
          <a:xfrm>
            <a:off x="868680" y="2212848"/>
            <a:ext cx="73152" cy="530352"/>
          </a:xfrm>
          <a:prstGeom prst="rect">
            <a:avLst/>
          </a:prstGeom>
          <a:solidFill>
            <a:srgbClr val="C7000B"/>
          </a:solidFill>
          <a:ln w="12700">
            <a:solidFill>
              <a:srgbClr val="C7000B"/>
            </a:solidFill>
            <a:prstDash val="solid"/>
          </a:ln>
        </p:spPr>
      </p:sp>
      <p:sp>
        <p:nvSpPr>
          <p:cNvPr id="14" name="Text 12"/>
          <p:cNvSpPr/>
          <p:nvPr/>
        </p:nvSpPr>
        <p:spPr>
          <a:xfrm>
            <a:off x="1069848" y="2340864"/>
            <a:ext cx="2313432"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Tensor Parallel</a:t>
            </a:r>
            <a:endParaRPr lang="en-US" sz="1080" dirty="0"/>
          </a:p>
        </p:txBody>
      </p:sp>
      <p:sp>
        <p:nvSpPr>
          <p:cNvPr id="15" name="Text 13"/>
          <p:cNvSpPr/>
          <p:nvPr/>
        </p:nvSpPr>
        <p:spPr>
          <a:xfrm>
            <a:off x="1069848" y="2596896"/>
            <a:ext cx="2313432" cy="91440"/>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同一层拆到多卡</a:t>
            </a:r>
            <a:endParaRPr lang="en-US" sz="830" dirty="0"/>
          </a:p>
        </p:txBody>
      </p:sp>
      <p:sp>
        <p:nvSpPr>
          <p:cNvPr id="16" name="Shape 14"/>
          <p:cNvSpPr/>
          <p:nvPr/>
        </p:nvSpPr>
        <p:spPr>
          <a:xfrm>
            <a:off x="4572000" y="2267712"/>
            <a:ext cx="502920" cy="320040"/>
          </a:xfrm>
          <a:prstGeom prst="rect">
            <a:avLst/>
          </a:prstGeom>
          <a:solidFill>
            <a:srgbClr val="C7000B"/>
          </a:solidFill>
          <a:ln w="6350">
            <a:solidFill>
              <a:srgbClr val="FFFFFF"/>
            </a:solidFill>
            <a:prstDash val="solid"/>
          </a:ln>
        </p:spPr>
      </p:sp>
      <p:sp>
        <p:nvSpPr>
          <p:cNvPr id="17" name="Shape 15"/>
          <p:cNvSpPr/>
          <p:nvPr/>
        </p:nvSpPr>
        <p:spPr>
          <a:xfrm>
            <a:off x="5303520" y="2267712"/>
            <a:ext cx="502920" cy="320040"/>
          </a:xfrm>
          <a:prstGeom prst="rect">
            <a:avLst/>
          </a:prstGeom>
          <a:solidFill>
            <a:srgbClr val="C7000B"/>
          </a:solidFill>
          <a:ln w="6350">
            <a:solidFill>
              <a:srgbClr val="FFFFFF"/>
            </a:solidFill>
            <a:prstDash val="solid"/>
          </a:ln>
        </p:spPr>
      </p:sp>
      <p:sp>
        <p:nvSpPr>
          <p:cNvPr id="18" name="Shape 16"/>
          <p:cNvSpPr/>
          <p:nvPr/>
        </p:nvSpPr>
        <p:spPr>
          <a:xfrm>
            <a:off x="6035040" y="2267712"/>
            <a:ext cx="502920" cy="320040"/>
          </a:xfrm>
          <a:prstGeom prst="rect">
            <a:avLst/>
          </a:prstGeom>
          <a:solidFill>
            <a:srgbClr val="EEEEEE"/>
          </a:solidFill>
          <a:ln w="6350">
            <a:solidFill>
              <a:srgbClr val="FFFFFF"/>
            </a:solidFill>
            <a:prstDash val="solid"/>
          </a:ln>
        </p:spPr>
      </p:sp>
      <p:sp>
        <p:nvSpPr>
          <p:cNvPr id="19" name="Shape 17"/>
          <p:cNvSpPr/>
          <p:nvPr/>
        </p:nvSpPr>
        <p:spPr>
          <a:xfrm>
            <a:off x="6766560" y="2267712"/>
            <a:ext cx="502920" cy="320040"/>
          </a:xfrm>
          <a:prstGeom prst="rect">
            <a:avLst/>
          </a:prstGeom>
          <a:solidFill>
            <a:srgbClr val="EEEEEE"/>
          </a:solidFill>
          <a:ln w="6350">
            <a:solidFill>
              <a:srgbClr val="FFFFFF"/>
            </a:solidFill>
            <a:prstDash val="solid"/>
          </a:ln>
        </p:spPr>
      </p:sp>
      <p:sp>
        <p:nvSpPr>
          <p:cNvPr id="20" name="Shape 18"/>
          <p:cNvSpPr/>
          <p:nvPr/>
        </p:nvSpPr>
        <p:spPr>
          <a:xfrm>
            <a:off x="7726680" y="2432304"/>
            <a:ext cx="1828800" cy="0"/>
          </a:xfrm>
          <a:prstGeom prst="line">
            <a:avLst/>
          </a:prstGeom>
          <a:noFill/>
          <a:ln w="13970">
            <a:solidFill>
              <a:srgbClr val="C7000B"/>
            </a:solidFill>
            <a:prstDash val="solid"/>
            <a:headEnd type="none"/>
            <a:tailEnd type="triangle"/>
          </a:ln>
        </p:spPr>
      </p:sp>
      <p:sp>
        <p:nvSpPr>
          <p:cNvPr id="21" name="Text 19"/>
          <p:cNvSpPr/>
          <p:nvPr/>
        </p:nvSpPr>
        <p:spPr>
          <a:xfrm>
            <a:off x="9710928" y="2350008"/>
            <a:ext cx="502920" cy="100584"/>
          </a:xfrm>
          <a:prstGeom prst="rect">
            <a:avLst/>
          </a:prstGeom>
          <a:noFill/>
          <a:ln/>
        </p:spPr>
        <p:txBody>
          <a:bodyPr wrap="square" lIns="0" tIns="0" rIns="0" bIns="0" rtlCol="0" anchor="ctr"/>
          <a:lstStyle/>
          <a:p>
            <a:pPr indent="0" marL="0">
              <a:buNone/>
            </a:pPr>
            <a:r>
              <a:rPr lang="en-US" sz="760" dirty="0">
                <a:solidFill>
                  <a:srgbClr val="666666"/>
                </a:solidFill>
                <a:latin typeface="Microsoft YaHei" pitchFamily="34" charset="0"/>
                <a:ea typeface="Microsoft YaHei" pitchFamily="34" charset="-122"/>
                <a:cs typeface="Microsoft YaHei" pitchFamily="34" charset="-120"/>
              </a:rPr>
              <a:t>通信</a:t>
            </a:r>
            <a:endParaRPr lang="en-US" sz="760" dirty="0"/>
          </a:p>
        </p:txBody>
      </p:sp>
      <p:sp>
        <p:nvSpPr>
          <p:cNvPr id="22" name="Shape 20"/>
          <p:cNvSpPr/>
          <p:nvPr/>
        </p:nvSpPr>
        <p:spPr>
          <a:xfrm>
            <a:off x="868680" y="2980944"/>
            <a:ext cx="2606040" cy="530352"/>
          </a:xfrm>
          <a:prstGeom prst="roundRect">
            <a:avLst>
              <a:gd name="adj" fmla="val 7759"/>
            </a:avLst>
          </a:prstGeom>
          <a:solidFill>
            <a:srgbClr val="FFFFFF"/>
          </a:solidFill>
          <a:ln w="13335">
            <a:solidFill>
              <a:srgbClr val="0F8B8D"/>
            </a:solidFill>
            <a:prstDash val="solid"/>
          </a:ln>
        </p:spPr>
      </p:sp>
      <p:sp>
        <p:nvSpPr>
          <p:cNvPr id="23" name="Shape 21"/>
          <p:cNvSpPr/>
          <p:nvPr/>
        </p:nvSpPr>
        <p:spPr>
          <a:xfrm>
            <a:off x="868680" y="2980944"/>
            <a:ext cx="73152" cy="530352"/>
          </a:xfrm>
          <a:prstGeom prst="rect">
            <a:avLst/>
          </a:prstGeom>
          <a:solidFill>
            <a:srgbClr val="0F8B8D"/>
          </a:solidFill>
          <a:ln w="12700">
            <a:solidFill>
              <a:srgbClr val="0F8B8D"/>
            </a:solidFill>
            <a:prstDash val="solid"/>
          </a:ln>
        </p:spPr>
      </p:sp>
      <p:sp>
        <p:nvSpPr>
          <p:cNvPr id="24" name="Text 22"/>
          <p:cNvSpPr/>
          <p:nvPr/>
        </p:nvSpPr>
        <p:spPr>
          <a:xfrm>
            <a:off x="1069848" y="3108960"/>
            <a:ext cx="2313432"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Pipeline Parallel</a:t>
            </a:r>
            <a:endParaRPr lang="en-US" sz="1080" dirty="0"/>
          </a:p>
        </p:txBody>
      </p:sp>
      <p:sp>
        <p:nvSpPr>
          <p:cNvPr id="25" name="Text 23"/>
          <p:cNvSpPr/>
          <p:nvPr/>
        </p:nvSpPr>
        <p:spPr>
          <a:xfrm>
            <a:off x="1069848" y="3364992"/>
            <a:ext cx="2313432" cy="91440"/>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不同层拆到不同卡</a:t>
            </a:r>
            <a:endParaRPr lang="en-US" sz="830" dirty="0"/>
          </a:p>
        </p:txBody>
      </p:sp>
      <p:sp>
        <p:nvSpPr>
          <p:cNvPr id="26" name="Shape 24"/>
          <p:cNvSpPr/>
          <p:nvPr/>
        </p:nvSpPr>
        <p:spPr>
          <a:xfrm>
            <a:off x="4572000" y="3035808"/>
            <a:ext cx="502920" cy="320040"/>
          </a:xfrm>
          <a:prstGeom prst="rect">
            <a:avLst/>
          </a:prstGeom>
          <a:solidFill>
            <a:srgbClr val="0F8B8D"/>
          </a:solidFill>
          <a:ln w="6350">
            <a:solidFill>
              <a:srgbClr val="FFFFFF"/>
            </a:solidFill>
            <a:prstDash val="solid"/>
          </a:ln>
        </p:spPr>
      </p:sp>
      <p:sp>
        <p:nvSpPr>
          <p:cNvPr id="27" name="Shape 25"/>
          <p:cNvSpPr/>
          <p:nvPr/>
        </p:nvSpPr>
        <p:spPr>
          <a:xfrm>
            <a:off x="5303520" y="3035808"/>
            <a:ext cx="502920" cy="320040"/>
          </a:xfrm>
          <a:prstGeom prst="rect">
            <a:avLst/>
          </a:prstGeom>
          <a:solidFill>
            <a:srgbClr val="0F8B8D"/>
          </a:solidFill>
          <a:ln w="6350">
            <a:solidFill>
              <a:srgbClr val="FFFFFF"/>
            </a:solidFill>
            <a:prstDash val="solid"/>
          </a:ln>
        </p:spPr>
      </p:sp>
      <p:sp>
        <p:nvSpPr>
          <p:cNvPr id="28" name="Shape 26"/>
          <p:cNvSpPr/>
          <p:nvPr/>
        </p:nvSpPr>
        <p:spPr>
          <a:xfrm>
            <a:off x="6035040" y="3035808"/>
            <a:ext cx="502920" cy="320040"/>
          </a:xfrm>
          <a:prstGeom prst="rect">
            <a:avLst/>
          </a:prstGeom>
          <a:solidFill>
            <a:srgbClr val="0F8B8D"/>
          </a:solidFill>
          <a:ln w="6350">
            <a:solidFill>
              <a:srgbClr val="FFFFFF"/>
            </a:solidFill>
            <a:prstDash val="solid"/>
          </a:ln>
        </p:spPr>
      </p:sp>
      <p:sp>
        <p:nvSpPr>
          <p:cNvPr id="29" name="Shape 27"/>
          <p:cNvSpPr/>
          <p:nvPr/>
        </p:nvSpPr>
        <p:spPr>
          <a:xfrm>
            <a:off x="6766560" y="3035808"/>
            <a:ext cx="502920" cy="320040"/>
          </a:xfrm>
          <a:prstGeom prst="rect">
            <a:avLst/>
          </a:prstGeom>
          <a:solidFill>
            <a:srgbClr val="EEEEEE"/>
          </a:solidFill>
          <a:ln w="6350">
            <a:solidFill>
              <a:srgbClr val="FFFFFF"/>
            </a:solidFill>
            <a:prstDash val="solid"/>
          </a:ln>
        </p:spPr>
      </p:sp>
      <p:sp>
        <p:nvSpPr>
          <p:cNvPr id="30" name="Shape 28"/>
          <p:cNvSpPr/>
          <p:nvPr/>
        </p:nvSpPr>
        <p:spPr>
          <a:xfrm>
            <a:off x="7726680" y="3200400"/>
            <a:ext cx="1828800" cy="0"/>
          </a:xfrm>
          <a:prstGeom prst="line">
            <a:avLst/>
          </a:prstGeom>
          <a:noFill/>
          <a:ln w="13970">
            <a:solidFill>
              <a:srgbClr val="0F8B8D"/>
            </a:solidFill>
            <a:prstDash val="solid"/>
            <a:headEnd type="none"/>
            <a:tailEnd type="triangle"/>
          </a:ln>
        </p:spPr>
      </p:sp>
      <p:sp>
        <p:nvSpPr>
          <p:cNvPr id="31" name="Text 29"/>
          <p:cNvSpPr/>
          <p:nvPr/>
        </p:nvSpPr>
        <p:spPr>
          <a:xfrm>
            <a:off x="9710928" y="3118104"/>
            <a:ext cx="502920" cy="100584"/>
          </a:xfrm>
          <a:prstGeom prst="rect">
            <a:avLst/>
          </a:prstGeom>
          <a:noFill/>
          <a:ln/>
        </p:spPr>
        <p:txBody>
          <a:bodyPr wrap="square" lIns="0" tIns="0" rIns="0" bIns="0" rtlCol="0" anchor="ctr"/>
          <a:lstStyle/>
          <a:p>
            <a:pPr indent="0" marL="0">
              <a:buNone/>
            </a:pPr>
            <a:r>
              <a:rPr lang="en-US" sz="760" dirty="0">
                <a:solidFill>
                  <a:srgbClr val="666666"/>
                </a:solidFill>
                <a:latin typeface="Microsoft YaHei" pitchFamily="34" charset="0"/>
                <a:ea typeface="Microsoft YaHei" pitchFamily="34" charset="-122"/>
                <a:cs typeface="Microsoft YaHei" pitchFamily="34" charset="-120"/>
              </a:rPr>
              <a:t>通信</a:t>
            </a:r>
            <a:endParaRPr lang="en-US" sz="760" dirty="0"/>
          </a:p>
        </p:txBody>
      </p:sp>
      <p:sp>
        <p:nvSpPr>
          <p:cNvPr id="32" name="Shape 30"/>
          <p:cNvSpPr/>
          <p:nvPr/>
        </p:nvSpPr>
        <p:spPr>
          <a:xfrm>
            <a:off x="868680" y="3749040"/>
            <a:ext cx="2606040" cy="530352"/>
          </a:xfrm>
          <a:prstGeom prst="roundRect">
            <a:avLst>
              <a:gd name="adj" fmla="val 7759"/>
            </a:avLst>
          </a:prstGeom>
          <a:solidFill>
            <a:srgbClr val="FFFFFF"/>
          </a:solidFill>
          <a:ln w="13335">
            <a:solidFill>
              <a:srgbClr val="385A7C"/>
            </a:solidFill>
            <a:prstDash val="solid"/>
          </a:ln>
        </p:spPr>
      </p:sp>
      <p:sp>
        <p:nvSpPr>
          <p:cNvPr id="33" name="Shape 31"/>
          <p:cNvSpPr/>
          <p:nvPr/>
        </p:nvSpPr>
        <p:spPr>
          <a:xfrm>
            <a:off x="868680" y="3749040"/>
            <a:ext cx="73152" cy="530352"/>
          </a:xfrm>
          <a:prstGeom prst="rect">
            <a:avLst/>
          </a:prstGeom>
          <a:solidFill>
            <a:srgbClr val="385A7C"/>
          </a:solidFill>
          <a:ln w="12700">
            <a:solidFill>
              <a:srgbClr val="385A7C"/>
            </a:solidFill>
            <a:prstDash val="solid"/>
          </a:ln>
        </p:spPr>
      </p:sp>
      <p:sp>
        <p:nvSpPr>
          <p:cNvPr id="34" name="Text 32"/>
          <p:cNvSpPr/>
          <p:nvPr/>
        </p:nvSpPr>
        <p:spPr>
          <a:xfrm>
            <a:off x="1069848" y="3877056"/>
            <a:ext cx="2313432"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Data Parallel</a:t>
            </a:r>
            <a:endParaRPr lang="en-US" sz="1080" dirty="0"/>
          </a:p>
        </p:txBody>
      </p:sp>
      <p:sp>
        <p:nvSpPr>
          <p:cNvPr id="35" name="Text 33"/>
          <p:cNvSpPr/>
          <p:nvPr/>
        </p:nvSpPr>
        <p:spPr>
          <a:xfrm>
            <a:off x="1069848" y="4133088"/>
            <a:ext cx="2313432" cy="91440"/>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复制模型服务不同请求</a:t>
            </a:r>
            <a:endParaRPr lang="en-US" sz="830" dirty="0"/>
          </a:p>
        </p:txBody>
      </p:sp>
      <p:sp>
        <p:nvSpPr>
          <p:cNvPr id="36" name="Shape 34"/>
          <p:cNvSpPr/>
          <p:nvPr/>
        </p:nvSpPr>
        <p:spPr>
          <a:xfrm>
            <a:off x="4572000" y="3803904"/>
            <a:ext cx="502920" cy="320040"/>
          </a:xfrm>
          <a:prstGeom prst="rect">
            <a:avLst/>
          </a:prstGeom>
          <a:solidFill>
            <a:srgbClr val="385A7C"/>
          </a:solidFill>
          <a:ln w="6350">
            <a:solidFill>
              <a:srgbClr val="FFFFFF"/>
            </a:solidFill>
            <a:prstDash val="solid"/>
          </a:ln>
        </p:spPr>
      </p:sp>
      <p:sp>
        <p:nvSpPr>
          <p:cNvPr id="37" name="Shape 35"/>
          <p:cNvSpPr/>
          <p:nvPr/>
        </p:nvSpPr>
        <p:spPr>
          <a:xfrm>
            <a:off x="5303520" y="3803904"/>
            <a:ext cx="502920" cy="320040"/>
          </a:xfrm>
          <a:prstGeom prst="rect">
            <a:avLst/>
          </a:prstGeom>
          <a:solidFill>
            <a:srgbClr val="385A7C"/>
          </a:solidFill>
          <a:ln w="6350">
            <a:solidFill>
              <a:srgbClr val="FFFFFF"/>
            </a:solidFill>
            <a:prstDash val="solid"/>
          </a:ln>
        </p:spPr>
      </p:sp>
      <p:sp>
        <p:nvSpPr>
          <p:cNvPr id="38" name="Shape 36"/>
          <p:cNvSpPr/>
          <p:nvPr/>
        </p:nvSpPr>
        <p:spPr>
          <a:xfrm>
            <a:off x="6035040" y="3803904"/>
            <a:ext cx="502920" cy="320040"/>
          </a:xfrm>
          <a:prstGeom prst="rect">
            <a:avLst/>
          </a:prstGeom>
          <a:solidFill>
            <a:srgbClr val="385A7C"/>
          </a:solidFill>
          <a:ln w="6350">
            <a:solidFill>
              <a:srgbClr val="FFFFFF"/>
            </a:solidFill>
            <a:prstDash val="solid"/>
          </a:ln>
        </p:spPr>
      </p:sp>
      <p:sp>
        <p:nvSpPr>
          <p:cNvPr id="39" name="Shape 37"/>
          <p:cNvSpPr/>
          <p:nvPr/>
        </p:nvSpPr>
        <p:spPr>
          <a:xfrm>
            <a:off x="6766560" y="3803904"/>
            <a:ext cx="502920" cy="320040"/>
          </a:xfrm>
          <a:prstGeom prst="rect">
            <a:avLst/>
          </a:prstGeom>
          <a:solidFill>
            <a:srgbClr val="385A7C"/>
          </a:solidFill>
          <a:ln w="6350">
            <a:solidFill>
              <a:srgbClr val="FFFFFF"/>
            </a:solidFill>
            <a:prstDash val="solid"/>
          </a:ln>
        </p:spPr>
      </p:sp>
      <p:sp>
        <p:nvSpPr>
          <p:cNvPr id="40" name="Shape 38"/>
          <p:cNvSpPr/>
          <p:nvPr/>
        </p:nvSpPr>
        <p:spPr>
          <a:xfrm>
            <a:off x="7726680" y="3968496"/>
            <a:ext cx="1828800" cy="0"/>
          </a:xfrm>
          <a:prstGeom prst="line">
            <a:avLst/>
          </a:prstGeom>
          <a:noFill/>
          <a:ln w="13970">
            <a:solidFill>
              <a:srgbClr val="385A7C"/>
            </a:solidFill>
            <a:prstDash val="solid"/>
            <a:headEnd type="none"/>
            <a:tailEnd type="triangle"/>
          </a:ln>
        </p:spPr>
      </p:sp>
      <p:sp>
        <p:nvSpPr>
          <p:cNvPr id="41" name="Text 39"/>
          <p:cNvSpPr/>
          <p:nvPr/>
        </p:nvSpPr>
        <p:spPr>
          <a:xfrm>
            <a:off x="9710928" y="3886200"/>
            <a:ext cx="502920" cy="100584"/>
          </a:xfrm>
          <a:prstGeom prst="rect">
            <a:avLst/>
          </a:prstGeom>
          <a:noFill/>
          <a:ln/>
        </p:spPr>
        <p:txBody>
          <a:bodyPr wrap="square" lIns="0" tIns="0" rIns="0" bIns="0" rtlCol="0" anchor="ctr"/>
          <a:lstStyle/>
          <a:p>
            <a:pPr indent="0" marL="0">
              <a:buNone/>
            </a:pPr>
            <a:r>
              <a:rPr lang="en-US" sz="760" dirty="0">
                <a:solidFill>
                  <a:srgbClr val="666666"/>
                </a:solidFill>
                <a:latin typeface="Microsoft YaHei" pitchFamily="34" charset="0"/>
                <a:ea typeface="Microsoft YaHei" pitchFamily="34" charset="-122"/>
                <a:cs typeface="Microsoft YaHei" pitchFamily="34" charset="-120"/>
              </a:rPr>
              <a:t>通信</a:t>
            </a:r>
            <a:endParaRPr lang="en-US" sz="760" dirty="0"/>
          </a:p>
        </p:txBody>
      </p:sp>
      <p:sp>
        <p:nvSpPr>
          <p:cNvPr id="42" name="Shape 40"/>
          <p:cNvSpPr/>
          <p:nvPr/>
        </p:nvSpPr>
        <p:spPr>
          <a:xfrm>
            <a:off x="6766560" y="4343400"/>
            <a:ext cx="3154680" cy="411480"/>
          </a:xfrm>
          <a:prstGeom prst="roundRect">
            <a:avLst>
              <a:gd name="adj" fmla="val 10000"/>
            </a:avLst>
          </a:prstGeom>
          <a:solidFill>
            <a:srgbClr val="FFF1F2"/>
          </a:solidFill>
          <a:ln w="9525">
            <a:solidFill>
              <a:srgbClr val="C7000B"/>
            </a:solidFill>
            <a:prstDash val="solid"/>
          </a:ln>
        </p:spPr>
      </p:sp>
      <p:sp>
        <p:nvSpPr>
          <p:cNvPr id="43" name="Text 41"/>
          <p:cNvSpPr/>
          <p:nvPr/>
        </p:nvSpPr>
        <p:spPr>
          <a:xfrm>
            <a:off x="6967728" y="4489704"/>
            <a:ext cx="2743200" cy="91440"/>
          </a:xfrm>
          <a:prstGeom prst="rect">
            <a:avLst/>
          </a:prstGeom>
          <a:noFill/>
          <a:ln/>
        </p:spPr>
        <p:txBody>
          <a:bodyPr wrap="square" lIns="0" tIns="0" rIns="0" bIns="0" rtlCol="0" anchor="ctr"/>
          <a:lstStyle/>
          <a:p>
            <a:pPr algn="ctr" indent="0" marL="0">
              <a:buNone/>
            </a:pPr>
            <a:r>
              <a:rPr lang="en-US" sz="790" b="1" dirty="0">
                <a:solidFill>
                  <a:srgbClr val="C7000B"/>
                </a:solidFill>
                <a:latin typeface="Microsoft YaHei" pitchFamily="34" charset="0"/>
                <a:ea typeface="Microsoft YaHei" pitchFamily="34" charset="-122"/>
                <a:cs typeface="Microsoft YaHei" pitchFamily="34" charset="-120"/>
              </a:rPr>
              <a:t>NCCL / RDMA / IB / 拓扑 / 容错</a:t>
            </a:r>
            <a:endParaRPr lang="en-US" sz="790" dirty="0"/>
          </a:p>
        </p:txBody>
      </p:sp>
      <p:sp>
        <p:nvSpPr>
          <p:cNvPr id="44" name="Shape 42"/>
          <p:cNvSpPr/>
          <p:nvPr/>
        </p:nvSpPr>
        <p:spPr>
          <a:xfrm>
            <a:off x="804672" y="4709160"/>
            <a:ext cx="2423160" cy="758952"/>
          </a:xfrm>
          <a:prstGeom prst="roundRect">
            <a:avLst>
              <a:gd name="adj" fmla="val 5422"/>
            </a:avLst>
          </a:prstGeom>
          <a:solidFill>
            <a:srgbClr val="FFF1F2"/>
          </a:solidFill>
          <a:ln w="9525">
            <a:solidFill>
              <a:srgbClr val="C7000B"/>
            </a:solidFill>
            <a:prstDash val="solid"/>
          </a:ln>
        </p:spPr>
      </p:sp>
      <p:sp>
        <p:nvSpPr>
          <p:cNvPr id="45" name="Text 43"/>
          <p:cNvSpPr/>
          <p:nvPr/>
        </p:nvSpPr>
        <p:spPr>
          <a:xfrm>
            <a:off x="950976" y="4864608"/>
            <a:ext cx="777240" cy="109728"/>
          </a:xfrm>
          <a:prstGeom prst="rect">
            <a:avLst/>
          </a:prstGeom>
          <a:noFill/>
          <a:ln/>
        </p:spPr>
        <p:txBody>
          <a:bodyPr wrap="square" lIns="0" tIns="0" rIns="0" bIns="0" rtlCol="0" anchor="ctr"/>
          <a:lstStyle/>
          <a:p>
            <a:pPr indent="0" marL="0">
              <a:buNone/>
            </a:pPr>
            <a:r>
              <a:rPr lang="en-US" sz="740" b="1" dirty="0">
                <a:solidFill>
                  <a:srgbClr val="C7000B"/>
                </a:solidFill>
                <a:latin typeface="Microsoft YaHei" pitchFamily="34" charset="0"/>
                <a:ea typeface="Microsoft YaHei" pitchFamily="34" charset="-122"/>
                <a:cs typeface="Microsoft YaHei" pitchFamily="34" charset="-120"/>
              </a:rPr>
              <a:t>解决什么</a:t>
            </a:r>
            <a:endParaRPr lang="en-US" sz="740" dirty="0"/>
          </a:p>
        </p:txBody>
      </p:sp>
      <p:sp>
        <p:nvSpPr>
          <p:cNvPr id="46" name="Text 44"/>
          <p:cNvSpPr/>
          <p:nvPr/>
        </p:nvSpPr>
        <p:spPr>
          <a:xfrm>
            <a:off x="95097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单卡放不下、吞吐不够</a:t>
            </a:r>
            <a:endParaRPr lang="en-US" sz="860" dirty="0"/>
          </a:p>
        </p:txBody>
      </p:sp>
      <p:sp>
        <p:nvSpPr>
          <p:cNvPr id="47" name="Shape 45"/>
          <p:cNvSpPr/>
          <p:nvPr/>
        </p:nvSpPr>
        <p:spPr>
          <a:xfrm>
            <a:off x="3593592" y="4709160"/>
            <a:ext cx="2423160" cy="758952"/>
          </a:xfrm>
          <a:prstGeom prst="roundRect">
            <a:avLst>
              <a:gd name="adj" fmla="val 5422"/>
            </a:avLst>
          </a:prstGeom>
          <a:solidFill>
            <a:srgbClr val="FFFFFF"/>
          </a:solidFill>
          <a:ln w="9525">
            <a:solidFill>
              <a:srgbClr val="DCDCDC"/>
            </a:solidFill>
            <a:prstDash val="solid"/>
          </a:ln>
        </p:spPr>
      </p:sp>
      <p:sp>
        <p:nvSpPr>
          <p:cNvPr id="48" name="Text 46"/>
          <p:cNvSpPr/>
          <p:nvPr/>
        </p:nvSpPr>
        <p:spPr>
          <a:xfrm>
            <a:off x="373989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怎么做</a:t>
            </a:r>
            <a:endParaRPr lang="en-US" sz="740" dirty="0"/>
          </a:p>
        </p:txBody>
      </p:sp>
      <p:sp>
        <p:nvSpPr>
          <p:cNvPr id="49" name="Text 47"/>
          <p:cNvSpPr/>
          <p:nvPr/>
        </p:nvSpPr>
        <p:spPr>
          <a:xfrm>
            <a:off x="373989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按层、按矩阵或按请求拆分</a:t>
            </a:r>
            <a:endParaRPr lang="en-US" sz="860" dirty="0"/>
          </a:p>
        </p:txBody>
      </p:sp>
      <p:sp>
        <p:nvSpPr>
          <p:cNvPr id="50" name="Shape 48"/>
          <p:cNvSpPr/>
          <p:nvPr/>
        </p:nvSpPr>
        <p:spPr>
          <a:xfrm>
            <a:off x="6382512" y="4709160"/>
            <a:ext cx="2423160" cy="758952"/>
          </a:xfrm>
          <a:prstGeom prst="roundRect">
            <a:avLst>
              <a:gd name="adj" fmla="val 5422"/>
            </a:avLst>
          </a:prstGeom>
          <a:solidFill>
            <a:srgbClr val="FFFFFF"/>
          </a:solidFill>
          <a:ln w="9525">
            <a:solidFill>
              <a:srgbClr val="DCDCDC"/>
            </a:solidFill>
            <a:prstDash val="solid"/>
          </a:ln>
        </p:spPr>
      </p:sp>
      <p:sp>
        <p:nvSpPr>
          <p:cNvPr id="51" name="Text 49"/>
          <p:cNvSpPr/>
          <p:nvPr/>
        </p:nvSpPr>
        <p:spPr>
          <a:xfrm>
            <a:off x="652881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代价</a:t>
            </a:r>
            <a:endParaRPr lang="en-US" sz="740" dirty="0"/>
          </a:p>
        </p:txBody>
      </p:sp>
      <p:sp>
        <p:nvSpPr>
          <p:cNvPr id="52" name="Text 50"/>
          <p:cNvSpPr/>
          <p:nvPr/>
        </p:nvSpPr>
        <p:spPr>
          <a:xfrm>
            <a:off x="652881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通信、同步、故障恢复更复杂</a:t>
            </a:r>
            <a:endParaRPr lang="en-US" sz="860" dirty="0"/>
          </a:p>
        </p:txBody>
      </p:sp>
      <p:sp>
        <p:nvSpPr>
          <p:cNvPr id="53" name="Shape 51"/>
          <p:cNvSpPr/>
          <p:nvPr/>
        </p:nvSpPr>
        <p:spPr>
          <a:xfrm>
            <a:off x="9171432" y="4709160"/>
            <a:ext cx="2423160" cy="758952"/>
          </a:xfrm>
          <a:prstGeom prst="roundRect">
            <a:avLst>
              <a:gd name="adj" fmla="val 5422"/>
            </a:avLst>
          </a:prstGeom>
          <a:solidFill>
            <a:srgbClr val="FFFFFF"/>
          </a:solidFill>
          <a:ln w="9525">
            <a:solidFill>
              <a:srgbClr val="DCDCDC"/>
            </a:solidFill>
            <a:prstDash val="solid"/>
          </a:ln>
        </p:spPr>
      </p:sp>
      <p:sp>
        <p:nvSpPr>
          <p:cNvPr id="54" name="Text 52"/>
          <p:cNvSpPr/>
          <p:nvPr/>
        </p:nvSpPr>
        <p:spPr>
          <a:xfrm>
            <a:off x="931773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适用场景</a:t>
            </a:r>
            <a:endParaRPr lang="en-US" sz="740" dirty="0"/>
          </a:p>
        </p:txBody>
      </p:sp>
      <p:sp>
        <p:nvSpPr>
          <p:cNvPr id="55" name="Text 53"/>
          <p:cNvSpPr/>
          <p:nvPr/>
        </p:nvSpPr>
        <p:spPr>
          <a:xfrm>
            <a:off x="931773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大模型、高并发、多租户服务</a:t>
            </a:r>
            <a:endParaRPr lang="en-US" sz="860" dirty="0"/>
          </a:p>
        </p:txBody>
      </p:sp>
      <p:sp>
        <p:nvSpPr>
          <p:cNvPr id="56" name="Shape 54"/>
          <p:cNvSpPr/>
          <p:nvPr/>
        </p:nvSpPr>
        <p:spPr>
          <a:xfrm>
            <a:off x="804672" y="5650992"/>
            <a:ext cx="10469880" cy="493776"/>
          </a:xfrm>
          <a:prstGeom prst="roundRect">
            <a:avLst>
              <a:gd name="adj" fmla="val 9259"/>
            </a:avLst>
          </a:prstGeom>
          <a:solidFill>
            <a:srgbClr val="FFFFFF"/>
          </a:solidFill>
          <a:ln w="9525">
            <a:solidFill>
              <a:srgbClr val="DCDCDC"/>
            </a:solidFill>
            <a:prstDash val="solid"/>
          </a:ln>
        </p:spPr>
      </p:sp>
      <p:sp>
        <p:nvSpPr>
          <p:cNvPr id="57" name="Shape 55"/>
          <p:cNvSpPr/>
          <p:nvPr/>
        </p:nvSpPr>
        <p:spPr>
          <a:xfrm>
            <a:off x="804672" y="5650992"/>
            <a:ext cx="91440" cy="493776"/>
          </a:xfrm>
          <a:prstGeom prst="rect">
            <a:avLst/>
          </a:prstGeom>
          <a:solidFill>
            <a:srgbClr val="C7000B"/>
          </a:solidFill>
          <a:ln w="12700">
            <a:solidFill>
              <a:srgbClr val="C7000B"/>
            </a:solidFill>
            <a:prstDash val="solid"/>
          </a:ln>
        </p:spPr>
      </p:sp>
      <p:sp>
        <p:nvSpPr>
          <p:cNvPr id="58" name="Text 56"/>
          <p:cNvSpPr/>
          <p:nvPr/>
        </p:nvSpPr>
        <p:spPr>
          <a:xfrm>
            <a:off x="1051560" y="5760720"/>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59" name="Text 57"/>
          <p:cNvSpPr/>
          <p:nvPr/>
        </p:nvSpPr>
        <p:spPr>
          <a:xfrm>
            <a:off x="1874520" y="5815584"/>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多卡部署提升容量，同时需要关注通信、同步和故障恢复。</a:t>
            </a:r>
            <a:endParaRPr lang="en-US" sz="10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solidFill>
            <a:prstDash val="solid"/>
          </a:ln>
        </p:spPr>
      </p:sp>
      <p:sp>
        <p:nvSpPr>
          <p:cNvPr id="3" name="Shape 1"/>
          <p:cNvSpPr/>
          <p:nvPr/>
        </p:nvSpPr>
        <p:spPr>
          <a:xfrm>
            <a:off x="0" y="0"/>
            <a:ext cx="146304" cy="6858000"/>
          </a:xfrm>
          <a:prstGeom prst="rect">
            <a:avLst/>
          </a:prstGeom>
          <a:solidFill>
            <a:srgbClr val="C7000B"/>
          </a:solidFill>
          <a:ln w="12700">
            <a:solidFill>
              <a:srgbClr val="C7000B"/>
            </a:solidFill>
            <a:prstDash val="solid"/>
          </a:ln>
        </p:spPr>
      </p:sp>
      <p:sp>
        <p:nvSpPr>
          <p:cNvPr id="4" name="Shape 2"/>
          <p:cNvSpPr/>
          <p:nvPr/>
        </p:nvSpPr>
        <p:spPr>
          <a:xfrm>
            <a:off x="146304" y="0"/>
            <a:ext cx="36576" cy="6858000"/>
          </a:xfrm>
          <a:prstGeom prst="rect">
            <a:avLst/>
          </a:prstGeom>
          <a:solidFill>
            <a:srgbClr val="E60012"/>
          </a:solidFill>
          <a:ln w="12700">
            <a:solidFill>
              <a:srgbClr val="E60012"/>
            </a:solidFill>
            <a:prstDash val="solid"/>
          </a:ln>
        </p:spPr>
      </p:sp>
      <p:sp>
        <p:nvSpPr>
          <p:cNvPr id="5" name="Shape 3"/>
          <p:cNvSpPr/>
          <p:nvPr/>
        </p:nvSpPr>
        <p:spPr>
          <a:xfrm>
            <a:off x="502920" y="6327648"/>
            <a:ext cx="10744200" cy="0"/>
          </a:xfrm>
          <a:prstGeom prst="line">
            <a:avLst/>
          </a:prstGeom>
          <a:noFill/>
          <a:ln w="7620">
            <a:solidFill>
              <a:srgbClr val="DCDCDC"/>
            </a:solidFill>
            <a:prstDash val="solid"/>
          </a:ln>
        </p:spPr>
      </p:sp>
      <p:sp>
        <p:nvSpPr>
          <p:cNvPr id="6" name="Text 4"/>
          <p:cNvSpPr/>
          <p:nvPr/>
        </p:nvSpPr>
        <p:spPr>
          <a:xfrm>
            <a:off x="502920" y="6473952"/>
            <a:ext cx="4114800" cy="137160"/>
          </a:xfrm>
          <a:prstGeom prst="rect">
            <a:avLst/>
          </a:prstGeom>
          <a:noFill/>
          <a:ln/>
        </p:spPr>
        <p:txBody>
          <a:bodyPr wrap="square" lIns="0" tIns="0" rIns="0" bIns="0" rtlCol="0" anchor="ctr"/>
          <a:lstStyle/>
          <a:p>
            <a:pPr indent="0" marL="0">
              <a:buNone/>
            </a:pPr>
            <a:r>
              <a:rPr lang="en-US" sz="750" dirty="0">
                <a:solidFill>
                  <a:srgbClr val="9C9C9C"/>
                </a:solidFill>
                <a:latin typeface="Microsoft YaHei" pitchFamily="34" charset="0"/>
                <a:ea typeface="Microsoft YaHei" pitchFamily="34" charset="-122"/>
                <a:cs typeface="Microsoft YaHei" pitchFamily="34" charset="-120"/>
              </a:rPr>
              <a:t>LLM Inference</a:t>
            </a:r>
            <a:endParaRPr lang="en-US" sz="750" dirty="0"/>
          </a:p>
        </p:txBody>
      </p:sp>
      <p:sp>
        <p:nvSpPr>
          <p:cNvPr id="7" name="Text 5"/>
          <p:cNvSpPr/>
          <p:nvPr/>
        </p:nvSpPr>
        <p:spPr>
          <a:xfrm>
            <a:off x="11109960" y="6364224"/>
            <a:ext cx="658368" cy="219456"/>
          </a:xfrm>
          <a:prstGeom prst="rect">
            <a:avLst/>
          </a:prstGeom>
          <a:noFill/>
          <a:ln/>
        </p:spPr>
        <p:txBody>
          <a:bodyPr wrap="square" lIns="0" tIns="0" rIns="0" bIns="0" rtlCol="0" anchor="ctr"/>
          <a:lstStyle/>
          <a:p>
            <a:pPr algn="r" indent="0" marL="0">
              <a:buNone/>
            </a:pPr>
            <a:r>
              <a:rPr lang="en-US" sz="1250" b="1" dirty="0">
                <a:solidFill>
                  <a:srgbClr val="C7000B"/>
                </a:solidFill>
                <a:latin typeface="Microsoft YaHei" pitchFamily="34" charset="0"/>
                <a:ea typeface="Microsoft YaHei" pitchFamily="34" charset="-122"/>
                <a:cs typeface="Microsoft YaHei" pitchFamily="34" charset="-120"/>
              </a:rPr>
              <a:t>14</a:t>
            </a:r>
            <a:endParaRPr lang="en-US" sz="1250" dirty="0"/>
          </a:p>
        </p:txBody>
      </p:sp>
      <p:sp>
        <p:nvSpPr>
          <p:cNvPr id="8" name="Text 6"/>
          <p:cNvSpPr/>
          <p:nvPr/>
        </p:nvSpPr>
        <p:spPr>
          <a:xfrm>
            <a:off x="594360" y="347472"/>
            <a:ext cx="4389120" cy="164592"/>
          </a:xfrm>
          <a:prstGeom prst="rect">
            <a:avLst/>
          </a:prstGeom>
          <a:noFill/>
          <a:ln/>
        </p:spPr>
        <p:txBody>
          <a:bodyPr wrap="square" lIns="0" tIns="0" rIns="0" bIns="0" rtlCol="0" anchor="ctr"/>
          <a:lstStyle/>
          <a:p>
            <a:pPr indent="0" marL="0">
              <a:buNone/>
            </a:pPr>
            <a:r>
              <a:rPr lang="en-US" sz="780" b="1" dirty="0">
                <a:solidFill>
                  <a:srgbClr val="C7000B"/>
                </a:solidFill>
                <a:latin typeface="Microsoft YaHei" pitchFamily="34" charset="0"/>
                <a:ea typeface="Microsoft YaHei" pitchFamily="34" charset="-122"/>
                <a:cs typeface="Microsoft YaHei" pitchFamily="34" charset="-120"/>
              </a:rPr>
              <a:t>13 / PD DISAGGREGATION</a:t>
            </a:r>
            <a:endParaRPr lang="en-US" sz="780" dirty="0"/>
          </a:p>
        </p:txBody>
      </p:sp>
      <p:sp>
        <p:nvSpPr>
          <p:cNvPr id="9" name="Text 7"/>
          <p:cNvSpPr/>
          <p:nvPr/>
        </p:nvSpPr>
        <p:spPr>
          <a:xfrm>
            <a:off x="594360" y="658368"/>
            <a:ext cx="8412480" cy="512064"/>
          </a:xfrm>
          <a:prstGeom prst="rect">
            <a:avLst/>
          </a:prstGeom>
          <a:noFill/>
          <a:ln/>
        </p:spPr>
        <p:txBody>
          <a:bodyPr wrap="square" lIns="0" tIns="0" rIns="0" bIns="0" rtlCol="0" anchor="ctr">
            <a:normAutofit/>
          </a:bodyPr>
          <a:lstStyle/>
          <a:p>
            <a:pPr indent="0" marL="0">
              <a:buNone/>
            </a:pPr>
            <a:r>
              <a:rPr lang="en-US" sz="2550" b="1" dirty="0">
                <a:solidFill>
                  <a:srgbClr val="111111"/>
                </a:solidFill>
                <a:latin typeface="Microsoft YaHei" pitchFamily="34" charset="0"/>
                <a:ea typeface="Microsoft YaHei" pitchFamily="34" charset="-122"/>
                <a:cs typeface="Microsoft YaHei" pitchFamily="34" charset="-120"/>
              </a:rPr>
              <a:t>PD 分离：按阶段拆资源</a:t>
            </a:r>
            <a:endParaRPr lang="en-US" sz="2550" dirty="0"/>
          </a:p>
        </p:txBody>
      </p:sp>
      <p:sp>
        <p:nvSpPr>
          <p:cNvPr id="10" name="Text 8"/>
          <p:cNvSpPr/>
          <p:nvPr/>
        </p:nvSpPr>
        <p:spPr>
          <a:xfrm>
            <a:off x="612648" y="1234440"/>
            <a:ext cx="8961120" cy="256032"/>
          </a:xfrm>
          <a:prstGeom prst="rect">
            <a:avLst/>
          </a:prstGeom>
          <a:noFill/>
          <a:ln/>
        </p:spPr>
        <p:txBody>
          <a:bodyPr wrap="square" lIns="0" tIns="0" rIns="0" bIns="0" rtlCol="0" anchor="ctr">
            <a:normAutofit/>
          </a:bodyPr>
          <a:lstStyle/>
          <a:p>
            <a:pPr indent="0" marL="0">
              <a:buNone/>
            </a:pPr>
            <a:r>
              <a:rPr lang="en-US" sz="1080" dirty="0">
                <a:solidFill>
                  <a:srgbClr val="666666"/>
                </a:solidFill>
                <a:latin typeface="Microsoft YaHei" pitchFamily="34" charset="0"/>
                <a:ea typeface="Microsoft YaHei" pitchFamily="34" charset="-122"/>
                <a:cs typeface="Microsoft YaHei" pitchFamily="34" charset="-120"/>
              </a:rPr>
              <a:t>Prefill 与 Decode 的资源特征不同，分离后可以分别扩容和调度。</a:t>
            </a:r>
            <a:endParaRPr lang="en-US" sz="1080" dirty="0"/>
          </a:p>
        </p:txBody>
      </p:sp>
      <p:sp>
        <p:nvSpPr>
          <p:cNvPr id="11" name="Text 9"/>
          <p:cNvSpPr/>
          <p:nvPr/>
        </p:nvSpPr>
        <p:spPr>
          <a:xfrm>
            <a:off x="822960" y="1664208"/>
            <a:ext cx="6309360" cy="237744"/>
          </a:xfrm>
          <a:prstGeom prst="rect">
            <a:avLst/>
          </a:prstGeom>
          <a:noFill/>
          <a:ln/>
        </p:spPr>
        <p:txBody>
          <a:bodyPr wrap="square" lIns="0" tIns="0" rIns="0" bIns="0" rtlCol="0" anchor="ctr">
            <a:normAutofit/>
          </a:bodyPr>
          <a:lstStyle/>
          <a:p>
            <a:pPr indent="0" marL="0">
              <a:buNone/>
            </a:pPr>
            <a:r>
              <a:rPr lang="en-US" sz="1320" b="1" dirty="0">
                <a:solidFill>
                  <a:srgbClr val="C7000B"/>
                </a:solidFill>
                <a:latin typeface="Microsoft YaHei" pitchFamily="34" charset="0"/>
                <a:ea typeface="Microsoft YaHei" pitchFamily="34" charset="-122"/>
                <a:cs typeface="Microsoft YaHei" pitchFamily="34" charset="-120"/>
              </a:rPr>
              <a:t>PD 分离把长输入和长输出拆到不同资源池处理。</a:t>
            </a:r>
            <a:endParaRPr lang="en-US" sz="1320" dirty="0"/>
          </a:p>
        </p:txBody>
      </p:sp>
      <p:sp>
        <p:nvSpPr>
          <p:cNvPr id="12" name="Shape 10"/>
          <p:cNvSpPr/>
          <p:nvPr/>
        </p:nvSpPr>
        <p:spPr>
          <a:xfrm>
            <a:off x="868680" y="2240280"/>
            <a:ext cx="2514600" cy="868680"/>
          </a:xfrm>
          <a:prstGeom prst="roundRect">
            <a:avLst>
              <a:gd name="adj" fmla="val 4737"/>
            </a:avLst>
          </a:prstGeom>
          <a:solidFill>
            <a:srgbClr val="E8F6F6"/>
          </a:solidFill>
          <a:ln w="13335">
            <a:solidFill>
              <a:srgbClr val="0F8B8D"/>
            </a:solidFill>
            <a:prstDash val="solid"/>
          </a:ln>
        </p:spPr>
      </p:sp>
      <p:sp>
        <p:nvSpPr>
          <p:cNvPr id="13" name="Shape 11"/>
          <p:cNvSpPr/>
          <p:nvPr/>
        </p:nvSpPr>
        <p:spPr>
          <a:xfrm>
            <a:off x="868680" y="2240280"/>
            <a:ext cx="73152" cy="868680"/>
          </a:xfrm>
          <a:prstGeom prst="rect">
            <a:avLst/>
          </a:prstGeom>
          <a:solidFill>
            <a:srgbClr val="0F8B8D"/>
          </a:solidFill>
          <a:ln w="12700">
            <a:solidFill>
              <a:srgbClr val="0F8B8D"/>
            </a:solidFill>
            <a:prstDash val="solid"/>
          </a:ln>
        </p:spPr>
      </p:sp>
      <p:sp>
        <p:nvSpPr>
          <p:cNvPr id="14" name="Text 12"/>
          <p:cNvSpPr/>
          <p:nvPr/>
        </p:nvSpPr>
        <p:spPr>
          <a:xfrm>
            <a:off x="1069848" y="2368296"/>
            <a:ext cx="2221992"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Prefill Pool</a:t>
            </a:r>
            <a:endParaRPr lang="en-US" sz="1080" dirty="0"/>
          </a:p>
        </p:txBody>
      </p:sp>
      <p:sp>
        <p:nvSpPr>
          <p:cNvPr id="15" name="Text 13"/>
          <p:cNvSpPr/>
          <p:nvPr/>
        </p:nvSpPr>
        <p:spPr>
          <a:xfrm>
            <a:off x="1069848" y="2624328"/>
            <a:ext cx="2221992" cy="429768"/>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长 prompt</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计算密集</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优化 TTFT</a:t>
            </a:r>
            <a:endParaRPr lang="en-US" sz="830" dirty="0"/>
          </a:p>
        </p:txBody>
      </p:sp>
      <p:sp>
        <p:nvSpPr>
          <p:cNvPr id="16" name="Shape 14"/>
          <p:cNvSpPr/>
          <p:nvPr/>
        </p:nvSpPr>
        <p:spPr>
          <a:xfrm>
            <a:off x="3520440" y="2670048"/>
            <a:ext cx="1051560" cy="0"/>
          </a:xfrm>
          <a:prstGeom prst="line">
            <a:avLst/>
          </a:prstGeom>
          <a:noFill/>
          <a:ln w="19050">
            <a:solidFill>
              <a:srgbClr val="C7000B"/>
            </a:solidFill>
            <a:prstDash val="solid"/>
            <a:headEnd type="none"/>
            <a:tailEnd type="triangle"/>
          </a:ln>
        </p:spPr>
      </p:sp>
      <p:sp>
        <p:nvSpPr>
          <p:cNvPr id="17" name="Shape 15"/>
          <p:cNvSpPr/>
          <p:nvPr/>
        </p:nvSpPr>
        <p:spPr>
          <a:xfrm>
            <a:off x="4709160" y="2240280"/>
            <a:ext cx="2240280" cy="868680"/>
          </a:xfrm>
          <a:prstGeom prst="roundRect">
            <a:avLst>
              <a:gd name="adj" fmla="val 4737"/>
            </a:avLst>
          </a:prstGeom>
          <a:solidFill>
            <a:srgbClr val="FFF7DC"/>
          </a:solidFill>
          <a:ln w="13335">
            <a:solidFill>
              <a:srgbClr val="B99020"/>
            </a:solidFill>
            <a:prstDash val="solid"/>
          </a:ln>
        </p:spPr>
      </p:sp>
      <p:sp>
        <p:nvSpPr>
          <p:cNvPr id="18" name="Shape 16"/>
          <p:cNvSpPr/>
          <p:nvPr/>
        </p:nvSpPr>
        <p:spPr>
          <a:xfrm>
            <a:off x="4709160" y="2240280"/>
            <a:ext cx="73152" cy="868680"/>
          </a:xfrm>
          <a:prstGeom prst="rect">
            <a:avLst/>
          </a:prstGeom>
          <a:solidFill>
            <a:srgbClr val="B99020"/>
          </a:solidFill>
          <a:ln w="12700">
            <a:solidFill>
              <a:srgbClr val="B99020"/>
            </a:solidFill>
            <a:prstDash val="solid"/>
          </a:ln>
        </p:spPr>
      </p:sp>
      <p:sp>
        <p:nvSpPr>
          <p:cNvPr id="19" name="Text 17"/>
          <p:cNvSpPr/>
          <p:nvPr/>
        </p:nvSpPr>
        <p:spPr>
          <a:xfrm>
            <a:off x="4910328" y="2368296"/>
            <a:ext cx="1947672"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KV Transfer</a:t>
            </a:r>
            <a:endParaRPr lang="en-US" sz="1080" dirty="0"/>
          </a:p>
        </p:txBody>
      </p:sp>
      <p:sp>
        <p:nvSpPr>
          <p:cNvPr id="20" name="Text 18"/>
          <p:cNvSpPr/>
          <p:nvPr/>
        </p:nvSpPr>
        <p:spPr>
          <a:xfrm>
            <a:off x="4910328" y="2624328"/>
            <a:ext cx="1947672" cy="429768"/>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缓存交接</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网络带宽</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生命周期</a:t>
            </a:r>
            <a:endParaRPr lang="en-US" sz="830" dirty="0"/>
          </a:p>
        </p:txBody>
      </p:sp>
      <p:sp>
        <p:nvSpPr>
          <p:cNvPr id="21" name="Shape 19"/>
          <p:cNvSpPr/>
          <p:nvPr/>
        </p:nvSpPr>
        <p:spPr>
          <a:xfrm>
            <a:off x="7095744" y="2670048"/>
            <a:ext cx="1042416" cy="0"/>
          </a:xfrm>
          <a:prstGeom prst="line">
            <a:avLst/>
          </a:prstGeom>
          <a:noFill/>
          <a:ln w="19050">
            <a:solidFill>
              <a:srgbClr val="C7000B"/>
            </a:solidFill>
            <a:prstDash val="solid"/>
            <a:headEnd type="none"/>
            <a:tailEnd type="triangle"/>
          </a:ln>
        </p:spPr>
      </p:sp>
      <p:sp>
        <p:nvSpPr>
          <p:cNvPr id="22" name="Shape 20"/>
          <p:cNvSpPr/>
          <p:nvPr/>
        </p:nvSpPr>
        <p:spPr>
          <a:xfrm>
            <a:off x="8275320" y="2240280"/>
            <a:ext cx="2514600" cy="868680"/>
          </a:xfrm>
          <a:prstGeom prst="roundRect">
            <a:avLst>
              <a:gd name="adj" fmla="val 4737"/>
            </a:avLst>
          </a:prstGeom>
          <a:solidFill>
            <a:srgbClr val="FFF1F2"/>
          </a:solidFill>
          <a:ln w="13335">
            <a:solidFill>
              <a:srgbClr val="C7000B"/>
            </a:solidFill>
            <a:prstDash val="solid"/>
          </a:ln>
        </p:spPr>
      </p:sp>
      <p:sp>
        <p:nvSpPr>
          <p:cNvPr id="23" name="Shape 21"/>
          <p:cNvSpPr/>
          <p:nvPr/>
        </p:nvSpPr>
        <p:spPr>
          <a:xfrm>
            <a:off x="8275320" y="2240280"/>
            <a:ext cx="73152" cy="868680"/>
          </a:xfrm>
          <a:prstGeom prst="rect">
            <a:avLst/>
          </a:prstGeom>
          <a:solidFill>
            <a:srgbClr val="C7000B"/>
          </a:solidFill>
          <a:ln w="12700">
            <a:solidFill>
              <a:srgbClr val="C7000B"/>
            </a:solidFill>
            <a:prstDash val="solid"/>
          </a:ln>
        </p:spPr>
      </p:sp>
      <p:sp>
        <p:nvSpPr>
          <p:cNvPr id="24" name="Text 22"/>
          <p:cNvSpPr/>
          <p:nvPr/>
        </p:nvSpPr>
        <p:spPr>
          <a:xfrm>
            <a:off x="8476488" y="2368296"/>
            <a:ext cx="2221992" cy="164592"/>
          </a:xfrm>
          <a:prstGeom prst="rect">
            <a:avLst/>
          </a:prstGeom>
          <a:noFill/>
          <a:ln/>
        </p:spPr>
        <p:txBody>
          <a:bodyPr wrap="square" lIns="0" tIns="0" rIns="0" bIns="0" rtlCol="0" anchor="ctr">
            <a:normAutofit/>
          </a:bodyPr>
          <a:lstStyle/>
          <a:p>
            <a:pPr indent="0" marL="0">
              <a:buNone/>
            </a:pPr>
            <a:r>
              <a:rPr lang="en-US" sz="1080" b="1" dirty="0">
                <a:solidFill>
                  <a:srgbClr val="111111"/>
                </a:solidFill>
                <a:latin typeface="Microsoft YaHei" pitchFamily="34" charset="0"/>
                <a:ea typeface="Microsoft YaHei" pitchFamily="34" charset="-122"/>
                <a:cs typeface="Microsoft YaHei" pitchFamily="34" charset="-120"/>
              </a:rPr>
              <a:t>Decode Pool</a:t>
            </a:r>
            <a:endParaRPr lang="en-US" sz="1080" dirty="0"/>
          </a:p>
        </p:txBody>
      </p:sp>
      <p:sp>
        <p:nvSpPr>
          <p:cNvPr id="25" name="Text 23"/>
          <p:cNvSpPr/>
          <p:nvPr/>
        </p:nvSpPr>
        <p:spPr>
          <a:xfrm>
            <a:off x="8476488" y="2624328"/>
            <a:ext cx="2221992" cy="429768"/>
          </a:xfrm>
          <a:prstGeom prst="rect">
            <a:avLst/>
          </a:prstGeom>
          <a:noFill/>
          <a:ln/>
        </p:spPr>
        <p:txBody>
          <a:bodyPr wrap="square" lIns="0" tIns="0" rIns="0" bIns="0" rtlCol="0" anchor="ctr">
            <a:normAutofit/>
          </a:bodyPr>
          <a:lstStyle/>
          <a:p>
            <a:pPr indent="0" marL="0">
              <a:buNone/>
            </a:pPr>
            <a:r>
              <a:rPr lang="en-US" sz="830" dirty="0">
                <a:solidFill>
                  <a:srgbClr val="666666"/>
                </a:solidFill>
                <a:latin typeface="Microsoft YaHei" pitchFamily="34" charset="0"/>
                <a:ea typeface="Microsoft YaHei" pitchFamily="34" charset="-122"/>
                <a:cs typeface="Microsoft YaHei" pitchFamily="34" charset="-120"/>
              </a:rPr>
              <a:t>持续生成</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带宽敏感</a:t>
            </a:r>
            <a:endParaRPr lang="en-US" sz="830" dirty="0"/>
          </a:p>
          <a:p>
            <a:pPr indent="0" marL="0">
              <a:buNone/>
            </a:pPr>
            <a:r>
              <a:rPr lang="en-US" sz="830" dirty="0">
                <a:solidFill>
                  <a:srgbClr val="666666"/>
                </a:solidFill>
                <a:latin typeface="Microsoft YaHei" pitchFamily="34" charset="0"/>
                <a:ea typeface="Microsoft YaHei" pitchFamily="34" charset="-122"/>
                <a:cs typeface="Microsoft YaHei" pitchFamily="34" charset="-120"/>
              </a:rPr>
              <a:t>优化 TPOT</a:t>
            </a:r>
            <a:endParaRPr lang="en-US" sz="830" dirty="0"/>
          </a:p>
        </p:txBody>
      </p:sp>
      <p:sp>
        <p:nvSpPr>
          <p:cNvPr id="26" name="Shape 24"/>
          <p:cNvSpPr/>
          <p:nvPr/>
        </p:nvSpPr>
        <p:spPr>
          <a:xfrm>
            <a:off x="1143000" y="4041648"/>
            <a:ext cx="4297680" cy="594360"/>
          </a:xfrm>
          <a:prstGeom prst="roundRect">
            <a:avLst>
              <a:gd name="adj" fmla="val 6923"/>
            </a:avLst>
          </a:prstGeom>
          <a:solidFill>
            <a:srgbClr val="FFFFFF"/>
          </a:solidFill>
          <a:ln w="9525">
            <a:solidFill>
              <a:srgbClr val="DCDCDC"/>
            </a:solidFill>
            <a:prstDash val="solid"/>
          </a:ln>
        </p:spPr>
      </p:sp>
      <p:sp>
        <p:nvSpPr>
          <p:cNvPr id="27" name="Text 25"/>
          <p:cNvSpPr/>
          <p:nvPr/>
        </p:nvSpPr>
        <p:spPr>
          <a:xfrm>
            <a:off x="1389888" y="4261104"/>
            <a:ext cx="3794760" cy="109728"/>
          </a:xfrm>
          <a:prstGeom prst="rect">
            <a:avLst/>
          </a:prstGeom>
          <a:noFill/>
          <a:ln/>
        </p:spPr>
        <p:txBody>
          <a:bodyPr wrap="square" lIns="0" tIns="0" rIns="0" bIns="0" rtlCol="0" anchor="ctr"/>
          <a:lstStyle/>
          <a:p>
            <a:pPr algn="ctr" indent="0" marL="0">
              <a:buNone/>
            </a:pPr>
            <a:r>
              <a:rPr lang="en-US" sz="870" b="1" dirty="0">
                <a:solidFill>
                  <a:srgbClr val="C7000B"/>
                </a:solidFill>
                <a:latin typeface="Microsoft YaHei" pitchFamily="34" charset="0"/>
                <a:ea typeface="Microsoft YaHei" pitchFamily="34" charset="-122"/>
                <a:cs typeface="Microsoft YaHei" pitchFamily="34" charset="-120"/>
              </a:rPr>
              <a:t>收益：资源利用率更高，可分别扩容</a:t>
            </a:r>
            <a:endParaRPr lang="en-US" sz="870" dirty="0"/>
          </a:p>
        </p:txBody>
      </p:sp>
      <p:sp>
        <p:nvSpPr>
          <p:cNvPr id="28" name="Shape 26"/>
          <p:cNvSpPr/>
          <p:nvPr/>
        </p:nvSpPr>
        <p:spPr>
          <a:xfrm>
            <a:off x="6400800" y="4041648"/>
            <a:ext cx="4297680" cy="594360"/>
          </a:xfrm>
          <a:prstGeom prst="roundRect">
            <a:avLst>
              <a:gd name="adj" fmla="val 6923"/>
            </a:avLst>
          </a:prstGeom>
          <a:solidFill>
            <a:srgbClr val="FFFFFF"/>
          </a:solidFill>
          <a:ln w="9525">
            <a:solidFill>
              <a:srgbClr val="DCDCDC"/>
            </a:solidFill>
            <a:prstDash val="solid"/>
          </a:ln>
        </p:spPr>
      </p:sp>
      <p:sp>
        <p:nvSpPr>
          <p:cNvPr id="29" name="Text 27"/>
          <p:cNvSpPr/>
          <p:nvPr/>
        </p:nvSpPr>
        <p:spPr>
          <a:xfrm>
            <a:off x="6656832" y="4261104"/>
            <a:ext cx="3794760" cy="109728"/>
          </a:xfrm>
          <a:prstGeom prst="rect">
            <a:avLst/>
          </a:prstGeom>
          <a:noFill/>
          <a:ln/>
        </p:spPr>
        <p:txBody>
          <a:bodyPr wrap="square" lIns="0" tIns="0" rIns="0" bIns="0" rtlCol="0" anchor="ctr"/>
          <a:lstStyle/>
          <a:p>
            <a:pPr algn="ctr" indent="0" marL="0">
              <a:buNone/>
            </a:pPr>
            <a:r>
              <a:rPr lang="en-US" sz="870" b="1" dirty="0">
                <a:solidFill>
                  <a:srgbClr val="666666"/>
                </a:solidFill>
                <a:latin typeface="Microsoft YaHei" pitchFamily="34" charset="0"/>
                <a:ea typeface="Microsoft YaHei" pitchFamily="34" charset="-122"/>
                <a:cs typeface="Microsoft YaHei" pitchFamily="34" charset="-120"/>
              </a:rPr>
              <a:t>挑战：KV 传输、调度和网络压力</a:t>
            </a:r>
            <a:endParaRPr lang="en-US" sz="870" dirty="0"/>
          </a:p>
        </p:txBody>
      </p:sp>
      <p:sp>
        <p:nvSpPr>
          <p:cNvPr id="30" name="Shape 28"/>
          <p:cNvSpPr/>
          <p:nvPr/>
        </p:nvSpPr>
        <p:spPr>
          <a:xfrm>
            <a:off x="804672" y="4709160"/>
            <a:ext cx="2423160" cy="758952"/>
          </a:xfrm>
          <a:prstGeom prst="roundRect">
            <a:avLst>
              <a:gd name="adj" fmla="val 5422"/>
            </a:avLst>
          </a:prstGeom>
          <a:solidFill>
            <a:srgbClr val="FFF1F2"/>
          </a:solidFill>
          <a:ln w="9525">
            <a:solidFill>
              <a:srgbClr val="C7000B"/>
            </a:solidFill>
            <a:prstDash val="solid"/>
          </a:ln>
        </p:spPr>
      </p:sp>
      <p:sp>
        <p:nvSpPr>
          <p:cNvPr id="31" name="Text 29"/>
          <p:cNvSpPr/>
          <p:nvPr/>
        </p:nvSpPr>
        <p:spPr>
          <a:xfrm>
            <a:off x="950976" y="4864608"/>
            <a:ext cx="777240" cy="109728"/>
          </a:xfrm>
          <a:prstGeom prst="rect">
            <a:avLst/>
          </a:prstGeom>
          <a:noFill/>
          <a:ln/>
        </p:spPr>
        <p:txBody>
          <a:bodyPr wrap="square" lIns="0" tIns="0" rIns="0" bIns="0" rtlCol="0" anchor="ctr"/>
          <a:lstStyle/>
          <a:p>
            <a:pPr indent="0" marL="0">
              <a:buNone/>
            </a:pPr>
            <a:r>
              <a:rPr lang="en-US" sz="740" b="1" dirty="0">
                <a:solidFill>
                  <a:srgbClr val="C7000B"/>
                </a:solidFill>
                <a:latin typeface="Microsoft YaHei" pitchFamily="34" charset="0"/>
                <a:ea typeface="Microsoft YaHei" pitchFamily="34" charset="-122"/>
                <a:cs typeface="Microsoft YaHei" pitchFamily="34" charset="-120"/>
              </a:rPr>
              <a:t>解决什么</a:t>
            </a:r>
            <a:endParaRPr lang="en-US" sz="740" dirty="0"/>
          </a:p>
        </p:txBody>
      </p:sp>
      <p:sp>
        <p:nvSpPr>
          <p:cNvPr id="32" name="Text 30"/>
          <p:cNvSpPr/>
          <p:nvPr/>
        </p:nvSpPr>
        <p:spPr>
          <a:xfrm>
            <a:off x="95097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Prefill 和 Decode 资源特征不同</a:t>
            </a:r>
            <a:endParaRPr lang="en-US" sz="860" dirty="0"/>
          </a:p>
        </p:txBody>
      </p:sp>
      <p:sp>
        <p:nvSpPr>
          <p:cNvPr id="33" name="Shape 31"/>
          <p:cNvSpPr/>
          <p:nvPr/>
        </p:nvSpPr>
        <p:spPr>
          <a:xfrm>
            <a:off x="3593592" y="4709160"/>
            <a:ext cx="2423160" cy="758952"/>
          </a:xfrm>
          <a:prstGeom prst="roundRect">
            <a:avLst>
              <a:gd name="adj" fmla="val 5422"/>
            </a:avLst>
          </a:prstGeom>
          <a:solidFill>
            <a:srgbClr val="FFFFFF"/>
          </a:solidFill>
          <a:ln w="9525">
            <a:solidFill>
              <a:srgbClr val="DCDCDC"/>
            </a:solidFill>
            <a:prstDash val="solid"/>
          </a:ln>
        </p:spPr>
      </p:sp>
      <p:sp>
        <p:nvSpPr>
          <p:cNvPr id="34" name="Text 32"/>
          <p:cNvSpPr/>
          <p:nvPr/>
        </p:nvSpPr>
        <p:spPr>
          <a:xfrm>
            <a:off x="373989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怎么做</a:t>
            </a:r>
            <a:endParaRPr lang="en-US" sz="740" dirty="0"/>
          </a:p>
        </p:txBody>
      </p:sp>
      <p:sp>
        <p:nvSpPr>
          <p:cNvPr id="35" name="Text 33"/>
          <p:cNvSpPr/>
          <p:nvPr/>
        </p:nvSpPr>
        <p:spPr>
          <a:xfrm>
            <a:off x="373989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Prefill 池与 Decode 池分离调度</a:t>
            </a:r>
            <a:endParaRPr lang="en-US" sz="860" dirty="0"/>
          </a:p>
        </p:txBody>
      </p:sp>
      <p:sp>
        <p:nvSpPr>
          <p:cNvPr id="36" name="Shape 34"/>
          <p:cNvSpPr/>
          <p:nvPr/>
        </p:nvSpPr>
        <p:spPr>
          <a:xfrm>
            <a:off x="6382512" y="4709160"/>
            <a:ext cx="2423160" cy="758952"/>
          </a:xfrm>
          <a:prstGeom prst="roundRect">
            <a:avLst>
              <a:gd name="adj" fmla="val 5422"/>
            </a:avLst>
          </a:prstGeom>
          <a:solidFill>
            <a:srgbClr val="FFFFFF"/>
          </a:solidFill>
          <a:ln w="9525">
            <a:solidFill>
              <a:srgbClr val="DCDCDC"/>
            </a:solidFill>
            <a:prstDash val="solid"/>
          </a:ln>
        </p:spPr>
      </p:sp>
      <p:sp>
        <p:nvSpPr>
          <p:cNvPr id="37" name="Text 35"/>
          <p:cNvSpPr/>
          <p:nvPr/>
        </p:nvSpPr>
        <p:spPr>
          <a:xfrm>
            <a:off x="652881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代价</a:t>
            </a:r>
            <a:endParaRPr lang="en-US" sz="740" dirty="0"/>
          </a:p>
        </p:txBody>
      </p:sp>
      <p:sp>
        <p:nvSpPr>
          <p:cNvPr id="38" name="Text 36"/>
          <p:cNvSpPr/>
          <p:nvPr/>
        </p:nvSpPr>
        <p:spPr>
          <a:xfrm>
            <a:off x="652881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KV 传输和请求生命周期复杂</a:t>
            </a:r>
            <a:endParaRPr lang="en-US" sz="860" dirty="0"/>
          </a:p>
        </p:txBody>
      </p:sp>
      <p:sp>
        <p:nvSpPr>
          <p:cNvPr id="39" name="Shape 37"/>
          <p:cNvSpPr/>
          <p:nvPr/>
        </p:nvSpPr>
        <p:spPr>
          <a:xfrm>
            <a:off x="9171432" y="4709160"/>
            <a:ext cx="2423160" cy="758952"/>
          </a:xfrm>
          <a:prstGeom prst="roundRect">
            <a:avLst>
              <a:gd name="adj" fmla="val 5422"/>
            </a:avLst>
          </a:prstGeom>
          <a:solidFill>
            <a:srgbClr val="FFFFFF"/>
          </a:solidFill>
          <a:ln w="9525">
            <a:solidFill>
              <a:srgbClr val="DCDCDC"/>
            </a:solidFill>
            <a:prstDash val="solid"/>
          </a:ln>
        </p:spPr>
      </p:sp>
      <p:sp>
        <p:nvSpPr>
          <p:cNvPr id="40" name="Text 38"/>
          <p:cNvSpPr/>
          <p:nvPr/>
        </p:nvSpPr>
        <p:spPr>
          <a:xfrm>
            <a:off x="9317736" y="4864608"/>
            <a:ext cx="777240" cy="109728"/>
          </a:xfrm>
          <a:prstGeom prst="rect">
            <a:avLst/>
          </a:prstGeom>
          <a:noFill/>
          <a:ln/>
        </p:spPr>
        <p:txBody>
          <a:bodyPr wrap="square" lIns="0" tIns="0" rIns="0" bIns="0" rtlCol="0" anchor="ctr"/>
          <a:lstStyle/>
          <a:p>
            <a:pPr indent="0" marL="0">
              <a:buNone/>
            </a:pPr>
            <a:r>
              <a:rPr lang="en-US" sz="740" b="1" dirty="0">
                <a:solidFill>
                  <a:srgbClr val="9C9C9C"/>
                </a:solidFill>
                <a:latin typeface="Microsoft YaHei" pitchFamily="34" charset="0"/>
                <a:ea typeface="Microsoft YaHei" pitchFamily="34" charset="-122"/>
                <a:cs typeface="Microsoft YaHei" pitchFamily="34" charset="-120"/>
              </a:rPr>
              <a:t>适用场景</a:t>
            </a:r>
            <a:endParaRPr lang="en-US" sz="740" dirty="0"/>
          </a:p>
        </p:txBody>
      </p:sp>
      <p:sp>
        <p:nvSpPr>
          <p:cNvPr id="41" name="Text 39"/>
          <p:cNvSpPr/>
          <p:nvPr/>
        </p:nvSpPr>
        <p:spPr>
          <a:xfrm>
            <a:off x="9317736" y="5074920"/>
            <a:ext cx="2103120" cy="201168"/>
          </a:xfrm>
          <a:prstGeom prst="rect">
            <a:avLst/>
          </a:prstGeom>
          <a:noFill/>
          <a:ln/>
        </p:spPr>
        <p:txBody>
          <a:bodyPr wrap="square" lIns="0" tIns="0" rIns="0" bIns="0" rtlCol="0" anchor="ctr">
            <a:normAutofit/>
          </a:bodyPr>
          <a:lstStyle/>
          <a:p>
            <a:pPr indent="0" marL="0">
              <a:buNone/>
            </a:pPr>
            <a:r>
              <a:rPr lang="en-US" sz="860" dirty="0">
                <a:solidFill>
                  <a:srgbClr val="1F1F1F"/>
                </a:solidFill>
                <a:latin typeface="Microsoft YaHei" pitchFamily="34" charset="0"/>
                <a:ea typeface="Microsoft YaHei" pitchFamily="34" charset="-122"/>
                <a:cs typeface="Microsoft YaHei" pitchFamily="34" charset="-120"/>
              </a:rPr>
              <a:t>长上下文、高并发、TTFT 敏感场景</a:t>
            </a:r>
            <a:endParaRPr lang="en-US" sz="860" dirty="0"/>
          </a:p>
        </p:txBody>
      </p:sp>
      <p:sp>
        <p:nvSpPr>
          <p:cNvPr id="42" name="Shape 40"/>
          <p:cNvSpPr/>
          <p:nvPr/>
        </p:nvSpPr>
        <p:spPr>
          <a:xfrm>
            <a:off x="804672" y="5650992"/>
            <a:ext cx="10469880" cy="493776"/>
          </a:xfrm>
          <a:prstGeom prst="roundRect">
            <a:avLst>
              <a:gd name="adj" fmla="val 9259"/>
            </a:avLst>
          </a:prstGeom>
          <a:solidFill>
            <a:srgbClr val="FFFFFF"/>
          </a:solidFill>
          <a:ln w="9525">
            <a:solidFill>
              <a:srgbClr val="DCDCDC"/>
            </a:solidFill>
            <a:prstDash val="solid"/>
          </a:ln>
        </p:spPr>
      </p:sp>
      <p:sp>
        <p:nvSpPr>
          <p:cNvPr id="43" name="Shape 41"/>
          <p:cNvSpPr/>
          <p:nvPr/>
        </p:nvSpPr>
        <p:spPr>
          <a:xfrm>
            <a:off x="804672" y="5650992"/>
            <a:ext cx="91440" cy="493776"/>
          </a:xfrm>
          <a:prstGeom prst="rect">
            <a:avLst/>
          </a:prstGeom>
          <a:solidFill>
            <a:srgbClr val="C7000B"/>
          </a:solidFill>
          <a:ln w="12700">
            <a:solidFill>
              <a:srgbClr val="C7000B"/>
            </a:solidFill>
            <a:prstDash val="solid"/>
          </a:ln>
        </p:spPr>
      </p:sp>
      <p:sp>
        <p:nvSpPr>
          <p:cNvPr id="44" name="Text 42"/>
          <p:cNvSpPr/>
          <p:nvPr/>
        </p:nvSpPr>
        <p:spPr>
          <a:xfrm>
            <a:off x="1051560" y="5760720"/>
            <a:ext cx="713232" cy="91440"/>
          </a:xfrm>
          <a:prstGeom prst="rect">
            <a:avLst/>
          </a:prstGeom>
          <a:noFill/>
          <a:ln/>
        </p:spPr>
        <p:txBody>
          <a:bodyPr wrap="square" lIns="0" tIns="0" rIns="0" bIns="0" rtlCol="0" anchor="ctr"/>
          <a:lstStyle/>
          <a:p>
            <a:pPr indent="0" marL="0">
              <a:buNone/>
            </a:pPr>
            <a:r>
              <a:rPr lang="en-US" sz="720" b="1" dirty="0">
                <a:solidFill>
                  <a:srgbClr val="C7000B"/>
                </a:solidFill>
                <a:latin typeface="Microsoft YaHei" pitchFamily="34" charset="0"/>
                <a:ea typeface="Microsoft YaHei" pitchFamily="34" charset="-122"/>
                <a:cs typeface="Microsoft YaHei" pitchFamily="34" charset="-120"/>
              </a:rPr>
              <a:t>本页要点</a:t>
            </a:r>
            <a:endParaRPr lang="en-US" sz="720" dirty="0"/>
          </a:p>
        </p:txBody>
      </p:sp>
      <p:sp>
        <p:nvSpPr>
          <p:cNvPr id="45" name="Text 43"/>
          <p:cNvSpPr/>
          <p:nvPr/>
        </p:nvSpPr>
        <p:spPr>
          <a:xfrm>
            <a:off x="1874520" y="5815584"/>
            <a:ext cx="9006840" cy="118872"/>
          </a:xfrm>
          <a:prstGeom prst="rect">
            <a:avLst/>
          </a:prstGeom>
          <a:noFill/>
          <a:ln/>
        </p:spPr>
        <p:txBody>
          <a:bodyPr wrap="square" lIns="0" tIns="0" rIns="0" bIns="0" rtlCol="0" anchor="ctr">
            <a:normAutofit/>
          </a:bodyPr>
          <a:lstStyle/>
          <a:p>
            <a:pPr algn="l" indent="0" marL="0">
              <a:buNone/>
            </a:pPr>
            <a:r>
              <a:rPr lang="en-US" sz="1020" b="1" dirty="0">
                <a:solidFill>
                  <a:srgbClr val="1F1F1F"/>
                </a:solidFill>
                <a:latin typeface="Microsoft YaHei" pitchFamily="34" charset="0"/>
                <a:ea typeface="Microsoft YaHei" pitchFamily="34" charset="-122"/>
                <a:cs typeface="Microsoft YaHei" pitchFamily="34" charset="-120"/>
              </a:rPr>
              <a:t>推理优化通常围绕体验、吞吐和成本做平衡。</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Huawei-tone technical sharing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大模型推理基础与性能优化 精修版</dc:title>
  <dc:subject>大模型推理知识分享</dc:subject>
  <dc:creator>Codex</dc:creator>
  <cp:lastModifiedBy>Codex</cp:lastModifiedBy>
  <cp:revision>1</cp:revision>
  <dcterms:created xsi:type="dcterms:W3CDTF">2026-06-02T07:21:55Z</dcterms:created>
  <dcterms:modified xsi:type="dcterms:W3CDTF">2026-06-02T07:21:55Z</dcterms:modified>
</cp:coreProperties>
</file>