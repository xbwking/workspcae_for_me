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e1b9c0863340e8" /><Relationship Type="http://schemas.openxmlformats.org/officeDocument/2006/relationships/extended-properties" Target="/docProps/app.xml" Id="R01750ddc5d4540b6" /><Relationship Type="http://schemas.openxmlformats.org/officeDocument/2006/relationships/officeDocument" Target="/ppt/presentation.xml" Id="R1aab7846bf9f4a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07bbb16ea84f9e"/>
  </p:sldMasterIdLst>
  <p:notesMasterIdLst>
    <p:notesMasterId xmlns:r="http://schemas.openxmlformats.org/officeDocument/2006/relationships" r:id="Rf557b52ad1174aa4"/>
  </p:notesMasterIdLst>
  <p:sldIdLst>
    <p:sldId xmlns:r="http://schemas.openxmlformats.org/officeDocument/2006/relationships" id="256" r:id="Ra52e153dc7564795"/>
    <p:sldId xmlns:r="http://schemas.openxmlformats.org/officeDocument/2006/relationships" id="257" r:id="R6d30ec08f82e4512"/>
    <p:sldId xmlns:r="http://schemas.openxmlformats.org/officeDocument/2006/relationships" id="258" r:id="R55d0a60ab71548d3"/>
    <p:sldId xmlns:r="http://schemas.openxmlformats.org/officeDocument/2006/relationships" id="259" r:id="R2f18b9cebe6744b8"/>
    <p:sldId xmlns:r="http://schemas.openxmlformats.org/officeDocument/2006/relationships" id="260" r:id="R9936846558e14285"/>
    <p:sldId xmlns:r="http://schemas.openxmlformats.org/officeDocument/2006/relationships" id="261" r:id="Raab5377e9d6e493b"/>
    <p:sldId xmlns:r="http://schemas.openxmlformats.org/officeDocument/2006/relationships" id="262" r:id="Rbd3900b3108e4a4c"/>
    <p:sldId xmlns:r="http://schemas.openxmlformats.org/officeDocument/2006/relationships" id="263" r:id="R565fd1565a214f4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07bbb16ea84f9e" /><Relationship Type="http://schemas.openxmlformats.org/officeDocument/2006/relationships/theme" Target="/ppt/theme/theme1.xml" Id="R9fb946b1f79a4292" /><Relationship Type="http://schemas.openxmlformats.org/officeDocument/2006/relationships/notesMaster" Target="/ppt/notesMasters/notesMaster1.xml" Id="Rf557b52ad1174aa4" /><Relationship Type="http://schemas.openxmlformats.org/officeDocument/2006/relationships/presProps" Target="/ppt/presProps.xml" Id="R6a2561a31c3b4310" /><Relationship Type="http://schemas.openxmlformats.org/officeDocument/2006/relationships/viewProps" Target="/ppt/viewProps.xml" Id="R93c1ca3747e54347" /><Relationship Type="http://schemas.openxmlformats.org/officeDocument/2006/relationships/tableStyles" Target="/ppt/tableStyles.xml" Id="R3fb70946061f4cfb" /><Relationship Type="http://schemas.openxmlformats.org/officeDocument/2006/relationships/slide" Target="/ppt/slides/slide1.xml" Id="Ra52e153dc7564795" /><Relationship Type="http://schemas.openxmlformats.org/officeDocument/2006/relationships/slide" Target="/ppt/slides/slide2.xml" Id="R6d30ec08f82e4512" /><Relationship Type="http://schemas.openxmlformats.org/officeDocument/2006/relationships/slide" Target="/ppt/slides/slide3.xml" Id="R55d0a60ab71548d3" /><Relationship Type="http://schemas.openxmlformats.org/officeDocument/2006/relationships/slide" Target="/ppt/slides/slide4.xml" Id="R2f18b9cebe6744b8" /><Relationship Type="http://schemas.openxmlformats.org/officeDocument/2006/relationships/slide" Target="/ppt/slides/slide5.xml" Id="R9936846558e14285" /><Relationship Type="http://schemas.openxmlformats.org/officeDocument/2006/relationships/slide" Target="/ppt/slides/slide6.xml" Id="Raab5377e9d6e493b" /><Relationship Type="http://schemas.openxmlformats.org/officeDocument/2006/relationships/slide" Target="/ppt/slides/slide7.xml" Id="Rbd3900b3108e4a4c" /><Relationship Type="http://schemas.openxmlformats.org/officeDocument/2006/relationships/slide" Target="/ppt/slides/slide8.xml" Id="R565fd1565a214f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d6764cd591242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f39b4fac8a403a" /><Relationship Type="http://schemas.openxmlformats.org/officeDocument/2006/relationships/notesMaster" Target="/ppt/notesMasters/notesMaster1.xml" Id="Refdbafa3f9ce45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659ba5bf8d4f3d" /><Relationship Type="http://schemas.openxmlformats.org/officeDocument/2006/relationships/notesMaster" Target="/ppt/notesMasters/notesMaster1.xml" Id="R91a071f5495e4b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68883aacd54fc8" /><Relationship Type="http://schemas.openxmlformats.org/officeDocument/2006/relationships/notesMaster" Target="/ppt/notesMasters/notesMaster1.xml" Id="Rc3f099fa0b4c45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07aa2ed05d45c3" /><Relationship Type="http://schemas.openxmlformats.org/officeDocument/2006/relationships/notesMaster" Target="/ppt/notesMasters/notesMaster1.xml" Id="R8ee91c3ed54d44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8bbeefb7e943c1" /><Relationship Type="http://schemas.openxmlformats.org/officeDocument/2006/relationships/notesMaster" Target="/ppt/notesMasters/notesMaster1.xml" Id="R617e59dda85b46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01bbd08ad8420f" /><Relationship Type="http://schemas.openxmlformats.org/officeDocument/2006/relationships/notesMaster" Target="/ppt/notesMasters/notesMaster1.xml" Id="Ra85761069b844a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368e5692604f06" /><Relationship Type="http://schemas.openxmlformats.org/officeDocument/2006/relationships/notesMaster" Target="/ppt/notesMasters/notesMaster1.xml" Id="R5f424bb5ff6f42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c7105e15814037" /><Relationship Type="http://schemas.openxmlformats.org/officeDocument/2006/relationships/notesMaster" Target="/ppt/notesMasters/notesMaster1.xml" Id="R79cbb6e880bf4f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b89deadca3450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321808445634e1a" /><Relationship Type="http://schemas.openxmlformats.org/officeDocument/2006/relationships/slideLayout" Target="/ppt/slideLayouts/slideLayout2.xml" Id="R2359ace7009541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59ace7009541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a3747de8bf45e8" /><Relationship Type="http://schemas.openxmlformats.org/officeDocument/2006/relationships/notesSlide" Target="/ppt/notesSlides/notesSlide1.xml" Id="R9e367289707049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1432d11a834103" /><Relationship Type="http://schemas.openxmlformats.org/officeDocument/2006/relationships/image" Target="/ppt/media/image.png" Id="Ra01ffe561b1b42ad" /><Relationship Type="http://schemas.openxmlformats.org/officeDocument/2006/relationships/image" Target="/ppt/media/image.svg" Id="Rd86bdb6572ce49f1" /><Relationship Type="http://schemas.openxmlformats.org/officeDocument/2006/relationships/image" Target="/ppt/media/image2.png" Id="Rfc1903c439de4166" /><Relationship Type="http://schemas.openxmlformats.org/officeDocument/2006/relationships/image" Target="/ppt/media/image2.svg" Id="Rd8af8bbbc7ee4698" /><Relationship Type="http://schemas.openxmlformats.org/officeDocument/2006/relationships/image" Target="/ppt/media/image3.png" Id="Rab10c02acb6b4226" /><Relationship Type="http://schemas.openxmlformats.org/officeDocument/2006/relationships/image" Target="/ppt/media/image3.svg" Id="R37d4c65b742c4701" /><Relationship Type="http://schemas.openxmlformats.org/officeDocument/2006/relationships/image" Target="/ppt/media/image4.png" Id="R6c27a112ec0740fa" /><Relationship Type="http://schemas.openxmlformats.org/officeDocument/2006/relationships/image" Target="/ppt/media/image4.svg" Id="Rd523787fc1f24fab" /><Relationship Type="http://schemas.openxmlformats.org/officeDocument/2006/relationships/notesSlide" Target="/ppt/notesSlides/notesSlide2.xml" Id="R96b605f0e9284f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7c9f0c3ae44d2a" /><Relationship Type="http://schemas.openxmlformats.org/officeDocument/2006/relationships/notesSlide" Target="/ppt/notesSlides/notesSlide3.xml" Id="Rd2a42ce4a70744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3a06acfa5f4fd9" /><Relationship Type="http://schemas.openxmlformats.org/officeDocument/2006/relationships/notesSlide" Target="/ppt/notesSlides/notesSlide4.xml" Id="R95fa0f54bb5d4f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2fc1778645449e" /><Relationship Type="http://schemas.openxmlformats.org/officeDocument/2006/relationships/notesSlide" Target="/ppt/notesSlides/notesSlide5.xml" Id="R6ccd7ce7cd6243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8d638733b44ad0" /><Relationship Type="http://schemas.openxmlformats.org/officeDocument/2006/relationships/notesSlide" Target="/ppt/notesSlides/notesSlide6.xml" Id="Rc444fce4486b43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e1cc08cf5f4e77" /><Relationship Type="http://schemas.openxmlformats.org/officeDocument/2006/relationships/notesSlide" Target="/ppt/notesSlides/notesSlide7.xml" Id="R50729a0f48c14b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fe221ac48e4506" /><Relationship Type="http://schemas.openxmlformats.org/officeDocument/2006/relationships/notesSlide" Target="/ppt/notesSlides/notesSlide8.xml" Id="R3371957c0f484c9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FF68F9-EDDB-48B5-8998-C927EC8C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D42A5-E738-4755-909B-A7ABC5F6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CB43E-17EF-4B1E-9F57-A1CE3A87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C7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C74"/>
                </a:solidFill>
                <a:latin typeface="Aptos"/>
                <a:ea typeface="Aptos"/>
                <a:cs typeface="Aptos"/>
              </a:rPr>
              <a:t>ASCEND VERL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5F472-4DB0-476F-B75F-E2C8FA50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8096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201E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6201E"/>
                </a:solidFill>
                <a:latin typeface="Aptos Display"/>
                <a:ea typeface="Aptos Display"/>
                <a:cs typeface="Aptos Display"/>
              </a:rPr>
              <a:t>Ascend verl 系统介绍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88A34-5E4F-4606-8AF3-0D03BA65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verl 是大模型强化学习后训练的编排框架；Ascend 版本把这套训练 + 推理 + 通信链路落到 NPU 栈上。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903B4-8EAE-4A55-B5EB-0F26B211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2177F-5726-450B-9DFE-1B6EF8B2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D45B4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AB6C1D-0F25-4B9D-B29C-2D80CB6E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45B4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45B47"/>
                </a:solidFill>
                <a:latin typeface="Aptos"/>
                <a:ea typeface="Aptos"/>
                <a:cs typeface="Aptos"/>
              </a:rPr>
              <a:t>训练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EE5B8-D409-46AE-B4F5-E21B8E2B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147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007C7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7B939-62DE-4D58-B4B1-540CEAB2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71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7C7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07C74"/>
                </a:solidFill>
                <a:latin typeface="Aptos"/>
                <a:ea typeface="Aptos"/>
                <a:cs typeface="Aptos"/>
              </a:rPr>
              <a:t>推理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1CBF1-B12B-41D4-82C9-D37AFA59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147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C7852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C5BF62-706D-48EC-A7E3-1F05A17A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71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7852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78528"/>
                </a:solidFill>
                <a:latin typeface="Aptos"/>
                <a:ea typeface="Aptos"/>
                <a:cs typeface="Aptos"/>
              </a:rPr>
              <a:t>调度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D0E0A3-17DD-4333-9638-CCDF84A4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147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7E5A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CB60D-27EA-4DC4-BF9B-82916BA8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71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E5AA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E5AA6"/>
                </a:solidFill>
                <a:latin typeface="Aptos"/>
                <a:ea typeface="Aptos"/>
                <a:cs typeface="Aptos"/>
              </a:rPr>
              <a:t>通信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9B7A86-9BC8-47FE-A4A5-F6FA80E8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147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4F8A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3BCCF2-B3F9-4F2C-93B0-2EE98E52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719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F8A5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数据流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5D61F0-609F-45B9-89F3-A0B9FC57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819150"/>
            <a:ext cx="2476500" cy="480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2C00F0-AD09-4B8D-AFFD-6BA9DB90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123950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今天先回答三个问题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628ABE-4B8A-4684-B688-F26F5430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52600"/>
            <a:ext cx="438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45B4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45B4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D4D4E3-147D-4508-BA13-242B0F0B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7907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verl 到底是什么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8A88DB-DE2A-4370-8697-8A9DCD3D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57500"/>
            <a:ext cx="438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C7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7C7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5FAC65-6D78-4D73-86B1-F4545E88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956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Ascend 版本多了什么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02D79F-E211-4B86-B073-CD7DFFDB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62400"/>
            <a:ext cx="438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7852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7852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BB5DB1-A38C-4813-BE52-66D3C108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005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训练推理闭环怎么跑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56011D-3881-4DAF-96AA-64C7F2F9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EE378A-C8CF-462D-818C-C7CC9518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A92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A928B"/>
                </a:solidFill>
                <a:latin typeface="Aptos"/>
                <a:ea typeface="Aptos"/>
                <a:cs typeface="Aptos"/>
              </a:rPr>
              <a:t>Ascend verl system overview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34AE84-803B-45DB-8AE7-032ABEA9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579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7C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7C7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136679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F4182B-7497-413F-9646-F784F928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57FF3-8F7F-4AEC-B456-F5D7F65E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BD0A9-4B3F-447A-AB4B-4D10B23B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7C7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7C74"/>
                </a:solidFill>
                <a:latin typeface="Aptos"/>
                <a:ea typeface="Aptos"/>
                <a:cs typeface="Aptos"/>
              </a:rPr>
              <a:t>WHAT IS VERL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A3612-DE90-4660-A48C-3B3BE9EF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953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1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1E"/>
                </a:solidFill>
                <a:latin typeface="Aptos Display"/>
                <a:ea typeface="Aptos Display"/>
                <a:cs typeface="Aptos Display"/>
              </a:rPr>
              <a:t>verl 把 RL 后训练里的多个角色编排成一个分布式系统。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CE62A5-F240-4DB5-9640-BD7E6231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800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它不是单纯的训练框架，也不是单纯的推理框架。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50D01-077D-4B9F-8DE3-6D83FEE8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00965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BFB33-3585-4E8D-B15F-63A829BE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4D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4D4A"/>
                </a:solidFill>
                <a:latin typeface="Aptos"/>
                <a:ea typeface="Aptos"/>
                <a:cs typeface="Aptos"/>
              </a:rPr>
              <a:t>一轮 RL step 的角色闭环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9E228-847E-4EE9-8842-6A2232BD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Ray 负责把这些角色放到不同 worker / resource pool 上，并驱动远程调用和数据流转。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724797-62C2-4591-879A-F90E8895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1485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4F8A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310D6F-DFE4-4216-A99F-3DC681BC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28975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Prompt batch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9A8380-C9DA-4A56-AB23-687713AF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0520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DataProto 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8CD3A-CE5B-47B4-811D-10162155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05150"/>
            <a:ext cx="1485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007C7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E2007-D25E-4289-92D4-E1CB6699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28975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Rollout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7D7DF-3DAC-467A-BD3E-E9EDBD3C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0520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vLLM / SGLang 生成 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D2A74D-8B7F-4B0B-A7B6-031459A3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05150"/>
            <a:ext cx="1485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C7852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2BA41-7AFC-4B6C-BE72-53B35E9C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28975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Scoring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7443C7-8613-434C-99A5-390A5034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0520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Reward / Ref / Critic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6003F0-C600-44B9-81D8-DEE99100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05150"/>
            <a:ext cx="1485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D45B4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5928F8-BFD7-4CAE-A29C-63113C4C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28975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Trainer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C3A61B-E1EB-4DEC-8F21-69FAF5D2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0520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advantage、loss、参数更新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D88980-66A6-429E-B356-5207F68A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05150"/>
            <a:ext cx="1485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7E5A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A2ED59-28F0-4C06-AEFF-EA035C2E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28975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Actor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3986FC-F38A-4F49-94CC-D07EA52C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0520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当前训练的策略模型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E30FD0-E681-436F-AA07-4690CED4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861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CB2054-E8A4-4807-95F3-44265D73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7185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F8A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2F7ED0-FE53-4499-85A2-FF33CDCF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861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88D710-3207-45EE-876B-182E6FAF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7185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7C7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7C7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F2A0D3-F613-4D04-AD2F-009556D3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86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1EE9C8-751F-4E9B-B322-74394093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7185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85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852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62D5B5-6EAF-450B-B601-539AED06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861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106333-35AB-4C16-94DD-D58A0858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7185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45B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45B4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35D29D-199B-4914-9663-EFBAA1AD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62425"/>
            <a:ext cx="598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5A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CF5A4A-9755-4494-BAA9-31C28E2A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4812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E5AA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E5AA6"/>
                </a:solidFill>
                <a:latin typeface="Aptos"/>
                <a:ea typeface="Aptos"/>
                <a:cs typeface="Aptos"/>
              </a:rPr>
              <a:t>&lt;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7DD75D-60CA-473C-AE1B-AD303D0C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6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E5A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E5AA6"/>
                </a:solidFill>
                <a:latin typeface="Aptos"/>
                <a:ea typeface="Aptos"/>
                <a:cs typeface="Aptos"/>
              </a:rPr>
              <a:t>权重同步回 rollout，进入下一轮生成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ffe561b1b42ad">
            <a:extLst>
              <a:ext uri="{96DAC541-7B7A-43D3-8B79-37D633B846F1}">
                <asvg:svgBlip xmlns:asvg="http://schemas.microsoft.com/office/drawing/2016/SVG/main" r:embed="Rd86bdb6572ce49f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56959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647DC3-9A91-42F5-9ABC-7ECA3563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734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分布式编排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903c439de4166">
            <a:extLst>
              <a:ext uri="{96DAC541-7B7A-43D3-8B79-37D633B846F1}">
                <asvg:svgBlip xmlns:asvg="http://schemas.microsoft.com/office/drawing/2016/SVG/main" r:embed="Rd8af8bbbc7ee469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09950" y="56959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E81369-9982-4F37-A910-812B686F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734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RL 算法流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10c02acb6b4226">
            <a:extLst>
              <a:ext uri="{96DAC541-7B7A-43D3-8B79-37D633B846F1}">
                <asvg:svgBlip xmlns:asvg="http://schemas.microsoft.com/office/drawing/2016/SVG/main" r:embed="R37d4c65b742c470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24550" y="56959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E9860B-DD76-4FC1-AA04-503CE407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734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样本与状态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27a112ec0740fa">
            <a:extLst>
              <a:ext uri="{96DAC541-7B7A-43D3-8B79-37D633B846F1}">
                <asvg:svgBlip xmlns:asvg="http://schemas.microsoft.com/office/drawing/2016/SVG/main" r:embed="Rd523787fc1f24fa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39150" y="56959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4FA8AF-D1F4-4693-8028-ADE383E1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734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权重同步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052B62-9503-40F9-9D93-B82E9AB7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ABEC41-6444-468D-9E35-877F34D3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A92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A928B"/>
                </a:solidFill>
                <a:latin typeface="Aptos"/>
                <a:ea typeface="Aptos"/>
                <a:cs typeface="Aptos"/>
              </a:rPr>
              <a:t>Ascend verl introduction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59FA16-3986-4237-B9AB-1A78F138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579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7C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7C7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592290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E4A10D-D865-4EBA-9868-2849B960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25BD4-869D-4CA2-B7D7-527BFBCC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644F7-6A0B-4EAD-8816-49DE1DF6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7C7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7C74"/>
                </a:solidFill>
                <a:latin typeface="Aptos"/>
                <a:ea typeface="Aptos"/>
                <a:cs typeface="Aptos"/>
              </a:rPr>
              <a:t>ASCEND ADAPTATION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7BDAC-EC7D-47F4-BC48-E18B2B56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953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1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1E"/>
                </a:solidFill>
                <a:latin typeface="Aptos Display"/>
                <a:ea typeface="Aptos Display"/>
                <a:cs typeface="Aptos Display"/>
              </a:rPr>
              <a:t>Ascend 版本不是把 cuda 改成 npu，而是替换一整套运行和通信栈。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F0CD6-6F05-42B7-AB84-15A670E5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800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设备、通信、推理后端、训练后端和性能开关都会变化。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4BFA7-202F-4768-AA8A-17464062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717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45B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45B47"/>
                </a:solidFill>
                <a:latin typeface="Aptos"/>
                <a:ea typeface="Aptos"/>
                <a:cs typeface="Aptos"/>
              </a:rPr>
              <a:t>GPU 常见栈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DB51E-0AE8-4875-862C-C631CE1F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717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7C7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7C74"/>
                </a:solidFill>
                <a:latin typeface="Aptos"/>
                <a:ea typeface="Aptos"/>
                <a:cs typeface="Aptos"/>
              </a:rPr>
              <a:t>Ascend NPU 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6A3DD-25FB-451D-A0BC-D2EFE777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81250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2EF14-C38F-4940-8856-F4D76495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323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D45B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F06C45-F4D0-47D4-9930-DD80CCE6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9875"/>
            <a:ext cx="293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CUDA / torch.cuda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0478B9-2AB8-4992-A568-1925CFDE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86100"/>
            <a:ext cx="2933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设备运行时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2B3EF-F7CC-4219-B8B1-3E38C942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323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D45B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02E415-3570-42AC-AD08-18D1BDEB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76625"/>
            <a:ext cx="293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NCCL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0E772-DC15-4E25-885F-DDD35C7C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52850"/>
            <a:ext cx="2933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分布式通信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28B36D-697E-4261-9378-75C8AD69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323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D45B4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29D902-D36D-4E95-9213-E76A00A5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43375"/>
            <a:ext cx="293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vLLM CUDA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9A8402-A3EF-4225-9817-8DA01551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9600"/>
            <a:ext cx="2933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推理引擎后端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0C16A6-97A1-4B16-80D4-CDBFC053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323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D45B4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2E0538-D731-477E-BD91-A66F7049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293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CUDA Graph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3400D6-BB63-47EA-8CF7-DBAAD7FF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86350"/>
            <a:ext cx="2933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图捕获和下发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11A88E-66CA-4B03-8A22-0E3EF4B9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8605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007C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0C9BFE-2A19-47A5-9DE8-AB8DE074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09875"/>
            <a:ext cx="3409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CANN / torch_npu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950035-322C-40F8-B858-5FE7C96F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86100"/>
            <a:ext cx="3409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NPU 运行时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4EC76B-904A-466F-B416-8307F26A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5280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007C7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46EAD5-0310-4C7F-BE3F-02B76930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76625"/>
            <a:ext cx="3409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HCCL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19E800-D2F1-4AFC-8C0E-A9609121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752850"/>
            <a:ext cx="3409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NPU 通信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8CF351-E58A-4AF7-8378-BAB8A672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1955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007C7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9D0020-8842-4FF2-A468-60792493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43375"/>
            <a:ext cx="3409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vLLM-Ascend / SGLang Ascend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79ACD4-4F48-490B-9F6E-ED76C8AD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19600"/>
            <a:ext cx="3409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推理引擎后端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F290D4-D68D-4D60-B071-8DA69E25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8630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007C7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594930-BFF9-4408-A386-1D2DD259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810125"/>
            <a:ext cx="3409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ACL Graph + NPU fused ops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04A02B-1BA3-4A94-8A58-099CC6F3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86350"/>
            <a:ext cx="3409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图捕获与融合算子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14A39E-DFB4-4B32-B2B8-582348EC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6769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85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78528"/>
                </a:solidFill>
                <a:latin typeface="Aptos"/>
                <a:ea typeface="Aptos"/>
                <a:cs typeface="Aptos"/>
              </a:rPr>
              <a:t>关键含义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C66708-1C7D-4890-8925-09F047C2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924550"/>
            <a:ext cx="676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Ascend 支持版本要以 Docker recipe pin 住的代码和依赖为准；不能直接把 GitHub main 当成已验证基线。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AEC58D-1EBF-4499-A670-FBF0D271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EAF225-9ABA-4F56-8855-0165BF68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A92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A928B"/>
                </a:solidFill>
                <a:latin typeface="Aptos"/>
                <a:ea typeface="Aptos"/>
                <a:cs typeface="Aptos"/>
              </a:rPr>
              <a:t>Ascend verl introduction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7135B9-BECB-4770-B57C-00B7B278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579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7C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7C7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3895002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F12F38-D141-41CF-897C-34233F5B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51ED1-BCE3-48F0-8CB7-B1E3486C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9585B-93F7-4565-9084-24C14BA3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7C7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7C74"/>
                </a:solidFill>
                <a:latin typeface="Aptos"/>
                <a:ea typeface="Aptos"/>
                <a:cs typeface="Aptos"/>
              </a:rPr>
              <a:t>RL TRAINING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C7EFB-FEC8-4B13-AA82-0290C6B7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953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1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1E"/>
                </a:solidFill>
                <a:latin typeface="Aptos Display"/>
                <a:ea typeface="Aptos Display"/>
                <a:cs typeface="Aptos Display"/>
              </a:rPr>
              <a:t>一次训练 step 是训练和推理交替推进的闭环。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386F5-E74E-4772-B7C9-4DF233B6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800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rollout 生成不是旁路，它决定了样本供应和端到端节奏。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9B166-1C28-48E2-ADD9-BC1F28E2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86050"/>
            <a:ext cx="1676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D45B4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6990B-0FFE-42F7-8442-3C194FCF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86050"/>
            <a:ext cx="3619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7F4762-342C-4EBE-B0D0-DDED7A19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95625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542B3-9325-4677-A69B-4C3C5794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Prompt batch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14F1E2-B183-4EB4-BAEB-916184DA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86100"/>
            <a:ext cx="1085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DataProto 承载输入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862AC-D83D-47CD-AC15-7AB36532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908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47215-1B2D-42D8-BCB4-6D7E8FB8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7657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45B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45B4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38C83E-829D-499C-9A2E-A70DFC76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86050"/>
            <a:ext cx="1676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007C7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622B0-FA8C-4BCC-8BF9-E96C5A2E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86050"/>
            <a:ext cx="3619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EECD2F-5DBD-4828-8127-5DE0B08E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95625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D21A84-0A1C-43B8-BA33-0A246E81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1940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Rollout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2CB564-54EE-4BAE-8224-78A53A35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86100"/>
            <a:ext cx="1085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vLLM/SGLang 生成 responses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A3D88A-6FB0-4A57-ACC8-E69E4B40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908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C4E89D-311C-499C-B70D-615BDC6A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7657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7C7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7C7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A974C0-7FC1-4669-B2AC-31B8ECCD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86050"/>
            <a:ext cx="1676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4F8A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E44DE8-EA53-4568-95F8-2B978111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86050"/>
            <a:ext cx="3619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975E5D-587F-4467-A39B-F28C62C0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95625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026806-9105-438A-89DC-DD60120A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1940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Reward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8E8DD0-1B50-464B-8262-F9525AC6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86100"/>
            <a:ext cx="1085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规则或模型打分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E5D5DE-03DB-45A8-9789-A28E285E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908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373652-D4EC-421E-867A-B8AA82B4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7657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F8A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EA9CA1-0F7F-4D55-9336-C266800E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86050"/>
            <a:ext cx="1676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7E5AA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33F3E0-F6C1-434A-AD54-64D04FB3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86050"/>
            <a:ext cx="3619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5A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C3A210-2AFC-436E-A077-F9A1A5AA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95625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B4B20C-539D-4655-8463-78486ABE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1940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Log prob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514FAE-59D5-4C5D-AB56-C3E6BC77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86100"/>
            <a:ext cx="1085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actor/ref/old policy 概率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15F37E-806E-4168-BF6A-FCC66E6D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908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5A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83EFE6-3E23-4459-B8ED-D9B7F3D5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7657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E5AA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E5AA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0B6A92-6DFD-4A66-A377-3AC71DFC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86050"/>
            <a:ext cx="1676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C7852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094008-FCF4-4485-96D3-EB16CD3D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86050"/>
            <a:ext cx="3619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125AF3-776D-49E4-98F4-81577857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95625"/>
            <a:ext cx="24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742265-327E-4DE6-ACAC-CC8D5721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1940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Update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A72978-39BB-45EB-8D40-68DDB889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86100"/>
            <a:ext cx="1085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advantage + loss + 参数更新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7A55A7-99D5-46BF-BC9C-DD1C2838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95750"/>
            <a:ext cx="1466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A"/>
          </a:solidFill>
          <a:ln xmlns:a="http://schemas.openxmlformats.org/drawingml/2006/main" w="13335">
            <a:solidFill>
              <a:srgbClr val="C7852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1BF746-E4E2-499D-824F-A9396C04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481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Weight sync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654394-463B-41D8-A0CA-88A2A521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95800"/>
            <a:ext cx="1085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更新后的 actor 权重回到 rollout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7C5FDB-B96C-40D8-A7E4-BCC867F1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71475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344098-D461-446E-A662-75F764B0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924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785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78528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374118D-5F02-4BA5-9CFB-F7D2AA26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29125"/>
            <a:ext cx="798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86CD79-3839-4CCF-AFB6-0896878E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1482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85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8528"/>
                </a:solidFill>
                <a:latin typeface="Aptos"/>
                <a:ea typeface="Aptos"/>
                <a:cs typeface="Aptos"/>
              </a:rPr>
              <a:t>&lt;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8E52F7-0858-4305-83A4-3D748C50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147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16B413-2B97-474A-9E59-9777FD7D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695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785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78528"/>
                </a:solidFill>
                <a:latin typeface="Aptos"/>
                <a:ea typeface="Aptos"/>
                <a:cs typeface="Aptos"/>
              </a:rPr>
              <a:t>^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3301CCE-1AC6-482C-B918-5A43156A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7C74"/>
                </a:solidFill>
                <a:latin typeface="Aptos"/>
                <a:ea typeface="Aptos"/>
                <a:cs typeface="Aptos"/>
              </a:rPr>
              <a:t>系统节奏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488A948-963E-4137-89CF-AC79F627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86375"/>
            <a:ext cx="790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生成、打分、参数更新、权重同步和样本回传，会一起决定一轮训练 step 的节奏。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461B497-5591-4A13-81F9-2D2829BA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6A1D72B-E95C-461F-B8DB-4E72FA8B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A92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A928B"/>
                </a:solidFill>
                <a:latin typeface="Aptos"/>
                <a:ea typeface="Aptos"/>
                <a:cs typeface="Aptos"/>
              </a:rPr>
              <a:t>Ascend verl introduction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1F3ED15-C942-4783-9688-CAAC2B98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579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7C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7C7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634936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711A92-B1BE-4898-932C-C89C9618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F10AF-4E46-4C92-81FD-7F6661B5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D2C57-55BE-47AE-916A-87B05DFE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7C7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7C74"/>
                </a:solidFill>
                <a:latin typeface="Aptos"/>
                <a:ea typeface="Aptos"/>
                <a:cs typeface="Aptos"/>
              </a:rPr>
              <a:t>CONTROL, COMPUTE,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DCABD-BF5D-4A33-A977-F8971EB3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953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1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1E"/>
                </a:solidFill>
                <a:latin typeface="Aptos Display"/>
                <a:ea typeface="Aptos Display"/>
                <a:cs typeface="Aptos Display"/>
              </a:rPr>
              <a:t>verl 的关键是把控制面、计算面和数据面组织起来。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2B897-1023-4C74-901B-35BDFAFF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800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Ray 负责调度，训练与推理引擎负责算子执行，数据系统负责搬运大对象。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F5392-BFBA-4E70-8FD8-116D6006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30480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F"/>
          </a:solidFill>
          <a:ln xmlns:a="http://schemas.openxmlformats.org/drawingml/2006/main" w="14288">
            <a:solidFill>
              <a:srgbClr val="D45B4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E0095-966F-4506-949B-E2FBE5ED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66950"/>
            <a:ext cx="30480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AF8"/>
          </a:solidFill>
          <a:ln xmlns:a="http://schemas.openxmlformats.org/drawingml/2006/main" w="14288">
            <a:solidFill>
              <a:srgbClr val="007C7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25993A-4483-46F0-9413-243B6480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66950"/>
            <a:ext cx="30480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14288">
            <a:solidFill>
              <a:srgbClr val="C7852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BCE18F-323A-4B5B-A110-4C059C1C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45B4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45B47"/>
                </a:solidFill>
                <a:latin typeface="Aptos"/>
                <a:ea typeface="Aptos"/>
                <a:cs typeface="Aptos"/>
              </a:rPr>
              <a:t>控制面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342FC3-D5F7-422B-96C0-5EC54374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2133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D45B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8485AB-BE18-4DBC-83EB-8FB872A3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9087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Ray Trainer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6EF6A-A736-44B5-979D-61C0E418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67100"/>
            <a:ext cx="1828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组织训练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E93784-7A4E-4350-A62E-7FFECB72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2133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D45B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F0349A-65EA-450D-9423-96460CEE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3382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WorkerGroup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2A235D-F57F-4016-AABB-3C3DDB69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0050"/>
            <a:ext cx="1828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actor / critic / ref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7A61C-47DD-4480-AB18-DD2701AD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2133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D45B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37CD94-81D4-4572-88D7-0773CDD0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7677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ResourcePool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47D6B9-FB67-4A01-BFB1-6EA2A8E5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828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节点和 NPU 资源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375F2F-B963-421B-B7B8-56511790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336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7C7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C74"/>
                </a:solidFill>
                <a:latin typeface="Aptos"/>
                <a:ea typeface="Aptos"/>
                <a:cs typeface="Aptos"/>
              </a:rPr>
              <a:t>计算面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BFEBE8-DE2F-44D5-B5A5-460B0CE2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67050"/>
            <a:ext cx="2133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007C7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C9649D-E05E-44D8-A0B6-DC67BA53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9087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Actor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D5CF1C-9403-4F0D-93FD-3F9D12F1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67100"/>
            <a:ext cx="1828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训练 + 参数更新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9F0058-2BAE-4F29-A6BB-C3DDC9D4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810000"/>
            <a:ext cx="2133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007C7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6E979F-2194-483E-9E88-8DAA04C8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93382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Rollout Engine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DE36C6-EE12-4CF7-BDA3-03F20661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10050"/>
            <a:ext cx="1828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vLLM-Ascend / SGLang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2345BF-6D06-4C84-B093-F22A092F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52950"/>
            <a:ext cx="2133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007C7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9C78C0-CCA6-4DF5-8477-F5F48304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7677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Reward / Ref / Critic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E5C214-D554-4369-B78D-50A0EB1F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53000"/>
            <a:ext cx="1828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打分与约束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5ABEC6-1A99-4260-857B-466A6FC3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336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7852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78528"/>
                </a:solidFill>
                <a:latin typeface="Aptos"/>
                <a:ea typeface="Aptos"/>
                <a:cs typeface="Aptos"/>
              </a:rPr>
              <a:t>数据面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3B9153-C6AB-4EAA-B96A-1FBDC527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67050"/>
            <a:ext cx="2133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C7852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1A1121-C009-4AF4-9AC8-4ABEDC47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9087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DataProto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6889DD-1C19-4455-A899-F89F3F7A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67100"/>
            <a:ext cx="1828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batch 与 tensor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854816-0729-451A-909F-6E655B45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10000"/>
            <a:ext cx="2133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C7852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3C7F8A-DB33-4D39-999D-2B00B5C9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3382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MessageQueue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27A581-3AE9-481E-89C9-D4871D70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10050"/>
            <a:ext cx="1828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fully_async 样本队列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04424F-5CA5-4D3B-B792-DD9B5034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52950"/>
            <a:ext cx="2133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C7852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8073FF-83F1-4673-B517-BD6DC94A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7677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TransferQueue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2C434D-6C82-431D-AF0E-5E4FAA79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53000"/>
            <a:ext cx="1828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控制流和数据流解耦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A4CD32-A5A3-4750-808A-003DFA3C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100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874541-CF15-41F9-89CA-D39714D0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9570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D0C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8D0C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BF31E7-B6E0-4004-AD29-4D927E69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100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BAC7EB-3585-4705-B7B0-9A470B15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9570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D0C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8D0C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888119-2C1D-48F6-963E-44B39CA0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3F5402-ED3E-4457-9774-BB699AD5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A92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A928B"/>
                </a:solidFill>
                <a:latin typeface="Aptos"/>
                <a:ea typeface="Aptos"/>
                <a:cs typeface="Aptos"/>
              </a:rPr>
              <a:t>Ascend verl introduction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788BEC-5E62-4706-8E45-2C5FF495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579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7C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7C7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011190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F62BA2-389B-49B4-9058-40CC0E3C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A9FF2-A2B3-4A50-A050-F72F747C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49B4C4-D5BB-4211-A6B8-B3F8ABB8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7C7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7C74"/>
                </a:solidFill>
                <a:latin typeface="Aptos"/>
                <a:ea typeface="Aptos"/>
                <a:cs typeface="Aptos"/>
              </a:rPr>
              <a:t>ASCEND ROLLOUT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D8340-8D5E-4A97-8355-FB75C518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953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1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1E"/>
                </a:solidFill>
                <a:latin typeface="Aptos Display"/>
                <a:ea typeface="Aptos Display"/>
                <a:cs typeface="Aptos Display"/>
              </a:rPr>
              <a:t>推理侧是长寿命 server，权重更新通过 checkpoint engine 进入引擎。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7EE5B-C9F4-42FB-A915-A4D85AB3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800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这条链路决定了训练产生的新参数如何进入 rollout 生成。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AC89A-E463-4D6B-B2ED-0AA91A7C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2038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D45B4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5DB42-9E0F-4DB0-A737-92EA9AB1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33675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Trainer / Actor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F5973-652A-4032-9809-0521626D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1733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完成反向传播和参数更新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78935-8810-485A-838E-2802D6A5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09850"/>
            <a:ext cx="2247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C7852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256BF4-A865-40E7-801B-74FAB87A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33675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Checkpoint Engine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5025ED-B40E-4A59-8443-B50AEF9A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0990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HCCL / IPC / SHM bucket 传输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A401DB-2751-4D26-8896-97F76728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098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7E5A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9CCFE1-EAD7-4F82-AF5A-581F5504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33675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Rollout Adapter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6055E2-75BD-4902-B424-C55FDB99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9900"/>
            <a:ext cx="1790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把 tensor 喂给推理 server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839039-01B4-44F6-A264-9395D669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05050"/>
            <a:ext cx="22479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007C7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A872FE-CF4C-4B26-8A5D-763C71DC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28875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vLLM-Ascend / SGLang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8F8121-BF0F-444F-BA66-5876688F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05100"/>
            <a:ext cx="1943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generation、KV cache、prefix cache、batching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DCE935-50A3-45C9-8096-DEF28D9A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384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CE4C0F-B2A1-457B-9C0C-6A0989FE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2417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45B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45B4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6D627B-8385-4AA9-9F38-95C0E360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38475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552680-BF54-48F9-A8F0-DB2C4C24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2417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85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7852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EF4C2D-F7AB-480E-8A6B-132226BE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384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5A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8D96FB-585B-419B-BF07-F85AABD0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2417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E5AA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E5AA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DD67B1-74DC-4C5E-9ED4-CCC7E196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43400"/>
            <a:ext cx="9753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1F0B5B-184D-4158-8A4B-1B5903F2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52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85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78528"/>
                </a:solidFill>
                <a:latin typeface="Aptos"/>
                <a:ea typeface="Aptos"/>
                <a:cs typeface="Aptos"/>
              </a:rPr>
              <a:t>当前同步会经历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209285-14D3-494C-8F69-7AC829EC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33900"/>
            <a:ext cx="7448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abort -&gt; sleep -&gt; build group -&gt; send/update -&gt; wake -&gt; resume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E3D708-4FD6-4124-B765-5462965F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958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这条链路保证权重一致性；同步期间 rollout 通常会暂停，完成更新后再恢复生成。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DAC02B-449C-4B0C-9C5C-6537255E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972507-7BE2-4E80-B335-A71D9BF6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A92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A928B"/>
                </a:solidFill>
                <a:latin typeface="Aptos"/>
                <a:ea typeface="Aptos"/>
                <a:cs typeface="Aptos"/>
              </a:rPr>
              <a:t>Ascend verl introduction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BA00D5-93FD-4728-8B75-A34D0EBB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579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7C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7C7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9184056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792BFF-9905-450B-A6AD-5331ECC3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B93B9-C3E8-4939-9102-9DFED752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88706-DE94-478B-8CAD-5950ABB2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7C7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7C74"/>
                </a:solidFill>
                <a:latin typeface="Aptos"/>
                <a:ea typeface="Aptos"/>
                <a:cs typeface="Aptos"/>
              </a:rPr>
              <a:t>SYSTEM PRESSURE POINTS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CB9E4-36D0-433E-8CD2-1F9F079C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1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1E"/>
                </a:solidFill>
                <a:latin typeface="Aptos Display"/>
                <a:ea typeface="Aptos Display"/>
                <a:cs typeface="Aptos Display"/>
              </a:rPr>
              <a:t>Ascend verl 的系统压力来自四条链路。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E33DC-0349-4554-A8F3-7E58470A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理解 Ascend verl，要看 rollout、同步、数据回传和调度控制的闭环。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A1FDA-9BA5-4606-B8C8-1D8D4A85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3962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007C7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CFEAD-4D75-417E-B093-54E6FA23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90775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Rollout 生成重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068AB-2126-4015-9593-2825A3A1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365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长 response、多采样 n、decode 时间和 KV cache 压力大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9F7832-26DC-4888-8CAB-89586F8E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66950"/>
            <a:ext cx="3962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D45B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7650D6-8ED7-4234-9543-ACFCA951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90775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权重同步频繁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F1958-7C4D-4F16-8FA2-DE4274A5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67000"/>
            <a:ext cx="365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actor 更新后 rollout 必须拿到新权重；大模型同步成本高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6AE52E-7587-413C-BB94-30100402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3962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C7852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ABC72-9CF9-43C5-BFFA-C28CCB20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38575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数据流复杂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E38B46-4DA4-47A8-8E61-4AFEC497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14800"/>
            <a:ext cx="365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sample、reward、logprob、metadata 在多个 worker 间流转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047BDF-4756-40AD-9ED8-0776EAED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14750"/>
            <a:ext cx="3962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7E5A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B0D401-A41C-4B4F-B053-235E2E68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38575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Ray 控制面压力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114F36-086D-4994-AC28-FC960953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14800"/>
            <a:ext cx="365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短样本会放大 RPC、actor mailbox 和 GCS 压力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978D84-9625-4482-A06C-C2DC263C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910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AF8"/>
          </a:solidFill>
          <a:ln xmlns:a="http://schemas.openxmlformats.org/drawingml/2006/main" w="12383">
            <a:solidFill>
              <a:srgbClr val="007C7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B709F6-BF2A-4F6A-9689-6A1A3A19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81650"/>
            <a:ext cx="842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4D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4D4A"/>
                </a:solidFill>
                <a:latin typeface="Aptos"/>
                <a:ea typeface="Aptos"/>
                <a:cs typeface="Aptos"/>
              </a:rPr>
              <a:t>这四类压力共同决定 Ascend verl 的 step time、资源利用率和大规模稳定性。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38B35B-77E8-47AB-9A74-94CB1088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9A942D-6085-4CAC-90B6-09D9B5B1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A92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A928B"/>
                </a:solidFill>
                <a:latin typeface="Aptos"/>
                <a:ea typeface="Aptos"/>
                <a:cs typeface="Aptos"/>
              </a:rPr>
              <a:t>Ascend verl introduction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BE584A-D917-4743-A6ED-E5CB96CC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579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7C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7C7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6991757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0676F9-9AA6-4164-A10B-828DFD24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12FDC-184D-4032-84D7-ADD981CD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31E74-2CBB-43B9-B313-9D915497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7C7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7C74"/>
                </a:solidFill>
                <a:latin typeface="Aptos"/>
                <a:ea typeface="Aptos"/>
                <a:cs typeface="Aptos"/>
              </a:rPr>
              <a:t>SYSTEM RECAP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3AB03-FEEC-437E-AC99-A5AB4CE7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953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01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01E"/>
                </a:solidFill>
                <a:latin typeface="Aptos Display"/>
                <a:ea typeface="Aptos Display"/>
                <a:cs typeface="Aptos Display"/>
              </a:rPr>
              <a:t>Ascend verl 的主线是一条训练-推理-反馈闭环。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60EEB-6DC7-4833-8231-36725037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800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训练更新参数，推理同步权重，推理生成样本，样本回到训练。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FEB29-5330-44B7-9D95-41763CDC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76550"/>
            <a:ext cx="21336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AF8"/>
          </a:solidFill>
          <a:ln xmlns:a="http://schemas.openxmlformats.org/drawingml/2006/main" w="19050">
            <a:solidFill>
              <a:srgbClr val="007C7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A9D91-AEF3-4049-AF08-673ECDB5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575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4D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4D4A"/>
                </a:solidFill>
                <a:latin typeface="Aptos"/>
                <a:ea typeface="Aptos"/>
                <a:cs typeface="Aptos"/>
              </a:rPr>
              <a:t>Ascend verl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26295-4A8F-4C15-9184-D1093604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38350"/>
            <a:ext cx="2514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D45B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5A5331-8F70-4FB5-B544-0723F944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162175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训练引擎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3F725-FC46-4BE9-8042-0C44EDF6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38400"/>
            <a:ext cx="2209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Actor / Critic / Reward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36A78-D067-40BE-AC5B-29DD41D1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38350"/>
            <a:ext cx="2514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C7852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15E895-B5E6-4CCB-9863-7D5B956A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62175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推理引擎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33B891-20E1-4283-82C8-8E7419B1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38400"/>
            <a:ext cx="2209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vLLM / vLLM-Ascend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CAFC2-7432-4535-84B1-F06DCD73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10100"/>
            <a:ext cx="2514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7E5A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315993-6C07-4C2D-BB4B-A0BAADA4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33925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调度系统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EB5070-524F-4624-BDD4-682B0864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10150"/>
            <a:ext cx="2209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Ray Worker / Actor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D51AC8-FC13-46D3-9679-527BD3A0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610100"/>
            <a:ext cx="2514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3335">
            <a:solidFill>
              <a:srgbClr val="4F8A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4111F9-7626-40FC-BC01-77DFC02D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33925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权重与样本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1458F9-BB4E-41DF-B2E2-B79E46F3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10150"/>
            <a:ext cx="2209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0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5706B"/>
                </a:solidFill>
                <a:latin typeface="Aptos"/>
                <a:ea typeface="Aptos"/>
                <a:cs typeface="Aptos"/>
              </a:rPr>
              <a:t>HCCL / IPC / Queue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7CDB2D-1ABE-4288-87D5-08B3DC6D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38400"/>
            <a:ext cx="1028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43F16F-1BE0-4B08-AEF3-AB8C9A5C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2410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45B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45B4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78951F-AEB4-4F1D-8978-830473CA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447925"/>
            <a:ext cx="190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B7EA71-8D5D-4C51-9A3D-E76E5CFB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933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785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78528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26C614-AE5A-4A7F-9FBA-F6E68A5D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733800"/>
            <a:ext cx="1905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5A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FF701A-9089-498B-81AB-93C9EB8F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714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E5A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E5AA6"/>
                </a:solidFill>
                <a:latin typeface="Aptos"/>
                <a:ea typeface="Aptos"/>
                <a:cs typeface="Aptos"/>
              </a:rPr>
              <a:t>^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B1F154-3E90-4FFD-959B-B23687D1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733800"/>
            <a:ext cx="1905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45D91B-083E-4812-A8D8-AA87C791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714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F8A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F8A5B"/>
                </a:solidFill>
                <a:latin typeface="Aptos"/>
                <a:ea typeface="Aptos"/>
                <a:cs typeface="Aptos"/>
              </a:rPr>
              <a:t>^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75BE4A-B1F6-4C87-B998-208BF930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673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7C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C74"/>
                </a:solidFill>
                <a:latin typeface="Aptos"/>
                <a:ea typeface="Aptos"/>
                <a:cs typeface="Aptos"/>
              </a:rPr>
              <a:t>一句话理解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A237A6-BC62-47AD-8CE0-17F32F49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715000"/>
            <a:ext cx="8496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6201E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6201E"/>
                </a:solidFill>
                <a:latin typeface="Aptos"/>
                <a:ea typeface="Aptos"/>
                <a:cs typeface="Aptos"/>
              </a:rPr>
              <a:t>Ascend verl 是把大模型 RL 后训练的训练、推理、通信和调度流程落到昇腾 NPU 栈上的系统工程。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DA951B-3F26-4657-AF8B-32E7B062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EE7A8C-7895-4128-9344-DE33C834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A92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A928B"/>
                </a:solidFill>
                <a:latin typeface="Aptos"/>
                <a:ea typeface="Aptos"/>
                <a:cs typeface="Aptos"/>
              </a:rPr>
              <a:t>Ascend verl introduction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110BC-087E-4E8B-A362-B437F91B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579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7C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7C7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339435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2026-05-21T09:10:54.9000000Z</dcterms:created>
  <dcterms:modified xsi:type="dcterms:W3CDTF">2026-05-21T09:10:54.9000000Z</dcterms:modified>
</coreProperties>
</file>