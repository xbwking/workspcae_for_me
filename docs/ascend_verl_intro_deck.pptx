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633687de18416c" /><Relationship Type="http://schemas.openxmlformats.org/officeDocument/2006/relationships/extended-properties" Target="/docProps/app.xml" Id="R1860ff52d168481d" /><Relationship Type="http://schemas.openxmlformats.org/officeDocument/2006/relationships/officeDocument" Target="/ppt/presentation.xml" Id="Rab42ce352d5d4b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afa608fad247db"/>
  </p:sldMasterIdLst>
  <p:notesMasterIdLst>
    <p:notesMasterId xmlns:r="http://schemas.openxmlformats.org/officeDocument/2006/relationships" r:id="R410c29d8989d498e"/>
  </p:notesMasterIdLst>
  <p:sldIdLst>
    <p:sldId xmlns:r="http://schemas.openxmlformats.org/officeDocument/2006/relationships" id="256" r:id="Rac72a3005d454afb"/>
    <p:sldId xmlns:r="http://schemas.openxmlformats.org/officeDocument/2006/relationships" id="257" r:id="R015d477ec5ed4b09"/>
    <p:sldId xmlns:r="http://schemas.openxmlformats.org/officeDocument/2006/relationships" id="258" r:id="R06a453c68a2c4db0"/>
    <p:sldId xmlns:r="http://schemas.openxmlformats.org/officeDocument/2006/relationships" id="259" r:id="Ra5690cd878f04a04"/>
    <p:sldId xmlns:r="http://schemas.openxmlformats.org/officeDocument/2006/relationships" id="260" r:id="Rca6e401c7ff14bcb"/>
    <p:sldId xmlns:r="http://schemas.openxmlformats.org/officeDocument/2006/relationships" id="261" r:id="Rfa0818f134af4754"/>
    <p:sldId xmlns:r="http://schemas.openxmlformats.org/officeDocument/2006/relationships" id="262" r:id="R351d129e777c4a94"/>
    <p:sldId xmlns:r="http://schemas.openxmlformats.org/officeDocument/2006/relationships" id="263" r:id="R62f1a51c531d464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afa608fad247db" /><Relationship Type="http://schemas.openxmlformats.org/officeDocument/2006/relationships/theme" Target="/ppt/theme/theme1.xml" Id="R3a6c7a83991c47c4" /><Relationship Type="http://schemas.openxmlformats.org/officeDocument/2006/relationships/notesMaster" Target="/ppt/notesMasters/notesMaster1.xml" Id="R410c29d8989d498e" /><Relationship Type="http://schemas.openxmlformats.org/officeDocument/2006/relationships/presProps" Target="/ppt/presProps.xml" Id="Rbf3bf81cf5284ffc" /><Relationship Type="http://schemas.openxmlformats.org/officeDocument/2006/relationships/viewProps" Target="/ppt/viewProps.xml" Id="R734be4e549994356" /><Relationship Type="http://schemas.openxmlformats.org/officeDocument/2006/relationships/tableStyles" Target="/ppt/tableStyles.xml" Id="Re5a9520cf8954005" /><Relationship Type="http://schemas.openxmlformats.org/officeDocument/2006/relationships/slide" Target="/ppt/slides/slide1.xml" Id="Rac72a3005d454afb" /><Relationship Type="http://schemas.openxmlformats.org/officeDocument/2006/relationships/slide" Target="/ppt/slides/slide2.xml" Id="R015d477ec5ed4b09" /><Relationship Type="http://schemas.openxmlformats.org/officeDocument/2006/relationships/slide" Target="/ppt/slides/slide3.xml" Id="R06a453c68a2c4db0" /><Relationship Type="http://schemas.openxmlformats.org/officeDocument/2006/relationships/slide" Target="/ppt/slides/slide4.xml" Id="Ra5690cd878f04a04" /><Relationship Type="http://schemas.openxmlformats.org/officeDocument/2006/relationships/slide" Target="/ppt/slides/slide5.xml" Id="Rca6e401c7ff14bcb" /><Relationship Type="http://schemas.openxmlformats.org/officeDocument/2006/relationships/slide" Target="/ppt/slides/slide6.xml" Id="Rfa0818f134af4754" /><Relationship Type="http://schemas.openxmlformats.org/officeDocument/2006/relationships/slide" Target="/ppt/slides/slide7.xml" Id="R351d129e777c4a94" /><Relationship Type="http://schemas.openxmlformats.org/officeDocument/2006/relationships/slide" Target="/ppt/slides/slide8.xml" Id="R62f1a51c531d46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878763e0a934d4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a08721772042b7" /><Relationship Type="http://schemas.openxmlformats.org/officeDocument/2006/relationships/notesMaster" Target="/ppt/notesMasters/notesMaster1.xml" Id="R0ef4767ae4fc4b9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fb2857361d45ee" /><Relationship Type="http://schemas.openxmlformats.org/officeDocument/2006/relationships/notesMaster" Target="/ppt/notesMasters/notesMaster1.xml" Id="Rea5eba0ddc8248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fc5ff7922840ac" /><Relationship Type="http://schemas.openxmlformats.org/officeDocument/2006/relationships/notesMaster" Target="/ppt/notesMasters/notesMaster1.xml" Id="Rebc1887fdb3b46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57756008dee4db0" /><Relationship Type="http://schemas.openxmlformats.org/officeDocument/2006/relationships/notesMaster" Target="/ppt/notesMasters/notesMaster1.xml" Id="R1694a75b17fe4bb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ec3c444ebfe4edc" /><Relationship Type="http://schemas.openxmlformats.org/officeDocument/2006/relationships/notesMaster" Target="/ppt/notesMasters/notesMaster1.xml" Id="R4ff368d7484c4a2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c08e68ec2d4018" /><Relationship Type="http://schemas.openxmlformats.org/officeDocument/2006/relationships/notesMaster" Target="/ppt/notesMasters/notesMaster1.xml" Id="R419a82f761da4c1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c65d6a1559946cd" /><Relationship Type="http://schemas.openxmlformats.org/officeDocument/2006/relationships/notesMaster" Target="/ppt/notesMasters/notesMaster1.xml" Id="Ra8737bb9771e415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d48564c5744edd" /><Relationship Type="http://schemas.openxmlformats.org/officeDocument/2006/relationships/notesMaster" Target="/ppt/notesMasters/notesMaster1.xml" Id="R5b24197ab4a34c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c7e7cb718e442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2d28babab5e34e5b" /><Relationship Type="http://schemas.openxmlformats.org/officeDocument/2006/relationships/slideLayout" Target="/ppt/slideLayouts/slideLayout2.xml" Id="R849955d44a7945d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9955d44a7945d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917f09e6c34675" /><Relationship Type="http://schemas.openxmlformats.org/officeDocument/2006/relationships/notesSlide" Target="/ppt/notesSlides/notesSlide1.xml" Id="Rc3195db8e83341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f82621c4034930" /><Relationship Type="http://schemas.openxmlformats.org/officeDocument/2006/relationships/image" Target="/ppt/media/image.png" Id="R0c4548e306fe4503" /><Relationship Type="http://schemas.openxmlformats.org/officeDocument/2006/relationships/image" Target="/ppt/media/image.svg" Id="Rc4c4b22dd6b2414f" /><Relationship Type="http://schemas.openxmlformats.org/officeDocument/2006/relationships/image" Target="/ppt/media/image2.png" Id="R786ef48cc76b48b5" /><Relationship Type="http://schemas.openxmlformats.org/officeDocument/2006/relationships/image" Target="/ppt/media/image2.svg" Id="R346fe004477c45f1" /><Relationship Type="http://schemas.openxmlformats.org/officeDocument/2006/relationships/image" Target="/ppt/media/image3.png" Id="R23c63e475f9547e4" /><Relationship Type="http://schemas.openxmlformats.org/officeDocument/2006/relationships/image" Target="/ppt/media/image3.svg" Id="R27b9964bc99d4771" /><Relationship Type="http://schemas.openxmlformats.org/officeDocument/2006/relationships/image" Target="/ppt/media/image4.png" Id="R0853c087293b452a" /><Relationship Type="http://schemas.openxmlformats.org/officeDocument/2006/relationships/image" Target="/ppt/media/image4.svg" Id="R06b10538fdeb4bd7" /><Relationship Type="http://schemas.openxmlformats.org/officeDocument/2006/relationships/notesSlide" Target="/ppt/notesSlides/notesSlide2.xml" Id="R25ae36cfdd5e4d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48d2e2b5bb4522" /><Relationship Type="http://schemas.openxmlformats.org/officeDocument/2006/relationships/notesSlide" Target="/ppt/notesSlides/notesSlide3.xml" Id="R19b5ed76561f48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3f855f0f2340f3" /><Relationship Type="http://schemas.openxmlformats.org/officeDocument/2006/relationships/notesSlide" Target="/ppt/notesSlides/notesSlide4.xml" Id="R0b8861b2aa5d40b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908a65c28d4e1f" /><Relationship Type="http://schemas.openxmlformats.org/officeDocument/2006/relationships/notesSlide" Target="/ppt/notesSlides/notesSlide5.xml" Id="R3ad82f7619a040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d3790163174ccf" /><Relationship Type="http://schemas.openxmlformats.org/officeDocument/2006/relationships/notesSlide" Target="/ppt/notesSlides/notesSlide6.xml" Id="R1c364ef39bec4ef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90219341294aff" /><Relationship Type="http://schemas.openxmlformats.org/officeDocument/2006/relationships/notesSlide" Target="/ppt/notesSlides/notesSlide7.xml" Id="Rf5a3538592e140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af993eba2f459b" /><Relationship Type="http://schemas.openxmlformats.org/officeDocument/2006/relationships/notesSlide" Target="/ppt/notesSlides/notesSlide8.xml" Id="R6f88741404a84ff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EADC52-D802-48AF-AE08-3010F980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152FCC-7B89-4632-9B9D-3F2B7B22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7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CE60E5-0437-4014-848B-63980DAB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304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ASCEND VERL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AE9118-2561-4A7D-987B-876ED4F3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8096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6201E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6201E"/>
                </a:solidFill>
                <a:latin typeface="Aptos Display"/>
                <a:ea typeface="Aptos Display"/>
                <a:cs typeface="Aptos Display"/>
              </a:rPr>
              <a:t>在讲优化前，先把系统讲清楚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C26AA1-2C7D-4388-A294-DAB19F5B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0505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verl 是大模型强化学习后训练的编排框架；Ascend 版本把这套训练 + 推理 + 通信链路落到 NPU 栈上。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9EEB7A-124B-43FC-8B84-4F9C3D6C3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71850"/>
            <a:ext cx="723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613D18-FDA6-4E73-8DB6-2612A633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1430">
            <a:solidFill>
              <a:srgbClr val="D45B4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119C00-3EFE-4E37-BE42-DAAF2E2F7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71900"/>
            <a:ext cx="914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D45B4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45B47"/>
                </a:solidFill>
                <a:latin typeface="Aptos"/>
                <a:ea typeface="Aptos"/>
                <a:cs typeface="Aptos"/>
              </a:rPr>
              <a:t>训练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4613D2-2011-483E-B41C-643A7889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7147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1430">
            <a:solidFill>
              <a:srgbClr val="007C7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7FBA17-A3B5-4D45-8204-E86DCCCA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771900"/>
            <a:ext cx="914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推理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1CF1E-78CC-4372-8010-5893C5F0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7147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1430">
            <a:solidFill>
              <a:srgbClr val="C7852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16DCF2-33A1-4E89-8FD9-9CE9C95E4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771900"/>
            <a:ext cx="914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C7852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C78528"/>
                </a:solidFill>
                <a:latin typeface="Aptos"/>
                <a:ea typeface="Aptos"/>
                <a:cs typeface="Aptos"/>
              </a:rPr>
              <a:t>调度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535458-0650-4232-AC7D-7153B8ED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7147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1430">
            <a:solidFill>
              <a:srgbClr val="7E5AA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B1B8DA-8124-4F5B-9901-7A408A2D3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771900"/>
            <a:ext cx="914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7E5AA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7E5AA6"/>
                </a:solidFill>
                <a:latin typeface="Aptos"/>
                <a:ea typeface="Aptos"/>
                <a:cs typeface="Aptos"/>
              </a:rPr>
              <a:t>通信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AA53EF-0298-4024-A0FA-E28E4EF2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147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1430">
            <a:solidFill>
              <a:srgbClr val="4F8A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1BC6D5-2E64-4275-8FAC-2E232582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771900"/>
            <a:ext cx="914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4F8A5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F8A5B"/>
                </a:solidFill>
                <a:latin typeface="Aptos"/>
                <a:ea typeface="Aptos"/>
                <a:cs typeface="Aptos"/>
              </a:rPr>
              <a:t>数据流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BF7CDA-13EB-417D-9F4E-D5173B5A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819150"/>
            <a:ext cx="24765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D8D0C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71FC8E-C4DA-47F8-B496-ACD2EED6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123950"/>
            <a:ext cx="1952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今天先回答三个问题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6E22B6-A85B-45B7-A70F-DCA4AE69D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752600"/>
            <a:ext cx="438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45B4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D45B4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BE4921-E1F3-481C-8CDA-596816F7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79070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verl 到底是什么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D6932E-0A23-4377-ACA5-2D8EC924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00"/>
            <a:ext cx="438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33D1B4-C3C9-4343-8B92-3704DD1C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89560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Ascend 版本多了什么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8DEEB5-E65E-40CC-8EC3-21673403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62400"/>
            <a:ext cx="438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7852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C7852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AB4A6F-27FE-4837-8FC3-57CF2C15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00050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为什么推理侧是关键路径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F091A1-A26E-4F39-BC65-4C763F70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436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396369-8214-4F0C-925A-AE29D4431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571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8A92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A928B"/>
                </a:solidFill>
                <a:latin typeface="Aptos"/>
                <a:ea typeface="Aptos"/>
                <a:cs typeface="Aptos"/>
              </a:rPr>
              <a:t>Part 0 | shared context before optimization design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7F6535-F526-4919-ACB3-97F24019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579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541335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93200E-EF03-4A48-9460-74E4045FC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A6FACB-C4E0-4A52-8915-6D5D2F771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7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BA229E-AD95-4AE7-8732-24C4D4DF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WHAT IS VERL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2380D5-4CF2-4A4F-8081-6682C8F9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8953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01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01E"/>
                </a:solidFill>
                <a:latin typeface="Aptos Display"/>
                <a:ea typeface="Aptos Display"/>
                <a:cs typeface="Aptos Display"/>
              </a:rPr>
              <a:t>verl 把 RL 后训练里的多个角色编排成一个分布式系统。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493BC7-D670-49C4-8BA3-EA1A860A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8001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它不是单纯的训练框架，也不是单纯的推理框架。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1F83F3-DEDD-4924-9CF1-969D3FBA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628900"/>
            <a:ext cx="3143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AF8"/>
          </a:solidFill>
          <a:ln xmlns:a="http://schemas.openxmlformats.org/drawingml/2006/main" w="19050">
            <a:solidFill>
              <a:srgbClr val="007C7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0A7639-422B-4EBD-9B06-E31A7316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765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B4D4A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B4D4A"/>
                </a:solidFill>
                <a:latin typeface="Aptos"/>
                <a:ea typeface="Aptos"/>
                <a:cs typeface="Aptos"/>
              </a:rPr>
              <a:t>Ray + Trainer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7A10E2-E0A0-4C9D-8E64-63C555EBF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57550"/>
            <a:ext cx="2552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统一调度 worker、数据流、训练 step 和权重同步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979E1C-865F-4E2F-B490-5DF09C62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3360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D45B4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6D7D87-AA03-4814-85C5-C4F862FE8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57425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Actor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BBAE4B-BCAA-4444-ACE0-57B95885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3365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当前训练的策略模型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D94D54-5A67-474B-AD37-D3C56EB6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5765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007C7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C87167-D67D-4167-9D24-A3E9C14D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81475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Rollout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0B5CDA-9E94-4087-8E3F-EFCB3F0B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5770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用策略模型生成 response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64A401-D345-472A-A912-1C2E457E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7645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7E5A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7C42F5-6DC2-40F6-AF14-64AF2B77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00275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Reference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0F433A-D2D2-415D-B834-BBD6A8F4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7650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计算 KL / 行为约束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02458C-C064-4746-9B75-386BB94C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05765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C7852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DA7311-C6E1-4CE1-A853-99159903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81475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Critic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D7D93A-3DB0-460C-9BE9-55FF78A1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45770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PPO value 估计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678239-9AC4-4AA8-BBE9-E082690BA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81965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4F8A5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955320-9BF3-4F86-95F6-B306CEEA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943475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Reward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7A0EC4-5B0C-4699-ADF5-17739382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21970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规则或模型打分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335EF1-0F62-4056-86C4-C953B2B2E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514600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5B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8968D5-FCD7-407F-97E2-BA8E46849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00300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45B4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45B47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39927D-32E4-456B-A618-3CA53DE5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486150"/>
            <a:ext cx="19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7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6CCBDD-536F-49A1-A954-230E3015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4671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^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CC6A1A-DF60-40D4-8E44-BEF42E973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81325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6ABB51-EEBC-4FDD-8B77-C193656FF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67025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E5AA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7E5AA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AD5202-F49C-4134-B8C4-BBB8FCE9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76625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5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744A14-5F17-4650-BF2B-C737309A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362325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785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78528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7F1032-9A8C-4F13-9D64-D754329D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905250"/>
            <a:ext cx="190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AD3E30-6106-4572-AE89-17620DF7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8862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4F8A5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F8A5B"/>
                </a:solidFill>
                <a:latin typeface="Aptos"/>
                <a:ea typeface="Aptos"/>
                <a:cs typeface="Aptos"/>
              </a:rPr>
              <a:t>^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4548e306fe4503">
            <a:extLst>
              <a:ext uri="{96DAC541-7B7A-43D3-8B79-37D633B846F1}">
                <asvg:svgBlip xmlns:asvg="http://schemas.microsoft.com/office/drawing/2016/SVG/main" r:embed="Rc4c4b22dd6b2414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6300" y="569595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21C2BD-66AD-4234-8571-C24B672E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7340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分布式编排</a:t>
            </a:r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6ef48cc76b48b5">
            <a:extLst>
              <a:ext uri="{96DAC541-7B7A-43D3-8B79-37D633B846F1}">
                <asvg:svgBlip xmlns:asvg="http://schemas.microsoft.com/office/drawing/2016/SVG/main" r:embed="R346fe004477c45f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09950" y="569595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5EE500-23DB-452A-9EA0-7301CF22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340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RL 算法流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c63e475f9547e4">
            <a:extLst>
              <a:ext uri="{96DAC541-7B7A-43D3-8B79-37D633B846F1}">
                <asvg:svgBlip xmlns:asvg="http://schemas.microsoft.com/office/drawing/2016/SVG/main" r:embed="R27b9964bc99d477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24550" y="569595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5BC50A-4E3E-47B0-A60A-018B1101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7340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样本与状态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53c087293b452a">
            <a:extLst>
              <a:ext uri="{96DAC541-7B7A-43D3-8B79-37D633B846F1}">
                <asvg:svgBlip xmlns:asvg="http://schemas.microsoft.com/office/drawing/2016/SVG/main" r:embed="R06b10538fdeb4bd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439150" y="569595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C7E5361-E560-4A7D-BD22-F8D6014E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7340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权重同步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FAC5B36-1A73-47FB-99D3-4A18858B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436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3E44238-27EE-4E6D-81E6-63ED1010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571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8A92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A928B"/>
                </a:solidFill>
                <a:latin typeface="Aptos"/>
                <a:ea typeface="Aptos"/>
                <a:cs typeface="Aptos"/>
              </a:rPr>
              <a:t>Ascend verl introduction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4AA691-CA36-4191-9E02-65391676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579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2847353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7B853B-B1F3-4B0F-B42C-352DF5EB7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42B8F2-93C0-4773-8C51-A0465839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7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3C59D1-15D2-4FEB-B603-580366252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ASCEND ADAPTATION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8248FD-E2DB-4704-9504-8F49EA47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8953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01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01E"/>
                </a:solidFill>
                <a:latin typeface="Aptos Display"/>
                <a:ea typeface="Aptos Display"/>
                <a:cs typeface="Aptos Display"/>
              </a:rPr>
              <a:t>Ascend 版本不是把 cuda 改成 npu，而是替换一整套运行和通信栈。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922AFA-5BAC-4E25-8785-254141DE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8001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设备、通信、推理后端、训练后端和性能开关都会变化。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0FFB8C-68AF-4999-8B87-93D0AA03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717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45B4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45B47"/>
                </a:solidFill>
                <a:latin typeface="Aptos"/>
                <a:ea typeface="Aptos"/>
                <a:cs typeface="Aptos"/>
              </a:rPr>
              <a:t>GPU 常见栈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2E6309-649C-43E5-B531-3DDB8EA4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1717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Ascend NPU 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8DD9CD-E230-4539-8C3C-5FF544BCA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381250"/>
            <a:ext cx="190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23C835-B0A3-4EA2-AD09-143785EDB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3238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D45B4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BF422-E44C-4BF3-9BCA-2631678A7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09875"/>
            <a:ext cx="2933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CUDA / torch.cuda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1BE58E-1204-4BFD-8BD4-21AD4E3AF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86100"/>
            <a:ext cx="2933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设备运行时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39506E-31A0-40E7-A5E8-6F0913242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52800"/>
            <a:ext cx="3238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D45B4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19A7A3-B554-4F88-BBE1-75A2D72C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76625"/>
            <a:ext cx="2933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NCCL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463E23-421A-40AB-A972-C97426BE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52850"/>
            <a:ext cx="2933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分布式通信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11020F-4B64-4B11-B526-32138061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9550"/>
            <a:ext cx="3238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D45B4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18C1A5-44F2-41CF-AF96-E19B5A57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43375"/>
            <a:ext cx="2933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vLLM CUDA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CE7C26-3B21-4D9E-85BA-983D7C13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2933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推理引擎后端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D4F810-D3B8-47AF-9E2A-F984470A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86300"/>
            <a:ext cx="3238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D45B4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D4B441-D097-4DD2-B46C-9C03C952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10125"/>
            <a:ext cx="2933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CUDA Graph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38A8FD-2550-44B6-A76B-ABF07E2F9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86350"/>
            <a:ext cx="2933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图捕获和下发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8C0F16-A59B-4D2B-8C1C-6631EBC2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686050"/>
            <a:ext cx="3714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007C7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41F524-B11B-4326-9964-B1740E86E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809875"/>
            <a:ext cx="3409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CANN / torch_npu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5E8FD6-392F-4AF4-8033-D5371A67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86100"/>
            <a:ext cx="3409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NPU 运行时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2CE087-AF66-4FAD-A46E-555E7BECC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52800"/>
            <a:ext cx="3714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007C7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293116-7D3E-4D5A-97B9-C70331D9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476625"/>
            <a:ext cx="3409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HCCL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19E178-3D47-4AB4-9E82-34408A21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752850"/>
            <a:ext cx="3409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NPU 通信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19989F-7C14-4042-AE4B-425D11338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019550"/>
            <a:ext cx="3714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007C7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DA48D5-CFB0-478B-BDF0-4CDF88FD5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143375"/>
            <a:ext cx="3409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vLLM-Ascend / SGLang Ascend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696AA1-FFE1-438F-A9D7-6225F6DC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419600"/>
            <a:ext cx="3409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推理引擎后端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1EA4C9-0939-46A4-A69B-AD16B097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686300"/>
            <a:ext cx="3714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007C7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FF7EB9-71C7-4DA5-B089-29182E87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810125"/>
            <a:ext cx="3409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ACL Graph + NPU fused ops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A43E06-C9A9-4C79-9D22-8085EC62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086350"/>
            <a:ext cx="3409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图捕获与融合算子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560D21B-A828-48CB-9AA8-4ECBAE1DD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6769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7852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78528"/>
                </a:solidFill>
                <a:latin typeface="Aptos"/>
                <a:ea typeface="Aptos"/>
                <a:cs typeface="Aptos"/>
              </a:rPr>
              <a:t>关键含义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68D5B72-C634-47FE-80EA-8E529241C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924550"/>
            <a:ext cx="676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Ascend 支持版本要以 Docker recipe pin 住的代码和依赖为准；不能直接把 GitHub main 当成已验证基线。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6A07ED-E1E0-4BDC-AD54-3A85DD15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436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1AF9751-0FE0-4935-8467-C1F9088F6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571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8A92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A928B"/>
                </a:solidFill>
                <a:latin typeface="Aptos"/>
                <a:ea typeface="Aptos"/>
                <a:cs typeface="Aptos"/>
              </a:rPr>
              <a:t>Ascend verl introduction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AE2CC5D-EBF3-4816-8A1F-A476C547A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579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052737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4D2F35-6F4B-43EE-AE81-2EB2FCCD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BC9919-2384-4F4B-B3D2-5CDE4DD9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7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A74CC4-63B3-4FD7-B06B-D1523484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RL TRAINING 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34630-DCE2-483B-9494-2EF078113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8953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01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01E"/>
                </a:solidFill>
                <a:latin typeface="Aptos Display"/>
                <a:ea typeface="Aptos Display"/>
                <a:cs typeface="Aptos Display"/>
              </a:rPr>
              <a:t>一次训练 step 是训练和推理交替推进的闭环。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602DE0-1367-4D70-8A2D-D0E18DC1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8001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rollout 生成不是旁路，它决定了样本供应和端到端节奏。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29BFFC-1142-4BF2-AD6E-4B7C09B8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86050"/>
            <a:ext cx="1676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D45B4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375084-4B33-4FAD-B910-E6E7093F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86050"/>
            <a:ext cx="3619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5B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2535AA-BA45-4AB2-B66D-A91A7FEED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95625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C0E1CC-C4B1-4429-BFC4-29C606CC3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Prompt batch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76B320-0F75-48BD-9F8F-89A35440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86100"/>
            <a:ext cx="1085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DataProto 承载输入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979AB1-1300-4DED-AD1B-50FC2DE6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19087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5B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614732-6181-4B01-A405-97E1E099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076575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45B4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45B47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70C706-7B26-482E-82FE-9F69B198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86050"/>
            <a:ext cx="1676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007C7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4343E9-68CE-48A3-AFAD-C260BB7E8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86050"/>
            <a:ext cx="3619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7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02DD11-8DCF-499C-87A2-7EE7767BE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95625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840DEB-5BD7-4FA8-843A-C077EBB9B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8194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Rollout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A33DD4-BC55-4F62-9B33-375485C2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086100"/>
            <a:ext cx="1085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vLLM/SGLang 生成 responses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46BBFE-495F-4757-8A8D-9822D738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9087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7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C53FB5-9188-4150-A6DB-2BAFCA32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76575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564997-BCDE-4930-A659-D8274A2FB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686050"/>
            <a:ext cx="1676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4F8A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AB8E8C-E2C9-4051-A8A6-6257FFB2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686050"/>
            <a:ext cx="3619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C4ECB7-A833-4177-B593-8CC9157B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095625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0A0D84-E3F0-4993-A34C-9254404B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8194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Reward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0EF8F4-1117-4FB2-A728-7872F20F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086100"/>
            <a:ext cx="1085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规则或模型打分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B977E3-F8A2-418A-97E4-F4CC5D6D6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19087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E8315E-8AB9-45DB-927A-0A065BE5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76575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4F8A5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4F8A5B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F5B650-252E-4F01-9E23-8836BBCD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86050"/>
            <a:ext cx="1676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7E5A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65D56F-D177-4282-AA3D-09ADE7B2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86050"/>
            <a:ext cx="3619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9CDA4C-4EE9-4518-9348-FC58CE06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95625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CF564A-1073-4C45-B633-45AA9EB1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8194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Log prob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E1296E-66DA-4A28-8545-1F0F0EBF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086100"/>
            <a:ext cx="1085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actor/ref/old policy 概率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D5AF3E-1B4F-4C11-BFE1-1E07EE55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19087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C683A4-DFA5-4F93-8E6E-986037CF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076575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E5AA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7E5AA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05F415-8670-4133-84A2-483D2233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86050"/>
            <a:ext cx="1676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C7852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4A6B40-FB0D-485F-B67C-3854AD26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86050"/>
            <a:ext cx="3619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5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38852D-551C-4EE2-8928-59C6768B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95625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9333B41-9AB3-479A-AE3B-EC5B4096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8194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Update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CB45EF2-CEC2-4CAA-8368-D48937967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86100"/>
            <a:ext cx="1085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advantage + loss + 参数更新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8DAC867-09C7-41F1-8CB4-56E875AC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09575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A"/>
          </a:solidFill>
          <a:ln xmlns:a="http://schemas.openxmlformats.org/drawingml/2006/main" w="13335">
            <a:solidFill>
              <a:srgbClr val="C7852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FBE8D09-0BFD-4D44-A307-47B8D3AF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2481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Weight sync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BEFEEA0-F6A6-4FC8-A7EA-B043D107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495800"/>
            <a:ext cx="1085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更新后的 actor 权重回到 rollout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0F75BC9-64DD-43AE-ABED-435151A55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3714750"/>
            <a:ext cx="1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5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EF4136-CB8F-49AB-8ABD-76C6B0D3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39243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85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78528"/>
                </a:solidFill>
                <a:latin typeface="Aptos"/>
                <a:ea typeface="Aptos"/>
                <a:cs typeface="Aptos"/>
              </a:rPr>
              <a:t>v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BD79D86-2F90-407B-ADD5-5786A414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29125"/>
            <a:ext cx="798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5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CC8A655-D051-434D-8669-5AE5B528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14825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785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78528"/>
                </a:solidFill>
                <a:latin typeface="Aptos"/>
                <a:ea typeface="Aptos"/>
                <a:cs typeface="Aptos"/>
              </a:rPr>
              <a:t>&lt;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21419C9-572C-48CA-8328-87BCF3B2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3714750"/>
            <a:ext cx="19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5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109D803-0975-4F79-B87F-63EF008F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36957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85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78528"/>
                </a:solidFill>
                <a:latin typeface="Aptos"/>
                <a:ea typeface="Aptos"/>
                <a:cs typeface="Aptos"/>
              </a:rPr>
              <a:t>^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160ED50-14D6-4B3F-9C3D-E92D8C3B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86375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性能关注点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6B9AEFD-9ECB-4168-963A-2179092D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86375"/>
            <a:ext cx="7905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生成吞吐、权重同步停顿、样本回传延迟、Ray 调度压力，会一起决定训练 step time。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E657CDD-058D-43B3-86F4-26C54CFB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436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12EE153-DE46-40F7-A911-870AA8BC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571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8A92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A928B"/>
                </a:solidFill>
                <a:latin typeface="Aptos"/>
                <a:ea typeface="Aptos"/>
                <a:cs typeface="Aptos"/>
              </a:rPr>
              <a:t>Ascend verl introduction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41E634C-F0CC-42D1-A303-C5C507DB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579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6738862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21D171-8FAF-4E52-8D75-6E0CE737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9271F5-8277-4561-B108-AAF44649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7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EBE904-AF45-4595-B17E-BA863A99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CONTROL, COMPUTE, DATA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D71CD-33B3-4C8C-8EE4-5229BA6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8953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01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01E"/>
                </a:solidFill>
                <a:latin typeface="Aptos Display"/>
                <a:ea typeface="Aptos Display"/>
                <a:cs typeface="Aptos Display"/>
              </a:rPr>
              <a:t>verl 的关键是把控制面、计算面和数据面组织起来。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1CA6D9-D20C-40F1-B251-8A5A601C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8001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优化时要先分清：Ray 负责调度，推理引擎负责生成，数据系统负责搬运大对象。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BAADA3-0C23-43B2-B25F-D838C432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66950"/>
            <a:ext cx="30480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EF"/>
          </a:solidFill>
          <a:ln xmlns:a="http://schemas.openxmlformats.org/drawingml/2006/main" w="14288">
            <a:solidFill>
              <a:srgbClr val="D45B4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711A5A-2022-4DA5-BF3F-3D4F1A40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66950"/>
            <a:ext cx="30480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AF8"/>
          </a:solidFill>
          <a:ln xmlns:a="http://schemas.openxmlformats.org/drawingml/2006/main" w="14288">
            <a:solidFill>
              <a:srgbClr val="007C7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C30E54-3E03-4D21-BAA6-CEDB0461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266950"/>
            <a:ext cx="30480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A"/>
          </a:solidFill>
          <a:ln xmlns:a="http://schemas.openxmlformats.org/drawingml/2006/main" w="14288">
            <a:solidFill>
              <a:srgbClr val="C7852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CEC346-5F96-4F77-86CD-88DF117C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336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45B4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45B47"/>
                </a:solidFill>
                <a:latin typeface="Aptos"/>
                <a:ea typeface="Aptos"/>
                <a:cs typeface="Aptos"/>
              </a:rPr>
              <a:t>控制面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D28EE2-9DA1-4F75-8B2D-5267D91A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67050"/>
            <a:ext cx="2133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D45B4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8972EC-4802-4BFA-AE2F-AE53DF16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90875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Ray Trainer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FEBD26-9B6F-4C7C-B26A-91599E5A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18288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组织训练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C602E7-1738-4E60-890D-10EE5C19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10000"/>
            <a:ext cx="2133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D45B4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E38B96-134C-4859-86FB-4BE5E64A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933825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WorkerGroup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51D5C0-56AB-4EF1-97AC-5E65AC609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10050"/>
            <a:ext cx="18288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actor / critic / ref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E1E0A5-6B72-4A3F-80FA-24067E83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52950"/>
            <a:ext cx="2133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D45B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EE5DD0-2959-4F1F-B818-4AAF849B7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76775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ResourcePool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D5A71E-5C58-4323-A702-6B50C126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953000"/>
            <a:ext cx="18288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节点和 NPU 资源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4FE56-C7CD-4EF7-9280-24AF40435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336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计算面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F0531B-F590-4843-95CC-D7088A8E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067050"/>
            <a:ext cx="2133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007C7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87B774-2888-41E1-A6E6-714D6F0B4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190875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Actor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583C80-9497-46FC-BF13-E038EEB29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67100"/>
            <a:ext cx="18288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训练 + 参数更新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E7D23E-F7C1-4438-923D-93D51973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810000"/>
            <a:ext cx="2133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007C7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476942-95C5-41D8-A6F5-1C5CAFF3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933825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Rollout Engine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2A768A-15EE-4E7F-9366-D87D5021B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210050"/>
            <a:ext cx="18288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vLLM-Ascend / SGLang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A0BD86-A553-4632-A1DB-E6096F5F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552950"/>
            <a:ext cx="2133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007C7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503EDF-78BE-402B-A7C5-E054962F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676775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Reward / Ref / Critic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D7471A-DBCF-4E0F-822B-67F4B065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953000"/>
            <a:ext cx="18288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打分与约束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EF1DE0-E008-4FE1-88BE-0FC041130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336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7852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78528"/>
                </a:solidFill>
                <a:latin typeface="Aptos"/>
                <a:ea typeface="Aptos"/>
                <a:cs typeface="Aptos"/>
              </a:rPr>
              <a:t>数据面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3B79FF-E2FD-4BA8-B8F4-79273E3E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67050"/>
            <a:ext cx="2133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C7852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074DE4-280B-4367-BDE4-77631ED1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190875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DataProto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7C21AC-24A0-4918-B447-F084E1DD1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67100"/>
            <a:ext cx="18288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batch 与 tensor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4A361AB-2252-4645-BCFC-99CA0717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10000"/>
            <a:ext cx="2133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C7852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35FA006-E007-4273-9FD7-627C525C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933825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MessageQueue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1137490-5272-42F8-B151-07CF8417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210050"/>
            <a:ext cx="18288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fully_async 样本队列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C85137-FDD8-460C-9814-B178C8BDB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552950"/>
            <a:ext cx="2133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C7852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C195C2-557A-457B-A007-AACA044E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676775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TransferQueue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ED97D8A-FD09-4A3C-942B-BB6991AAA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53000"/>
            <a:ext cx="18288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控制流和数据流解耦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0106BCC-8E5E-45E0-959E-17C71BA6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810000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F43771-C11C-4D3B-B083-634D586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695700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8D0C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D0C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808D08F-8BE8-4C22-B982-902103E1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10000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5FEA330-9AD9-4FF2-8136-418D3491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695700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8D0C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D0C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198508-226A-4A4A-9CEE-C614A557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436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ECA19F4-A416-4E80-8FA9-889DFDE4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571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8A92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A928B"/>
                </a:solidFill>
                <a:latin typeface="Aptos"/>
                <a:ea typeface="Aptos"/>
                <a:cs typeface="Aptos"/>
              </a:rPr>
              <a:t>Ascend verl introduction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149D675-8CF3-4B0A-A695-8BE9423A6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579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2276927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97CE65-A9B4-48CB-BB07-F90E43714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B2C75C-0F24-4C1E-AD41-C5E4385E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7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611463-C199-4D62-AAC5-6B9D0C757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ASCEND ROLLOUT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EBC005-23E4-4689-B749-3B664776B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8953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01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01E"/>
                </a:solidFill>
                <a:latin typeface="Aptos Display"/>
                <a:ea typeface="Aptos Display"/>
                <a:cs typeface="Aptos Display"/>
              </a:rPr>
              <a:t>推理侧是长寿命 server，权重更新通过 checkpoint engine 进入引擎。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E56F5C-8D1D-4953-A247-F4B28124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8001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这是后续优化最核心的链路。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D521A-FDAE-4D2C-A095-87412BFF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09850"/>
            <a:ext cx="20383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D45B4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127D81-EA93-44E6-AC47-5AF794CB3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33675"/>
            <a:ext cx="1733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Trainer / Actor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19E205-3C6C-4657-A55B-5413B1BF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09900"/>
            <a:ext cx="1733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完成反向传播和参数更新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B9371E-ADA9-4811-9872-D9014599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09850"/>
            <a:ext cx="2247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C7852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1F8526-8D9F-4E13-AF22-377DAF08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33675"/>
            <a:ext cx="1943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Checkpoint Engine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26D468-A515-4DD8-BEAC-70996E13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009900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HCCL / IPC / SHM bucket 传输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EECA2B-B453-4230-B50E-B5D78B24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60985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7E5AA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F12573-51E4-4D47-8F66-1D8C41F28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33675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Rollout Adapter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7E8625-A100-4CFB-8EC6-DFAA8D4DB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09900"/>
            <a:ext cx="1790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把 tensor 喂给推理 server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805162-8DDF-4AB4-92F3-45646A7AE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05050"/>
            <a:ext cx="22479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007C7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CEAAAF-2F56-4556-8F8D-737914B9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28875"/>
            <a:ext cx="1943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vLLM-Ascend / SGLang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59916C-D9B8-43A9-B109-F80ACF56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705100"/>
            <a:ext cx="19431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generation、KV cache、prefix cache、batching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B17765-8596-422B-A779-09E4E041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038475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5B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4D5718-E802-40D5-8E9B-0E1961F0C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924175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45B4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45B47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34C362-E571-4D05-964C-18AB4905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38475"/>
            <a:ext cx="533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5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87F9D5-F0F9-4643-8E86-6A557D4FE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924175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785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78528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5028EC-3A19-4CF9-A7ED-D00AA40F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38475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FFEB6D-2DAD-4973-AE16-0D9CFAAF1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924175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E5AA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7E5AA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1A2B92-6A0E-41B9-8C0E-AF04E0461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43400"/>
            <a:ext cx="97536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D8D0C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56FEF0-929A-4A32-AC46-A2EEFF1EF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552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785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78528"/>
                </a:solidFill>
                <a:latin typeface="Aptos"/>
                <a:ea typeface="Aptos"/>
                <a:cs typeface="Aptos"/>
              </a:rPr>
              <a:t>当前同步会经历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CA5DA5-445D-4CDA-8B7B-D2652D638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533900"/>
            <a:ext cx="7448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abort -&gt; sleep -&gt; build group -&gt; send/update -&gt; wake -&gt; resume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1A4A65-7EFB-4571-B0C7-59850EE79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8958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安全，但同步期间 rollout 会出现明显停顿；后续优化会围绕这条链路展开。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AFE935-8DE2-4C97-8FD7-7ACC6E72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436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14AA66-13B3-4873-8F43-5182CD3D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571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8A92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A928B"/>
                </a:solidFill>
                <a:latin typeface="Aptos"/>
                <a:ea typeface="Aptos"/>
                <a:cs typeface="Aptos"/>
              </a:rPr>
              <a:t>Ascend verl introduction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5EB07D-09D6-40FA-9FAA-A5AAD21D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579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6247128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B2FB7F-B939-4B10-B3DE-45CC526D4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549059-4A19-47E5-BF6A-A433BF656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7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E5C800-E17A-4ABA-9C91-2AEDABEE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WHY INFERENCE OPTIMIZATION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2306C7-C622-44CF-ACAC-468DC443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8953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01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01E"/>
                </a:solidFill>
                <a:latin typeface="Aptos Display"/>
                <a:ea typeface="Aptos Display"/>
                <a:cs typeface="Aptos Display"/>
              </a:rPr>
              <a:t>RL 训练的端到端效率经常卡在推理侧系统链路，而不是单个算子。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BA9B4F-C806-498B-B650-864F246E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8001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我们需要看整个 rollout、同步、数据回传的闭环。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58DE50-B86E-487C-AC0D-2C708242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3962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007C7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F23138-54A9-46A3-82A6-BC9DCCC9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90775"/>
            <a:ext cx="3657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Rollout 生成重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3E7F75-DCE8-4551-83ED-693A0EAE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67000"/>
            <a:ext cx="365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长 response、多采样 n、decode 时间和 KV cache 压力大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536A58-3BFC-4014-A154-01BFF123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66950"/>
            <a:ext cx="3962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D45B4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185639-8378-4BEE-A7BA-08439D5D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90775"/>
            <a:ext cx="3657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权重同步频繁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4607DB-C7C2-4950-B5C7-F7D1A95C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67000"/>
            <a:ext cx="365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actor 更新后 rollout 必须拿到新权重；大模型同步成本高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8115E2-7938-4A7B-9081-5BFCC08D8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3962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C7852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F956B6-BE80-48B9-83ED-74CA4F7F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38575"/>
            <a:ext cx="3657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数据流复杂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D42E09-7F5E-4CB3-B1CF-AC307B071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114800"/>
            <a:ext cx="365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sample、reward、logprob、metadata 在多个 worker 间流转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81DBB8-F3A4-4E13-8464-B0FEC99C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14750"/>
            <a:ext cx="3962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7E5A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82DEB9-3AD6-460C-910A-C1BC10CD4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838575"/>
            <a:ext cx="3657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Ray 控制面压力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A2AB13-98D5-4557-B3F7-6589068A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114800"/>
            <a:ext cx="365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短样本会放大 RPC、actor mailbox 和 GCS 压力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34A2CB-5694-43C8-B9AD-D22EB254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10200"/>
            <a:ext cx="9105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AF8"/>
          </a:solidFill>
          <a:ln xmlns:a="http://schemas.openxmlformats.org/drawingml/2006/main" w="12383">
            <a:solidFill>
              <a:srgbClr val="007C7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BA7C15-AA24-49DF-A367-A872D6095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581650"/>
            <a:ext cx="842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4D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4D4A"/>
                </a:solidFill>
                <a:latin typeface="Aptos"/>
                <a:ea typeface="Aptos"/>
                <a:cs typeface="Aptos"/>
              </a:rPr>
              <a:t>推理性能团队的切入点：减少阻塞、减少复制、减少序列化、减少单点调度压力。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4A54CC-AEBD-4564-A19E-D2B0A93F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436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E4A6A6-252D-490F-B872-662B5D4C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571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8A92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A928B"/>
                </a:solidFill>
                <a:latin typeface="Aptos"/>
                <a:ea typeface="Aptos"/>
                <a:cs typeface="Aptos"/>
              </a:rPr>
              <a:t>Ascend verl introduction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F0475F-9DA4-437C-A928-797E2FF7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579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9218730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4E5422-2AE0-4343-8EB6-14E234E0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0ADDDB-A16C-4665-9F97-4BED2B91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7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8A6E88-01AC-4CB1-84A4-CD4412D5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BRIDGE TO THE DESIGN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35D8A8-B6F2-4BDC-A7C6-7CBB8DF3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8953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01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01E"/>
                </a:solidFill>
                <a:latin typeface="Aptos Display"/>
                <a:ea typeface="Aptos Display"/>
                <a:cs typeface="Aptos Display"/>
              </a:rPr>
              <a:t>后面的优化设计围绕这条闭环展开。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407037-FE1F-4402-8527-06EEEE00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8001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训练更新参数，推理同步权重，推理生成样本，样本回到训练。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6280B0-C5FE-4F29-97A4-FC036D77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876550"/>
            <a:ext cx="21336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AF8"/>
          </a:solidFill>
          <a:ln xmlns:a="http://schemas.openxmlformats.org/drawingml/2006/main" w="19050">
            <a:solidFill>
              <a:srgbClr val="007C7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761672-3DD3-4E52-B91A-7BAE1ECE4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257550"/>
            <a:ext cx="1676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4D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4D4A"/>
                </a:solidFill>
                <a:latin typeface="Aptos"/>
                <a:ea typeface="Aptos"/>
                <a:cs typeface="Aptos"/>
              </a:rPr>
              <a:t>Optimization focus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3A7F89-629D-4BB4-B41F-61DBF8647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38350"/>
            <a:ext cx="2514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D45B4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8B22CA-744F-4A2B-A1F2-5F39EDC7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162175"/>
            <a:ext cx="2209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异步参数同步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3B690B-91C1-4755-9854-0EADFC24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438400"/>
            <a:ext cx="2209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prefetch / commit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A56868-15F4-4A4E-A012-F97B23D1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038350"/>
            <a:ext cx="2514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C7852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B41ECE-78AB-4075-8907-33F17277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62175"/>
            <a:ext cx="2209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Bucket IPC 增强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58ACE5-6D63-4B97-BFF9-EE8A5C06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38400"/>
            <a:ext cx="2209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HCCL / IPC / SHM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B34A56-3E89-4930-8312-1BB2E927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10100"/>
            <a:ext cx="2514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7E5A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ECCC67-0F19-4CA8-82EF-4E7CD9BC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733925"/>
            <a:ext cx="2209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Ray queue 轻量化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EAE411-EDA7-42BE-8AFF-56317762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010150"/>
            <a:ext cx="2209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batch get / shard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B54DAA-0AD5-4A99-9A14-B69430D5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610100"/>
            <a:ext cx="2514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13335">
            <a:solidFill>
              <a:srgbClr val="4F8A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D4F16B-17E8-4E68-94A2-4AC77D5B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33925"/>
            <a:ext cx="2209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SampleRef 数据面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FCAF70-54CE-4104-8FCF-720919DE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010150"/>
            <a:ext cx="2209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5706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5706B"/>
                </a:solidFill>
                <a:latin typeface="Aptos"/>
                <a:ea typeface="Aptos"/>
                <a:cs typeface="Aptos"/>
              </a:rPr>
              <a:t>TransferQueue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68DADB-5C52-4468-8C99-52B3278D4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438400"/>
            <a:ext cx="1028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5B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CB2ABC-576D-4CF3-BADE-D593D71D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324100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45B4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45B47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12761D-375E-44EE-BE53-8214F7BED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447925"/>
            <a:ext cx="190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5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8C80DE-8EBB-4E09-9923-BA914B515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9337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85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78528"/>
                </a:solidFill>
                <a:latin typeface="Aptos"/>
                <a:ea typeface="Aptos"/>
                <a:cs typeface="Aptos"/>
              </a:rPr>
              <a:t>v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8AEDAE-DB58-4B97-83B6-46D73448E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3733800"/>
            <a:ext cx="190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5316EA-B691-4EBB-9DAE-AC0455B7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37147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7E5AA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7E5AA6"/>
                </a:solidFill>
                <a:latin typeface="Aptos"/>
                <a:ea typeface="Aptos"/>
                <a:cs typeface="Aptos"/>
              </a:rPr>
              <a:t>^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827CCB-06A0-476B-9D7E-FC48A08E9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733800"/>
            <a:ext cx="190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594AE8-4A5F-46AE-9570-0AAF2FDE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7147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4F8A5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F8A5B"/>
                </a:solidFill>
                <a:latin typeface="Aptos"/>
                <a:ea typeface="Aptos"/>
                <a:cs typeface="Aptos"/>
              </a:rPr>
              <a:t>^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FB3D29-EB6B-4B37-8D67-C2079D43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4673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一句话目标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DE493B-BB85-4D17-91A5-3FA499424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715000"/>
            <a:ext cx="781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16201E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6201E"/>
                </a:solidFill>
                <a:latin typeface="Aptos"/>
                <a:ea typeface="Aptos"/>
                <a:cs typeface="Aptos"/>
              </a:rPr>
              <a:t>把 Ascend verl 的训练-推理闭环改得更异步、更批量、更引用化、更可观测。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D34F80-89FF-4D91-9D9B-FED009ED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436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572C4D-A130-4690-BC49-DAF75F6D0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571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8A92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A928B"/>
                </a:solidFill>
                <a:latin typeface="Aptos"/>
                <a:ea typeface="Aptos"/>
                <a:cs typeface="Aptos"/>
              </a:rPr>
              <a:t>Ascend verl introduction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2E15FF-20ED-4A3A-A32D-FDB40A55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579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07C7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7C74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707656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2026-05-20T08:28:20.0620000Z</dcterms:created>
  <dcterms:modified xsi:type="dcterms:W3CDTF">2026-05-20T08:28:20.0620000Z</dcterms:modified>
</coreProperties>
</file>